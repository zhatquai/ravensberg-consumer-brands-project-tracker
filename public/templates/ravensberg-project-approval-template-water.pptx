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and instructions" id="{2b094bb6-37d3-94a5-7165-b7b5c5ce4040}">
          <p14:sldIdLst>
            <p14:sldId id="256"/>
            <p14:sldId id="257"/>
          </p14:sldIdLst>
        </p14:section>
        <p14:section name="The case" id="{c332891e-7575-a7b2-e1c5-404b6c1b6fb9}">
          <p14:sldIdLst>
            <p14:sldId id="258"/>
            <p14:sldId id="259"/>
            <p14:sldId id="260"/>
            <p14:sldId id="261"/>
            <p14:sldId id="262"/>
            <p14:sldId id="263"/>
          </p14:sldIdLst>
        </p14:section>
        <p14:section name="Delivery and decision" id="{6713de6c-5fa7-a51b-b3e7-c704fc91d3b4}">
          <p14:sldIdLst>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Approved projects</c:v>
                </c:pt>
              </c:strCache>
            </c:strRef>
          </c:tx>
          <c:spPr>
            <a:solidFill>
              <a:srgbClr val="0F6B3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With this project</c:v>
                  </c:pt>
                  <c:pt idx="1">
                    <c:v>Today</c:v>
                  </c:pt>
                </c:lvl>
              </c:multiLvlStrCache>
            </c:multiLvlStrRef>
          </c:cat>
          <c:val>
            <c:numRef>
              <c:f>Sheet1!$B$2:$B$3</c:f>
              <c:numCache>
                <c:formatCode>General</c:formatCode>
                <c:ptCount val="2"/>
                <c:pt idx="0">
                  <c:v>3000</c:v>
                </c:pt>
                <c:pt idx="1">
                  <c:v>3000</c:v>
                </c:pt>
              </c:numCache>
            </c:numRef>
          </c:val>
        </c:ser>
        <c:ser>
          <c:idx val="1"/>
          <c:order val="1"/>
          <c:tx>
            <c:strRef>
              <c:f>Sheet1!$C$1</c:f>
              <c:strCache>
                <c:ptCount val="1"/>
                <c:pt idx="0">
                  <c:v>This project, if approved</c:v>
                </c:pt>
              </c:strCache>
            </c:strRef>
          </c:tx>
          <c:spPr>
            <a:solidFill>
              <a:srgbClr val="C9A27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With this project</c:v>
                  </c:pt>
                  <c:pt idx="1">
                    <c:v>Today</c:v>
                  </c:pt>
                </c:lvl>
              </c:multiLvlStrCache>
            </c:multiLvlStrRef>
          </c:cat>
          <c:val>
            <c:numRef>
              <c:f>Sheet1!$C$2:$C$3</c:f>
              <c:numCache>
                <c:formatCode>General</c:formatCode>
                <c:ptCount val="2"/>
                <c:pt idx="0">
                  <c:v>4000</c:v>
                </c:pt>
                <c:pt idx="1">
                  <c:v>0</c:v>
                </c:pt>
              </c:numCache>
            </c:numRef>
          </c:val>
        </c:ser>
        <c:ser>
          <c:idx val="2"/>
          <c:order val="2"/>
          <c:tx>
            <c:strRef>
              <c:f>Sheet1!$D$1</c:f>
              <c:strCache>
                <c:ptCount val="1"/>
                <c:pt idx="0">
                  <c:v>Remaining gap</c:v>
                </c:pt>
              </c:strCache>
            </c:strRef>
          </c:tx>
          <c:spPr>
            <a:solidFill>
              <a:srgbClr val="DDDBD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c:f>
              <c:multiLvlStrCache>
                <c:ptCount val="2"/>
                <c:lvl>
                  <c:pt idx="0">
                    <c:v>With this project</c:v>
                  </c:pt>
                  <c:pt idx="1">
                    <c:v>Today</c:v>
                  </c:pt>
                </c:lvl>
              </c:multiLvlStrCache>
            </c:multiLvlStrRef>
          </c:cat>
          <c:val>
            <c:numRef>
              <c:f>Sheet1!$D$2:$D$3</c:f>
              <c:numCache>
                <c:formatCode>General</c:formatCode>
                <c:ptCount val="2"/>
                <c:pt idx="0">
                  <c:v>2600</c:v>
                </c:pt>
                <c:pt idx="1">
                  <c:v>6600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7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3333"/>
                </a:solidFill>
                <a:latin typeface="+mn-lt"/>
              </a:defRPr>
            </a:pPr>
            <a:endParaRPr lang="en-US"/>
          </a:p>
        </c:txPr>
        <c:crossAx val="2094734552"/>
        <c:crosses val="autoZero"/>
        <c:auto val="1"/>
        <c:lblAlgn val="ctr"/>
        <c:noMultiLvlLbl val="1"/>
      </c:catAx>
      <c:valAx>
        <c:axId val="2094734552"/>
        <c:scaling>
          <c:orientation val="minMax"/>
          <c:min val="0"/>
        </c:scaling>
        <c:delete val="0"/>
        <c:axPos val="b"/>
        <c:majorGridlines>
          <c:spPr>
            <a:ln w="9525" cap="flat">
              <a:solidFill>
                <a:srgbClr val="DDDBD3"/>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6B6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333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Use the same project title as in the Project Tracker form, word for word. A first submission has no project ID yet: write "new". A resubmission keeps its PRJ number and takes the next version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INSTRUCTIONS. This slide is for the author only. Delete it before you upload the file. Every other slide has a note like this one that says what the committee looks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SUMMARY. The whole case on one slide. Write the title as the ask: what, how much, from when. Example: "Approve € 0.64 m for rinse-water recirculation that saves 11,000 m³ a year from 2027". The four figures are the same as in the tracker form. Delete the resubmission box for a first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BASELINE. All figures come from the Project Tracker: Reference data for the base year and the latest actual, the Overview of your site for the requirement, the approved projects and the gap. Do not recalculate them. Site 1100 reports intensity per pallet handled, not per tonne.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Describe the change in plain words, not the supplier's brochure. The committee wants to see that you looked at other options, including doing nothing, and why this one wins on impact and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CALCULATION. Show every step so a colleague can repeat it. Before and after at the same output level. Count the withdrawal the site no longer needs, not the volume that passes through the recycling loop. The two bold lines are the annual impact and the total impact you enter in the tracker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Show both water targets: the absolute one in the chart, the intensity in the figures on the right. Intensity uses the planned 2030 output from Reference data. The chart holds example figures: right-click it, choose Edit Data and type your site's figures. Only approved projects count as covered; this project is shown as "if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FINANCIALS. Prepare this slide with your site controller. "Capex, total" and "Opex change per year" are the two figures in the tracker form; a saving is entered as a negative number. State the prices you assumed. Water projects often pay back slowly on fees alone: say so, and name the other reasons, such as a permit limit or supply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The start year in the tracker is the first year the full annual impact applies, with no ramp-up. A project that starts after 2030 adds nothing to the 2030 target. Be honest about delivery times and the shutdown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Four risks at most, the real ones. Recolour the dot: green is low, amber is medium, red is high. Then the side effects on the other two targets: a recycling loop needs energy and chemicals and leaves sludge or concentrate.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MEASUREMENT. An approved project counts toward the target from its start year, so the committee wants to know how the site will show the impact is real. Name the meter or the document, the baseline period and the person. If the process has no sub-meter, put one into the capex.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Three lines at most. Line 1 repeats the tracker figures. The sign-off line names the three people who stand behind the figures: the project owner, the site controller and the site manager.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RB Title">
    <p:bg>
      <p:bgPr>
        <a:solidFill>
          <a:schemeClr val="accent1"/>
        </a:solidFill>
      </p:bgPr>
    </p:bg>
    <p:spTree>
      <p:nvGrpSpPr>
        <p:cNvPr id="1" name=""/>
        <p:cNvGrpSpPr/>
        <p:nvPr/>
      </p:nvGrpSpPr>
      <p:grpSpPr>
        <a:xfrm>
          <a:off x="0" y="0"/>
          <a:ext cx="0" cy="0"/>
          <a:chOff x="0" y="0"/>
          <a:chExt cx="0" cy="0"/>
        </a:xfrm>
      </p:grpSpPr>
      <p:pic>
        <p:nvPicPr>
          <p:cNvPr id="2" name="Image 0" descr="/home/claude/zhatquai/ravensberg-consumer-brands-project-tracker/public/assets/ravensberg-logo-white.png">    </p:cNvPr>
          <p:cNvPicPr>
            <a:picLocks noChangeAspect="1"/>
          </p:cNvPicPr>
          <p:nvPr/>
        </p:nvPicPr>
        <p:blipFill>
          <a:blip r:embed="rId1"/>
          <a:stretch>
            <a:fillRect/>
          </a:stretch>
        </p:blipFill>
        <p:spPr>
          <a:xfrm>
            <a:off x="640080" y="548640"/>
            <a:ext cx="3246120" cy="914400"/>
          </a:xfrm>
          <a:prstGeom prst="rect">
            <a:avLst/>
          </a:prstGeom>
        </p:spPr>
      </p:pic>
      <p:sp>
        <p:nvSpPr>
          <p:cNvPr id="3" name="Shape 0"/>
          <p:cNvSpPr/>
          <p:nvPr/>
        </p:nvSpPr>
        <p:spPr>
          <a:xfrm>
            <a:off x="640080" y="4754880"/>
            <a:ext cx="1097280" cy="54864"/>
          </a:xfrm>
          <a:prstGeom prst="rect">
            <a:avLst/>
          </a:prstGeom>
          <a:solidFill>
            <a:schemeClr val="accent2"/>
          </a:solidFill>
          <a:ln/>
        </p:spPr>
      </p:sp>
      <p:sp>
        <p:nvSpPr>
          <p:cNvPr id="4" name="Text 1"/>
          <p:cNvSpPr/>
          <p:nvPr>
            <p:ph idx="102" type="body" hasCustomPrompt="1"/>
          </p:nvPr>
        </p:nvSpPr>
        <p:spPr>
          <a:xfrm>
            <a:off x="640080" y="1965960"/>
            <a:ext cx="10058400" cy="320040"/>
          </a:xfrm>
          <a:prstGeom prst="rect">
            <a:avLst/>
          </a:prstGeom>
          <a:noFill/>
          <a:ln/>
        </p:spPr>
        <p:txBody>
          <a:bodyPr wrap="square" rtlCol="0"/>
          <a:lstStyle>
            <a:lvl1pPr indent="0" marL="0">
              <a:buNone/>
              <a:defRPr lang="en-US" sz="1200" b="1" spc="150" kern="0" dirty="0">
                <a:solidFill>
                  <a:schemeClr val="accent2"/>
                </a:solidFill>
              </a:defRPr>
            </a:lvl1pPr>
          </a:lstStyle>
          <a:p>
            <a:pPr indent="0" marL="0">
              <a:buNone/>
            </a:pPr>
            <a:r>
              <a:rPr lang="en-US" sz="1200" b="1" spc="150" kern="0" dirty="0">
                <a:solidFill>
                  <a:schemeClr val="accent2"/>
                </a:solidFill>
              </a:rPr>
              <a:t>DOCUMENT TYPE</a:t>
            </a:r>
            <a:endParaRPr lang="en-US" sz="1200" dirty="0"/>
          </a:p>
        </p:txBody>
      </p:sp>
      <p:sp>
        <p:nvSpPr>
          <p:cNvPr id="5" name="Text 1"/>
          <p:cNvSpPr/>
          <p:nvPr>
            <p:ph idx="103" type="title" hasCustomPrompt="1"/>
          </p:nvPr>
        </p:nvSpPr>
        <p:spPr>
          <a:xfrm>
            <a:off x="640080" y="2331720"/>
            <a:ext cx="10881360" cy="141732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r>
              <a:rPr lang="en-US" sz="3800" b="1" dirty="0">
                <a:solidFill>
                  <a:schemeClr val="bg1"/>
                </a:solidFill>
              </a:rPr>
              <a:t>Project title</a:t>
            </a:r>
            <a:endParaRPr lang="en-US" sz="3800" dirty="0"/>
          </a:p>
        </p:txBody>
      </p:sp>
      <p:sp>
        <p:nvSpPr>
          <p:cNvPr id="6" name="Text 1"/>
          <p:cNvSpPr/>
          <p:nvPr>
            <p:ph idx="104" type="body" hasCustomPrompt="1"/>
          </p:nvPr>
        </p:nvSpPr>
        <p:spPr>
          <a:xfrm>
            <a:off x="640080" y="3886200"/>
            <a:ext cx="10881360" cy="548640"/>
          </a:xfrm>
          <a:prstGeom prst="rect">
            <a:avLst/>
          </a:prstGeom>
          <a:noFill/>
          <a:ln/>
        </p:spPr>
        <p:txBody>
          <a:bodyPr wrap="square" rtlCol="0"/>
          <a:lstStyle>
            <a:lvl1pPr indent="0" marL="0">
              <a:buNone/>
              <a:defRPr lang="en-US" sz="2000" dirty="0">
                <a:solidFill>
                  <a:schemeClr val="bg1"/>
                </a:solidFill>
              </a:defRPr>
            </a:lvl1pPr>
          </a:lstStyle>
          <a:p>
            <a:pPr indent="0" marL="0">
              <a:buNone/>
            </a:pPr>
            <a:r>
              <a:rPr lang="en-US" sz="2000" dirty="0">
                <a:solidFill>
                  <a:schemeClr val="bg1"/>
                </a:solidFill>
              </a:rPr>
              <a:t>Site and owner</a:t>
            </a:r>
            <a:endParaRPr lang="en-US" sz="2000" dirty="0"/>
          </a:p>
        </p:txBody>
      </p:sp>
      <p:sp>
        <p:nvSpPr>
          <p:cNvPr id="7" name="Text 1"/>
          <p:cNvSpPr/>
          <p:nvPr>
            <p:ph idx="105" type="body" hasCustomPrompt="1"/>
          </p:nvPr>
        </p:nvSpPr>
        <p:spPr>
          <a:xfrm>
            <a:off x="640080" y="4983480"/>
            <a:ext cx="10881360" cy="411480"/>
          </a:xfrm>
          <a:prstGeom prst="rect">
            <a:avLst/>
          </a:prstGeom>
          <a:noFill/>
          <a:ln/>
        </p:spPr>
        <p:txBody>
          <a:bodyPr wrap="square" rtlCol="0"/>
          <a:lstStyle>
            <a:lvl1pPr indent="0" marL="0">
              <a:buNone/>
              <a:defRPr lang="en-US" sz="1400" dirty="0">
                <a:solidFill>
                  <a:schemeClr val="bg1"/>
                </a:solidFill>
              </a:defRPr>
            </a:lvl1pPr>
          </a:lstStyle>
          <a:p>
            <a:pPr indent="0" marL="0">
              <a:buNone/>
            </a:pPr>
            <a:r>
              <a:rPr lang="en-US" sz="1400" dirty="0">
                <a:solidFill>
                  <a:schemeClr val="bg1"/>
                </a:solidFill>
              </a:rPr>
              <a:t>Project ID, version, date</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RB Content">
    <p:bg>
      <p:bgPr>
        <a:solidFill>
          <a:schemeClr val="bg2"/>
        </a:solidFill>
      </p:bgPr>
    </p:bg>
    <p:spTree>
      <p:nvGrpSpPr>
        <p:cNvPr id="1" name=""/>
        <p:cNvGrpSpPr/>
        <p:nvPr/>
      </p:nvGrpSpPr>
      <p:grpSpPr>
        <a:xfrm>
          <a:off x="0" y="0"/>
          <a:ext cx="0" cy="0"/>
          <a:chOff x="0" y="0"/>
          <a:chExt cx="0" cy="0"/>
        </a:xfrm>
      </p:grpSpPr>
      <p:pic>
        <p:nvPicPr>
          <p:cNvPr id="2" name="Image 0" descr="/home/claude/zhatquai/ravensberg-consumer-brands-project-tracker/public/assets/ravensberg-logo.png">    </p:cNvPr>
          <p:cNvPicPr>
            <a:picLocks noChangeAspect="1"/>
          </p:cNvPicPr>
          <p:nvPr/>
        </p:nvPicPr>
        <p:blipFill>
          <a:blip r:embed="rId1"/>
          <a:stretch>
            <a:fillRect/>
          </a:stretch>
        </p:blipFill>
        <p:spPr>
          <a:xfrm>
            <a:off x="457200" y="320040"/>
            <a:ext cx="1783080" cy="502920"/>
          </a:xfrm>
          <a:prstGeom prst="rect">
            <a:avLst/>
          </a:prstGeom>
        </p:spPr>
      </p:pic>
      <p:sp>
        <p:nvSpPr>
          <p:cNvPr id="3" name="Shape 0"/>
          <p:cNvSpPr/>
          <p:nvPr/>
        </p:nvSpPr>
        <p:spPr>
          <a:xfrm>
            <a:off x="457200" y="1874520"/>
            <a:ext cx="822960" cy="45720"/>
          </a:xfrm>
          <a:prstGeom prst="rect">
            <a:avLst/>
          </a:prstGeom>
          <a:solidFill>
            <a:schemeClr val="accent3"/>
          </a:solidFill>
          <a:ln/>
        </p:spPr>
      </p:sp>
      <p:sp>
        <p:nvSpPr>
          <p:cNvPr id="4" name="Text 1"/>
          <p:cNvSpPr/>
          <p:nvPr/>
        </p:nvSpPr>
        <p:spPr>
          <a:xfrm>
            <a:off x="457200" y="6400800"/>
            <a:ext cx="7315200" cy="274320"/>
          </a:xfrm>
          <a:prstGeom prst="rect">
            <a:avLst/>
          </a:prstGeom>
          <a:noFill/>
          <a:ln/>
        </p:spPr>
        <p:txBody>
          <a:bodyPr wrap="square" lIns="0" tIns="0" rIns="0" bIns="0" rtlCol="0" anchor="ctr"/>
          <a:lstStyle/>
          <a:p>
            <a:pPr indent="0" marL="0">
              <a:buNone/>
            </a:pPr>
            <a:r>
              <a:rPr lang="en-US" sz="900" dirty="0">
                <a:solidFill>
                  <a:srgbClr val="6B6B6B"/>
                </a:solidFill>
              </a:rPr>
              <a:t>Ravensberg Consumer Brands  |  Group Sustainability  |  Internal</a:t>
            </a:r>
            <a:endParaRPr lang="en-US" sz="900" dirty="0"/>
          </a:p>
        </p:txBody>
      </p:sp>
      <p:sp>
        <p:nvSpPr>
          <p:cNvPr id="5" name="Text 2"/>
          <p:cNvSpPr/>
          <p:nvPr/>
        </p:nvSpPr>
        <p:spPr>
          <a:xfrm>
            <a:off x="10424160" y="6400800"/>
            <a:ext cx="932688" cy="274320"/>
          </a:xfrm>
          <a:prstGeom prst="rect">
            <a:avLst/>
          </a:prstGeom>
          <a:noFill/>
          <a:ln/>
        </p:spPr>
        <p:txBody>
          <a:bodyPr wrap="square" lIns="0" tIns="0" rIns="0" bIns="0" rtlCol="0" anchor="t"/>
          <a:lstStyle/>
          <a:p>
            <a:pPr algn="r" indent="0" marL="0">
              <a:buNone/>
            </a:pPr>
            <a:r>
              <a:rPr lang="en-US" sz="900" dirty="0">
                <a:solidFill>
                  <a:srgbClr val="6B6B6B"/>
                </a:solidFill>
              </a:rPr>
              <a:t>Page</a:t>
            </a:r>
            <a:endParaRPr lang="en-US" sz="900" dirty="0"/>
          </a:p>
        </p:txBody>
      </p:sp>
      <p:sp>
        <p:nvSpPr>
          <p:cNvPr id="6" name="Text 3"/>
          <p:cNvSpPr/>
          <p:nvPr>
            <p:ph idx="104" type="body" hasCustomPrompt="1"/>
          </p:nvPr>
        </p:nvSpPr>
        <p:spPr>
          <a:xfrm>
            <a:off x="457200" y="941832"/>
            <a:ext cx="11247120" cy="274320"/>
          </a:xfrm>
          <a:prstGeom prst="rect">
            <a:avLst/>
          </a:prstGeom>
          <a:noFill/>
          <a:ln/>
        </p:spPr>
        <p:txBody>
          <a:bodyPr wrap="square" rtlCol="0"/>
          <a:lstStyle>
            <a:lvl1pPr indent="0" marL="0">
              <a:buNone/>
              <a:defRPr lang="en-US" sz="1100" b="1" spc="100" kern="0" dirty="0">
                <a:solidFill>
                  <a:schemeClr val="accent1"/>
                </a:solidFill>
              </a:defRPr>
            </a:lvl1pPr>
          </a:lstStyle>
          <a:p>
            <a:pPr indent="0" marL="0">
              <a:buNone/>
            </a:pPr>
            <a:r>
              <a:rPr lang="en-US" sz="1100" b="1" spc="100" kern="0" dirty="0">
                <a:solidFill>
                  <a:schemeClr val="accent1"/>
                </a:solidFill>
              </a:rPr>
              <a:t>EYEBROW</a:t>
            </a:r>
            <a:endParaRPr lang="en-US" sz="1100" dirty="0"/>
          </a:p>
        </p:txBody>
      </p:sp>
      <p:sp>
        <p:nvSpPr>
          <p:cNvPr id="7" name="Text 3"/>
          <p:cNvSpPr/>
          <p:nvPr>
            <p:ph idx="105" type="title" hasCustomPrompt="1"/>
          </p:nvPr>
        </p:nvSpPr>
        <p:spPr>
          <a:xfrm>
            <a:off x="457200" y="1188720"/>
            <a:ext cx="11274552" cy="640080"/>
          </a:xfrm>
          <a:prstGeom prst="rect">
            <a:avLst/>
          </a:prstGeom>
          <a:noFill/>
          <a:ln/>
        </p:spPr>
        <p:txBody>
          <a:bodyPr wrap="square" rtlCol="0"/>
          <a:lstStyle>
            <a:lvl1pPr algn="l" indent="0" marL="0">
              <a:buNone/>
              <a:defRPr lang="en-US" sz="2800" b="1" dirty="0">
                <a:solidFill>
                  <a:schemeClr val="accent1"/>
                </a:solidFill>
              </a:defRPr>
            </a:lvl1pPr>
          </a:lstStyle>
          <a:p>
            <a:pPr algn="l" indent="0" marL="0">
              <a:buNone/>
            </a:pPr>
            <a:r>
              <a:rPr lang="en-US" sz="2800" b="1" dirty="0">
                <a:solidFill>
                  <a:schemeClr val="accent1"/>
                </a:solidFill>
              </a:rPr>
              <a:t>Slide title: the message in one line</a:t>
            </a:r>
            <a:endParaRPr lang="en-US" sz="2800" dirty="0"/>
          </a:p>
        </p:txBody>
      </p:sp>
      <p:sp>
        <p:nvSpPr>
          <p:cNvPr id="25" name="Slide Number Placeholder 0"/>
          <p:cNvSpPr>
            <a:spLocks noGrp="1"/>
          </p:cNvSpPr>
          <p:nvPr>
            <p:ph type="sldNum" sz="quarter" idx="4294967295"/>
          </p:nvPr>
        </p:nvSpPr>
        <p:spPr>
          <a:xfrm>
            <a:off x="11402568" y="6400800"/>
            <a:ext cx="329184"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RB Closing">
    <p:bg>
      <p:bgPr>
        <a:solidFill>
          <a:schemeClr val="accent1"/>
        </a:solidFill>
      </p:bgPr>
    </p:bg>
    <p:spTree>
      <p:nvGrpSpPr>
        <p:cNvPr id="1" name=""/>
        <p:cNvGrpSpPr/>
        <p:nvPr/>
      </p:nvGrpSpPr>
      <p:grpSpPr>
        <a:xfrm>
          <a:off x="0" y="0"/>
          <a:ext cx="0" cy="0"/>
          <a:chOff x="0" y="0"/>
          <a:chExt cx="0" cy="0"/>
        </a:xfrm>
      </p:grpSpPr>
      <p:pic>
        <p:nvPicPr>
          <p:cNvPr id="2" name="Image 0" descr="/tmp/claude-0/-home-claude/f955b6eb-6640-55e2-9f9b-f566993d5591/scratchpad/build/mark-white-on-green.png">    </p:cNvPr>
          <p:cNvPicPr>
            <a:picLocks noChangeAspect="1"/>
          </p:cNvPicPr>
          <p:nvPr/>
        </p:nvPicPr>
        <p:blipFill>
          <a:blip r:embed="rId1"/>
          <a:stretch>
            <a:fillRect/>
          </a:stretch>
        </p:blipFill>
        <p:spPr>
          <a:xfrm>
            <a:off x="640080" y="640080"/>
            <a:ext cx="1097280" cy="1097280"/>
          </a:xfrm>
          <a:prstGeom prst="rect">
            <a:avLst/>
          </a:prstGeom>
        </p:spPr>
      </p:pic>
      <p:sp>
        <p:nvSpPr>
          <p:cNvPr id="3" name="Text 0"/>
          <p:cNvSpPr/>
          <p:nvPr/>
        </p:nvSpPr>
        <p:spPr>
          <a:xfrm>
            <a:off x="640080" y="6126480"/>
            <a:ext cx="10058400" cy="365760"/>
          </a:xfrm>
          <a:prstGeom prst="rect">
            <a:avLst/>
          </a:prstGeom>
          <a:noFill/>
          <a:ln/>
        </p:spPr>
        <p:txBody>
          <a:bodyPr wrap="square" lIns="0" tIns="0" rIns="0" bIns="0" rtlCol="0" anchor="ctr"/>
          <a:lstStyle/>
          <a:p>
            <a:pPr indent="0" marL="0">
              <a:buNone/>
            </a:pPr>
            <a:r>
              <a:rPr lang="en-US" sz="1200" dirty="0">
                <a:solidFill>
                  <a:schemeClr val="accent2"/>
                </a:solidFill>
              </a:rPr>
              <a:t>Trusted brands. A more sustainable everyday.</a:t>
            </a:r>
            <a:endParaRPr lang="en-US" sz="1200" dirty="0"/>
          </a:p>
        </p:txBody>
      </p:sp>
      <p:sp>
        <p:nvSpPr>
          <p:cNvPr id="4" name="Text 1"/>
          <p:cNvSpPr/>
          <p:nvPr>
            <p:ph idx="102" type="title" hasCustomPrompt="1"/>
          </p:nvPr>
        </p:nvSpPr>
        <p:spPr>
          <a:xfrm>
            <a:off x="640080" y="2103120"/>
            <a:ext cx="10881360" cy="8229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r>
              <a:rPr lang="en-US" sz="4000" b="1" dirty="0">
                <a:solidFill>
                  <a:schemeClr val="bg1"/>
                </a:solidFill>
              </a:rPr>
              <a:t>Decision requested</a:t>
            </a: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02568" y="6400800"/>
            <a:ext cx="329184"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body" hasCustomPrompt="1"/>
          </p:nvPr>
        </p:nvSpPr>
        <p:spPr>
          <a:xfrm>
            <a:off x="640080" y="1965960"/>
            <a:ext cx="10058400" cy="320040"/>
          </a:xfrm>
          <a:prstGeom prst="rect">
            <a:avLst/>
          </a:prstGeom>
          <a:noFill/>
          <a:ln/>
        </p:spPr>
        <p:txBody>
          <a:bodyPr wrap="square" lIns="0" tIns="0" rIns="0" bIns="0" rtlCol="0" anchor="ctr"/>
          <a:lstStyle/>
          <a:p>
            <a:pPr indent="0" marL="0">
              <a:buNone/>
            </a:pPr>
            <a:r>
              <a:rPr lang="en-US" sz="1200" b="1" spc="150" kern="0" dirty="0">
                <a:solidFill>
                  <a:schemeClr val="accent2"/>
                </a:solidFill>
              </a:rPr>
              <a:t>PROJECT APPROVAL PRESENTATION  |  WATER</a:t>
            </a:r>
            <a:endParaRPr lang="en-US" sz="1200" dirty="0"/>
          </a:p>
        </p:txBody>
      </p:sp>
      <p:sp>
        <p:nvSpPr>
          <p:cNvPr id="3" name="Text 1"/>
          <p:cNvSpPr/>
          <p:nvPr>
            <p:ph idx="103" type="title" hasCustomPrompt="1"/>
          </p:nvPr>
        </p:nvSpPr>
        <p:spPr>
          <a:xfrm>
            <a:off x="640080" y="2331720"/>
            <a:ext cx="10881360" cy="1417320"/>
          </a:xfrm>
          <a:prstGeom prst="rect">
            <a:avLst/>
          </a:prstGeom>
          <a:noFill/>
          <a:ln/>
        </p:spPr>
        <p:txBody>
          <a:bodyPr wrap="square" lIns="0" tIns="0" rIns="0" bIns="0" rtlCol="0" anchor="b"/>
          <a:lstStyle/>
          <a:p>
            <a:pPr algn="l" indent="0" marL="0">
              <a:buNone/>
            </a:pPr>
            <a:r>
              <a:rPr lang="en-US" sz="3800" b="1" dirty="0">
                <a:solidFill>
                  <a:schemeClr val="bg1"/>
                </a:solidFill>
              </a:rPr>
              <a:t>[Project title, exactly as in the Project Tracker]</a:t>
            </a:r>
            <a:endParaRPr lang="en-US" sz="3800" dirty="0"/>
          </a:p>
        </p:txBody>
      </p:sp>
      <p:sp>
        <p:nvSpPr>
          <p:cNvPr id="4" name="Text 1"/>
          <p:cNvSpPr/>
          <p:nvPr>
            <p:ph idx="104" type="body" hasCustomPrompt="1"/>
          </p:nvPr>
        </p:nvSpPr>
        <p:spPr>
          <a:xfrm>
            <a:off x="640080" y="3886200"/>
            <a:ext cx="10881360" cy="548640"/>
          </a:xfrm>
          <a:prstGeom prst="rect">
            <a:avLst/>
          </a:prstGeom>
          <a:noFill/>
          <a:ln/>
        </p:spPr>
        <p:txBody>
          <a:bodyPr wrap="square" lIns="0" tIns="0" rIns="0" bIns="0" rtlCol="0" anchor="ctr"/>
          <a:lstStyle/>
          <a:p>
            <a:pPr indent="0" marL="0">
              <a:buNone/>
            </a:pPr>
            <a:r>
              <a:rPr lang="en-US" sz="2000" dirty="0">
                <a:solidFill>
                  <a:schemeClr val="bg1"/>
                </a:solidFill>
              </a:rPr>
              <a:t>[Site code and name]  |  Project owner: [name]</a:t>
            </a:r>
            <a:endParaRPr lang="en-US" sz="2000" dirty="0"/>
          </a:p>
        </p:txBody>
      </p:sp>
      <p:sp>
        <p:nvSpPr>
          <p:cNvPr id="5" name="Text 1"/>
          <p:cNvSpPr/>
          <p:nvPr>
            <p:ph idx="105" type="body" hasCustomPrompt="1"/>
          </p:nvPr>
        </p:nvSpPr>
        <p:spPr>
          <a:xfrm>
            <a:off x="640080" y="4983480"/>
            <a:ext cx="10881360" cy="411480"/>
          </a:xfrm>
          <a:prstGeom prst="rect">
            <a:avLst/>
          </a:prstGeom>
          <a:noFill/>
          <a:ln/>
        </p:spPr>
        <p:txBody>
          <a:bodyPr wrap="square" lIns="0" tIns="0" rIns="0" bIns="0" rtlCol="0" anchor="ctr"/>
          <a:lstStyle/>
          <a:p>
            <a:pPr indent="0" marL="0">
              <a:buNone/>
            </a:pPr>
            <a:r>
              <a:rPr lang="en-US" sz="1400" dirty="0">
                <a:solidFill>
                  <a:schemeClr val="bg1"/>
                </a:solidFill>
              </a:rPr>
              <a:t>Project ID: [PRJ-0000, or "new"]  |  Version [1]  |  [Date]  |  Water withdrawal, base year FY2024</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4" type="body" hasCustomPrompt="1"/>
          </p:nvPr>
        </p:nvSpPr>
        <p:spPr>
          <a:xfrm>
            <a:off x="457200" y="941832"/>
            <a:ext cx="1124712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INSTRUCTIONS  |  DELETE THIS SLIDE BEFORE YOU SUBMIT</a:t>
            </a:r>
            <a:endParaRPr lang="en-US" sz="1100" dirty="0"/>
          </a:p>
        </p:txBody>
      </p:sp>
      <p:sp>
        <p:nvSpPr>
          <p:cNvPr id="3" name="Text 3"/>
          <p:cNvSpPr/>
          <p:nvPr>
            <p:ph idx="105" type="title" hasCustomPrompt="1"/>
          </p:nvPr>
        </p:nvSpPr>
        <p:spPr>
          <a:xfrm>
            <a:off x="457200" y="1188720"/>
            <a:ext cx="11274552" cy="640080"/>
          </a:xfrm>
          <a:prstGeom prst="rect">
            <a:avLst/>
          </a:prstGeom>
          <a:noFill/>
          <a:ln/>
        </p:spPr>
        <p:txBody>
          <a:bodyPr wrap="square" lIns="0" tIns="0" rIns="0" bIns="0" rtlCol="0" anchor="ctr"/>
          <a:lstStyle/>
          <a:p>
            <a:pPr algn="l" indent="0" marL="0">
              <a:buNone/>
            </a:pPr>
            <a:r>
              <a:rPr lang="en-US" sz="2800" b="1" dirty="0">
                <a:solidFill>
                  <a:schemeClr val="accent1"/>
                </a:solidFill>
              </a:rPr>
              <a:t>How to prepare this presentation</a:t>
            </a:r>
            <a:endParaRPr lang="en-US" sz="2800" dirty="0"/>
          </a:p>
        </p:txBody>
      </p:sp>
      <p:sp>
        <p:nvSpPr>
          <p:cNvPr id="5" name="Step 1 marker"/>
          <p:cNvSpPr/>
          <p:nvPr/>
        </p:nvSpPr>
        <p:spPr>
          <a:xfrm>
            <a:off x="457200" y="2231136"/>
            <a:ext cx="420624" cy="420624"/>
          </a:xfrm>
          <a:prstGeom prst="ellipse">
            <a:avLst/>
          </a:prstGeom>
          <a:solidFill>
            <a:schemeClr val="accent1"/>
          </a:solidFill>
          <a:ln/>
        </p:spPr>
      </p:sp>
      <p:sp>
        <p:nvSpPr>
          <p:cNvPr id="6" name="Step 1 number"/>
          <p:cNvSpPr txBox="1"/>
          <p:nvPr/>
        </p:nvSpPr>
        <p:spPr>
          <a:xfrm>
            <a:off x="457200" y="2231136"/>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7" name="Step 1 title"/>
          <p:cNvSpPr txBox="1"/>
          <p:nvPr/>
        </p:nvSpPr>
        <p:spPr>
          <a:xfrm>
            <a:off x="1051560" y="2212848"/>
            <a:ext cx="6172200" cy="274320"/>
          </a:xfrm>
          <a:prstGeom prst="rect">
            <a:avLst/>
          </a:prstGeom>
          <a:noFill/>
          <a:ln/>
        </p:spPr>
        <p:txBody>
          <a:bodyPr wrap="square" lIns="0" tIns="0" rIns="0" bIns="0" rtlCol="0" anchor="ctr"/>
          <a:lstStyle/>
          <a:p>
            <a:pPr indent="0" marL="0">
              <a:buNone/>
            </a:pPr>
            <a:r>
              <a:rPr lang="en-US" sz="1400" b="1" dirty="0">
                <a:solidFill>
                  <a:schemeClr val="accent1"/>
                </a:solidFill>
                <a:latin typeface="+mj-lt" pitchFamily="34" charset="0"/>
                <a:ea typeface="+mj-lt" pitchFamily="34" charset="-122"/>
                <a:cs typeface="+mj-lt" pitchFamily="34" charset="-120"/>
              </a:rPr>
              <a:t>Get your site's figures</a:t>
            </a:r>
            <a:endParaRPr lang="en-US" sz="1400" dirty="0"/>
          </a:p>
        </p:txBody>
      </p:sp>
      <p:sp>
        <p:nvSpPr>
          <p:cNvPr id="8" name="Step 1 text"/>
          <p:cNvSpPr txBox="1"/>
          <p:nvPr/>
        </p:nvSpPr>
        <p:spPr>
          <a:xfrm>
            <a:off x="1051560" y="2496312"/>
            <a:ext cx="6172200" cy="457200"/>
          </a:xfrm>
          <a:prstGeom prst="rect">
            <a:avLst/>
          </a:prstGeom>
          <a:noFill/>
          <a:ln/>
        </p:spPr>
        <p:txBody>
          <a:bodyPr wrap="square" lIns="0" tIns="0" rIns="0" bIns="0" rtlCol="0" anchor="t"/>
          <a:lstStyle/>
          <a:p>
            <a:pPr indent="0" marL="0">
              <a:buNone/>
            </a:pPr>
            <a:r>
              <a:rPr lang="en-US" sz="1250" dirty="0">
                <a:solidFill>
                  <a:schemeClr val="tx1"/>
                </a:solidFill>
              </a:rPr>
              <a:t>In the Project Tracker: FY2024 withdrawal, output and the latest actual under Reference data; the 2030 requirement, approved projects and gap on your site's Overview.</a:t>
            </a:r>
            <a:endParaRPr lang="en-US" sz="1250" dirty="0"/>
          </a:p>
        </p:txBody>
      </p:sp>
      <p:sp>
        <p:nvSpPr>
          <p:cNvPr id="9" name="Step 2 marker"/>
          <p:cNvSpPr/>
          <p:nvPr/>
        </p:nvSpPr>
        <p:spPr>
          <a:xfrm>
            <a:off x="457200" y="3026664"/>
            <a:ext cx="420624" cy="420624"/>
          </a:xfrm>
          <a:prstGeom prst="ellipse">
            <a:avLst/>
          </a:prstGeom>
          <a:solidFill>
            <a:schemeClr val="accent1"/>
          </a:solidFill>
          <a:ln/>
        </p:spPr>
      </p:sp>
      <p:sp>
        <p:nvSpPr>
          <p:cNvPr id="10" name="Step 2 number"/>
          <p:cNvSpPr txBox="1"/>
          <p:nvPr/>
        </p:nvSpPr>
        <p:spPr>
          <a:xfrm>
            <a:off x="457200" y="3026664"/>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11" name="Step 2 title"/>
          <p:cNvSpPr txBox="1"/>
          <p:nvPr/>
        </p:nvSpPr>
        <p:spPr>
          <a:xfrm>
            <a:off x="1051560" y="3008376"/>
            <a:ext cx="6172200" cy="274320"/>
          </a:xfrm>
          <a:prstGeom prst="rect">
            <a:avLst/>
          </a:prstGeom>
          <a:noFill/>
          <a:ln/>
        </p:spPr>
        <p:txBody>
          <a:bodyPr wrap="square" lIns="0" tIns="0" rIns="0" bIns="0" rtlCol="0" anchor="ctr"/>
          <a:lstStyle/>
          <a:p>
            <a:pPr indent="0" marL="0">
              <a:buNone/>
            </a:pPr>
            <a:r>
              <a:rPr lang="en-US" sz="1400" b="1" dirty="0">
                <a:solidFill>
                  <a:schemeClr val="accent1"/>
                </a:solidFill>
                <a:latin typeface="+mj-lt" pitchFamily="34" charset="0"/>
                <a:ea typeface="+mj-lt" pitchFamily="34" charset="-122"/>
                <a:cs typeface="+mj-lt" pitchFamily="34" charset="-120"/>
              </a:rPr>
              <a:t>Calculate the impact</a:t>
            </a:r>
            <a:endParaRPr lang="en-US" sz="1400" dirty="0"/>
          </a:p>
        </p:txBody>
      </p:sp>
      <p:sp>
        <p:nvSpPr>
          <p:cNvPr id="12" name="Step 2 text"/>
          <p:cNvSpPr txBox="1"/>
          <p:nvPr/>
        </p:nvSpPr>
        <p:spPr>
          <a:xfrm>
            <a:off x="1051560" y="3291840"/>
            <a:ext cx="6172200" cy="457200"/>
          </a:xfrm>
          <a:prstGeom prst="rect">
            <a:avLst/>
          </a:prstGeom>
          <a:noFill/>
          <a:ln/>
        </p:spPr>
        <p:txBody>
          <a:bodyPr wrap="square" lIns="0" tIns="0" rIns="0" bIns="0" rtlCol="0" anchor="t"/>
          <a:lstStyle/>
          <a:p>
            <a:pPr indent="0" marL="0">
              <a:buNone/>
            </a:pPr>
            <a:r>
              <a:rPr lang="en-US" sz="1250" dirty="0">
                <a:solidFill>
                  <a:schemeClr val="tx1"/>
                </a:solidFill>
              </a:rPr>
              <a:t>Slide 6. Water demand and withdrawal before and after, at the same output. Show every step and its source. Metered data first; label every estimate.</a:t>
            </a:r>
            <a:endParaRPr lang="en-US" sz="1250" dirty="0"/>
          </a:p>
        </p:txBody>
      </p:sp>
      <p:sp>
        <p:nvSpPr>
          <p:cNvPr id="13" name="Step 3 marker"/>
          <p:cNvSpPr/>
          <p:nvPr/>
        </p:nvSpPr>
        <p:spPr>
          <a:xfrm>
            <a:off x="457200" y="3822192"/>
            <a:ext cx="420624" cy="420624"/>
          </a:xfrm>
          <a:prstGeom prst="ellipse">
            <a:avLst/>
          </a:prstGeom>
          <a:solidFill>
            <a:schemeClr val="accent1"/>
          </a:solidFill>
          <a:ln/>
        </p:spPr>
      </p:sp>
      <p:sp>
        <p:nvSpPr>
          <p:cNvPr id="14" name="Step 3 number"/>
          <p:cNvSpPr txBox="1"/>
          <p:nvPr/>
        </p:nvSpPr>
        <p:spPr>
          <a:xfrm>
            <a:off x="457200" y="3822192"/>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15" name="Step 3 title"/>
          <p:cNvSpPr txBox="1"/>
          <p:nvPr/>
        </p:nvSpPr>
        <p:spPr>
          <a:xfrm>
            <a:off x="1051560" y="3803904"/>
            <a:ext cx="6172200" cy="274320"/>
          </a:xfrm>
          <a:prstGeom prst="rect">
            <a:avLst/>
          </a:prstGeom>
          <a:noFill/>
          <a:ln/>
        </p:spPr>
        <p:txBody>
          <a:bodyPr wrap="square" lIns="0" tIns="0" rIns="0" bIns="0" rtlCol="0" anchor="ctr"/>
          <a:lstStyle/>
          <a:p>
            <a:pPr indent="0" marL="0">
              <a:buNone/>
            </a:pPr>
            <a:r>
              <a:rPr lang="en-US" sz="1400" b="1" dirty="0">
                <a:solidFill>
                  <a:schemeClr val="accent1"/>
                </a:solidFill>
                <a:latin typeface="+mj-lt" pitchFamily="34" charset="0"/>
                <a:ea typeface="+mj-lt" pitchFamily="34" charset="-122"/>
                <a:cs typeface="+mj-lt" pitchFamily="34" charset="-120"/>
              </a:rPr>
              <a:t>Build the financial case</a:t>
            </a:r>
            <a:endParaRPr lang="en-US" sz="1400" dirty="0"/>
          </a:p>
        </p:txBody>
      </p:sp>
      <p:sp>
        <p:nvSpPr>
          <p:cNvPr id="16" name="Step 3 text"/>
          <p:cNvSpPr txBox="1"/>
          <p:nvPr/>
        </p:nvSpPr>
        <p:spPr>
          <a:xfrm>
            <a:off x="1051560" y="4087368"/>
            <a:ext cx="6172200" cy="457200"/>
          </a:xfrm>
          <a:prstGeom prst="rect">
            <a:avLst/>
          </a:prstGeom>
          <a:noFill/>
          <a:ln/>
        </p:spPr>
        <p:txBody>
          <a:bodyPr wrap="square" lIns="0" tIns="0" rIns="0" bIns="0" rtlCol="0" anchor="t"/>
          <a:lstStyle/>
          <a:p>
            <a:pPr indent="0" marL="0">
              <a:buNone/>
            </a:pPr>
            <a:r>
              <a:rPr lang="en-US" sz="1250" dirty="0">
                <a:solidFill>
                  <a:schemeClr val="tx1"/>
                </a:solidFill>
              </a:rPr>
              <a:t>Slide 8, with your site controller: capex, opex change, funding, payback and cost per m³ saved.</a:t>
            </a:r>
            <a:endParaRPr lang="en-US" sz="1250" dirty="0"/>
          </a:p>
        </p:txBody>
      </p:sp>
      <p:sp>
        <p:nvSpPr>
          <p:cNvPr id="17" name="Step 4 marker"/>
          <p:cNvSpPr/>
          <p:nvPr/>
        </p:nvSpPr>
        <p:spPr>
          <a:xfrm>
            <a:off x="457200" y="4617720"/>
            <a:ext cx="420624" cy="420624"/>
          </a:xfrm>
          <a:prstGeom prst="ellipse">
            <a:avLst/>
          </a:prstGeom>
          <a:solidFill>
            <a:schemeClr val="accent1"/>
          </a:solidFill>
          <a:ln/>
        </p:spPr>
      </p:sp>
      <p:sp>
        <p:nvSpPr>
          <p:cNvPr id="18" name="Step 4 number"/>
          <p:cNvSpPr txBox="1"/>
          <p:nvPr/>
        </p:nvSpPr>
        <p:spPr>
          <a:xfrm>
            <a:off x="457200" y="461772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4</a:t>
            </a:r>
            <a:endParaRPr lang="en-US" sz="1400" dirty="0"/>
          </a:p>
        </p:txBody>
      </p:sp>
      <p:sp>
        <p:nvSpPr>
          <p:cNvPr id="19" name="Step 4 title"/>
          <p:cNvSpPr txBox="1"/>
          <p:nvPr/>
        </p:nvSpPr>
        <p:spPr>
          <a:xfrm>
            <a:off x="1051560" y="4599432"/>
            <a:ext cx="6172200" cy="274320"/>
          </a:xfrm>
          <a:prstGeom prst="rect">
            <a:avLst/>
          </a:prstGeom>
          <a:noFill/>
          <a:ln/>
        </p:spPr>
        <p:txBody>
          <a:bodyPr wrap="square" lIns="0" tIns="0" rIns="0" bIns="0" rtlCol="0" anchor="ctr"/>
          <a:lstStyle/>
          <a:p>
            <a:pPr indent="0" marL="0">
              <a:buNone/>
            </a:pPr>
            <a:r>
              <a:rPr lang="en-US" sz="1400" b="1" dirty="0">
                <a:solidFill>
                  <a:schemeClr val="accent1"/>
                </a:solidFill>
                <a:latin typeface="+mj-lt" pitchFamily="34" charset="0"/>
                <a:ea typeface="+mj-lt" pitchFamily="34" charset="-122"/>
                <a:cs typeface="+mj-lt" pitchFamily="34" charset="-120"/>
              </a:rPr>
              <a:t>Fill slides 3 to 12</a:t>
            </a:r>
            <a:endParaRPr lang="en-US" sz="1400" dirty="0"/>
          </a:p>
        </p:txBody>
      </p:sp>
      <p:sp>
        <p:nvSpPr>
          <p:cNvPr id="20" name="Step 4 text"/>
          <p:cNvSpPr txBox="1"/>
          <p:nvPr/>
        </p:nvSpPr>
        <p:spPr>
          <a:xfrm>
            <a:off x="1051560" y="4882896"/>
            <a:ext cx="6172200" cy="457200"/>
          </a:xfrm>
          <a:prstGeom prst="rect">
            <a:avLst/>
          </a:prstGeom>
          <a:noFill/>
          <a:ln/>
        </p:spPr>
        <p:txBody>
          <a:bodyPr wrap="square" lIns="0" tIns="0" rIns="0" bIns="0" rtlCol="0" anchor="t"/>
          <a:lstStyle/>
          <a:p>
            <a:pPr indent="0" marL="0">
              <a:buNone/>
            </a:pPr>
            <a:r>
              <a:rPr lang="en-US" sz="1250" dirty="0">
                <a:solidFill>
                  <a:schemeClr val="tx1"/>
                </a:solidFill>
              </a:rPr>
              <a:t>Replace every [bracket]. Keep the order and the layouts. One message per slide, in the title. Plan for ten minutes, then questions.</a:t>
            </a:r>
            <a:endParaRPr lang="en-US" sz="1250" dirty="0"/>
          </a:p>
        </p:txBody>
      </p:sp>
      <p:sp>
        <p:nvSpPr>
          <p:cNvPr id="21" name="Step 5 marker"/>
          <p:cNvSpPr/>
          <p:nvPr/>
        </p:nvSpPr>
        <p:spPr>
          <a:xfrm>
            <a:off x="457200" y="5413248"/>
            <a:ext cx="420624" cy="420624"/>
          </a:xfrm>
          <a:prstGeom prst="ellipse">
            <a:avLst/>
          </a:prstGeom>
          <a:solidFill>
            <a:schemeClr val="accent1"/>
          </a:solidFill>
          <a:ln/>
        </p:spPr>
      </p:sp>
      <p:sp>
        <p:nvSpPr>
          <p:cNvPr id="22" name="Step 5 number"/>
          <p:cNvSpPr txBox="1"/>
          <p:nvPr/>
        </p:nvSpPr>
        <p:spPr>
          <a:xfrm>
            <a:off x="457200" y="541324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5</a:t>
            </a:r>
            <a:endParaRPr lang="en-US" sz="1400" dirty="0"/>
          </a:p>
        </p:txBody>
      </p:sp>
      <p:sp>
        <p:nvSpPr>
          <p:cNvPr id="23" name="Step 5 title"/>
          <p:cNvSpPr txBox="1"/>
          <p:nvPr/>
        </p:nvSpPr>
        <p:spPr>
          <a:xfrm>
            <a:off x="1051560" y="5394960"/>
            <a:ext cx="6172200" cy="274320"/>
          </a:xfrm>
          <a:prstGeom prst="rect">
            <a:avLst/>
          </a:prstGeom>
          <a:noFill/>
          <a:ln/>
        </p:spPr>
        <p:txBody>
          <a:bodyPr wrap="square" lIns="0" tIns="0" rIns="0" bIns="0" rtlCol="0" anchor="ctr"/>
          <a:lstStyle/>
          <a:p>
            <a:pPr indent="0" marL="0">
              <a:buNone/>
            </a:pPr>
            <a:r>
              <a:rPr lang="en-US" sz="1400" b="1" dirty="0">
                <a:solidFill>
                  <a:schemeClr val="accent1"/>
                </a:solidFill>
                <a:latin typeface="+mj-lt" pitchFamily="34" charset="0"/>
                <a:ea typeface="+mj-lt" pitchFamily="34" charset="-122"/>
                <a:cs typeface="+mj-lt" pitchFamily="34" charset="-120"/>
              </a:rPr>
              <a:t>Check, save, upload</a:t>
            </a:r>
            <a:endParaRPr lang="en-US" sz="1400" dirty="0"/>
          </a:p>
        </p:txBody>
      </p:sp>
      <p:sp>
        <p:nvSpPr>
          <p:cNvPr id="24" name="Step 5 text"/>
          <p:cNvSpPr txBox="1"/>
          <p:nvPr/>
        </p:nvSpPr>
        <p:spPr>
          <a:xfrm>
            <a:off x="1051560" y="5678424"/>
            <a:ext cx="6172200" cy="457200"/>
          </a:xfrm>
          <a:prstGeom prst="rect">
            <a:avLst/>
          </a:prstGeom>
          <a:noFill/>
          <a:ln/>
        </p:spPr>
        <p:txBody>
          <a:bodyPr wrap="square" lIns="0" tIns="0" rIns="0" bIns="0" rtlCol="0" anchor="t"/>
          <a:lstStyle/>
          <a:p>
            <a:pPr indent="0" marL="0">
              <a:buNone/>
            </a:pPr>
            <a:r>
              <a:rPr lang="en-US" sz="1250" dirty="0">
                <a:solidFill>
                  <a:schemeClr val="tx1"/>
                </a:solidFill>
              </a:rPr>
              <a:t>Title, annual impact, total impact, start year, capex, opex and owner match the tracker form. Delete this slide, save the PowerPoint file and attach it to your submission.</a:t>
            </a:r>
            <a:endParaRPr lang="en-US" sz="1250" dirty="0"/>
          </a:p>
        </p:txBody>
      </p:sp>
      <p:sp>
        <p:nvSpPr>
          <p:cNvPr id="25" name="Checks card"/>
          <p:cNvSpPr/>
          <p:nvPr/>
        </p:nvSpPr>
        <p:spPr>
          <a:xfrm>
            <a:off x="7635240" y="2194560"/>
            <a:ext cx="4096512" cy="3931920"/>
          </a:xfrm>
          <a:prstGeom prst="rect">
            <a:avLst/>
          </a:prstGeom>
          <a:solidFill>
            <a:schemeClr val="bg1"/>
          </a:solidFill>
          <a:ln w="9525">
            <a:solidFill>
              <a:srgbClr val="DDDBD3"/>
            </a:solidFill>
            <a:prstDash val="solid"/>
          </a:ln>
        </p:spPr>
      </p:sp>
      <p:sp>
        <p:nvSpPr>
          <p:cNvPr id="26" name="Checks eyebrow"/>
          <p:cNvSpPr txBox="1"/>
          <p:nvPr/>
        </p:nvSpPr>
        <p:spPr>
          <a:xfrm>
            <a:off x="7863840" y="2331720"/>
            <a:ext cx="36576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WHAT THE COMMITTEE CHECKS</a:t>
            </a:r>
            <a:endParaRPr lang="en-US" sz="1100" dirty="0"/>
          </a:p>
        </p:txBody>
      </p:sp>
      <p:sp>
        <p:nvSpPr>
          <p:cNvPr id="27" name="Checks list"/>
          <p:cNvSpPr txBox="1"/>
          <p:nvPr/>
        </p:nvSpPr>
        <p:spPr>
          <a:xfrm>
            <a:off x="7863840" y="2697480"/>
            <a:ext cx="3657600" cy="251460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chemeClr val="tx1"/>
                </a:solidFill>
              </a:rPr>
              <a:t>One set of numbers: the tracker form and this deck match to the digit.</a:t>
            </a:r>
            <a:endParaRPr lang="en-US" sz="1250" dirty="0"/>
          </a:p>
          <a:p>
            <a:pPr marL="177800" indent="-177800">
              <a:spcAft>
                <a:spcPts val="700"/>
              </a:spcAft>
              <a:buSzPct val="100000"/>
              <a:buChar char="•"/>
            </a:pPr>
            <a:r>
              <a:rPr lang="en-US" sz="1250" dirty="0">
                <a:solidFill>
                  <a:schemeClr val="tx1"/>
                </a:solidFill>
              </a:rPr>
              <a:t>Withdrawal avoided in m³ a year, at the site's meters. Water in a loop is counted once.</a:t>
            </a:r>
            <a:endParaRPr lang="en-US" sz="1250" dirty="0"/>
          </a:p>
          <a:p>
            <a:pPr marL="177800" indent="-177800">
              <a:spcAft>
                <a:spcPts val="700"/>
              </a:spcAft>
              <a:buSzPct val="100000"/>
              <a:buChar char="•"/>
            </a:pPr>
            <a:r>
              <a:rPr lang="en-US" sz="1250" dirty="0">
                <a:solidFill>
                  <a:schemeClr val="tx1"/>
                </a:solidFill>
              </a:rPr>
              <a:t>Both targets: absolute withdrawal (−10 %) and intensity per tonne of output (−20 %).</a:t>
            </a:r>
            <a:endParaRPr lang="en-US" sz="1250" dirty="0"/>
          </a:p>
          <a:p>
            <a:pPr marL="177800" indent="-177800">
              <a:spcAft>
                <a:spcPts val="700"/>
              </a:spcAft>
              <a:buSzPct val="100000"/>
              <a:buChar char="•"/>
            </a:pPr>
            <a:r>
              <a:rPr lang="en-US" sz="1250" dirty="0">
                <a:solidFill>
                  <a:schemeClr val="tx1"/>
                </a:solidFill>
              </a:rPr>
              <a:t>Annual impact is the full run rate. It counts from the start year, with no ramp-up.</a:t>
            </a:r>
            <a:endParaRPr lang="en-US" sz="1250" dirty="0"/>
          </a:p>
          <a:p>
            <a:pPr marL="177800" indent="-177800">
              <a:spcAft>
                <a:spcPts val="700"/>
              </a:spcAft>
              <a:buSzPct val="100000"/>
              <a:buChar char="•"/>
            </a:pPr>
            <a:r>
              <a:rPr lang="en-US" sz="1250" dirty="0">
                <a:solidFill>
                  <a:schemeClr val="tx1"/>
                </a:solidFill>
              </a:rPr>
              <a:t>Every estimate is labelled "estimate" and has a source.</a:t>
            </a:r>
            <a:endParaRPr lang="en-US" sz="1250" dirty="0"/>
          </a:p>
        </p:txBody>
      </p:sp>
      <p:sp>
        <p:nvSpPr>
          <p:cNvPr id="28" name="Checks divider"/>
          <p:cNvSpPr/>
          <p:nvPr/>
        </p:nvSpPr>
        <p:spPr>
          <a:xfrm>
            <a:off x="7863840" y="5193792"/>
            <a:ext cx="3657600" cy="0"/>
          </a:xfrm>
          <a:prstGeom prst="line">
            <a:avLst/>
          </a:prstGeom>
          <a:noFill/>
          <a:ln w="9525">
            <a:solidFill>
              <a:srgbClr val="DDDBD3"/>
            </a:solidFill>
            <a:prstDash val="solid"/>
          </a:ln>
        </p:spPr>
      </p:sp>
      <p:sp>
        <p:nvSpPr>
          <p:cNvPr id="29" name="File eyebrow"/>
          <p:cNvSpPr txBox="1"/>
          <p:nvPr/>
        </p:nvSpPr>
        <p:spPr>
          <a:xfrm>
            <a:off x="7863840" y="5266944"/>
            <a:ext cx="36576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THE FILE YOU UPLOAD</a:t>
            </a:r>
            <a:endParaRPr lang="en-US" sz="1100" dirty="0"/>
          </a:p>
        </p:txBody>
      </p:sp>
      <p:sp>
        <p:nvSpPr>
          <p:cNvPr id="30" name="File text"/>
          <p:cNvSpPr txBox="1"/>
          <p:nvPr/>
        </p:nvSpPr>
        <p:spPr>
          <a:xfrm>
            <a:off x="7863840" y="5559552"/>
            <a:ext cx="3657600" cy="457200"/>
          </a:xfrm>
          <a:prstGeom prst="rect">
            <a:avLst/>
          </a:prstGeom>
          <a:noFill/>
          <a:ln/>
        </p:spPr>
        <p:txBody>
          <a:bodyPr wrap="square" lIns="0" tIns="0" rIns="0" bIns="0" rtlCol="0" anchor="t"/>
          <a:lstStyle/>
          <a:p>
            <a:pPr indent="0" marL="0">
              <a:spcAft>
                <a:spcPts val="100"/>
              </a:spcAft>
              <a:buNone/>
            </a:pPr>
            <a:r>
              <a:rPr lang="en-US" sz="1250" dirty="0">
                <a:solidFill>
                  <a:schemeClr val="tx1"/>
                </a:solidFill>
              </a:rPr>
              <a:t>PowerPoint file (.pptx), named</a:t>
            </a:r>
            <a:endParaRPr lang="en-US" sz="1250" dirty="0"/>
          </a:p>
          <a:p>
            <a:pPr indent="0" marL="0">
              <a:spcAft>
                <a:spcPts val="100"/>
              </a:spcAft>
              <a:buNone/>
            </a:pPr>
            <a:r>
              <a:rPr lang="en-US" sz="1250" dirty="0">
                <a:solidFill>
                  <a:schemeClr val="tx1"/>
                </a:solidFill>
              </a:rPr>
              <a:t>[site code]_[short title]_v[version].pptx</a:t>
            </a:r>
            <a:endParaRPr lang="en-US" sz="1250" dirty="0"/>
          </a:p>
        </p:txBody>
      </p:sp>
      <p:sp>
        <p:nvSpPr>
          <p:cNvPr id="25" name="Slide Number Placeholder 0"/>
          <p:cNvSpPr>
            <a:spLocks noGrp="1"/>
          </p:cNvSpPr>
          <p:nvPr>
            <p:ph type="sldNum" sz="quarter" idx="4294967295"/>
          </p:nvPr>
        </p:nvSpPr>
        <p:spPr>
          <a:xfrm>
            <a:off x="11402568" y="6400800"/>
            <a:ext cx="329184"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4" type="body" hasCustomPrompt="1"/>
          </p:nvPr>
        </p:nvSpPr>
        <p:spPr>
          <a:xfrm>
            <a:off x="457200" y="941832"/>
            <a:ext cx="1124712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DECISION SUMMARY</a:t>
            </a:r>
            <a:endParaRPr lang="en-US" sz="1100" dirty="0"/>
          </a:p>
        </p:txBody>
      </p:sp>
      <p:sp>
        <p:nvSpPr>
          <p:cNvPr id="3" name="Text 3"/>
          <p:cNvSpPr/>
          <p:nvPr>
            <p:ph idx="105" type="title" hasCustomPrompt="1"/>
          </p:nvPr>
        </p:nvSpPr>
        <p:spPr>
          <a:xfrm>
            <a:off x="457200" y="1188720"/>
            <a:ext cx="11274552" cy="640080"/>
          </a:xfrm>
          <a:prstGeom prst="rect">
            <a:avLst/>
          </a:prstGeom>
          <a:noFill/>
          <a:ln/>
        </p:spPr>
        <p:txBody>
          <a:bodyPr wrap="square" lIns="0" tIns="0" rIns="0" bIns="0" rtlCol="0" anchor="ctr"/>
          <a:lstStyle/>
          <a:p>
            <a:pPr algn="l" indent="0" marL="0">
              <a:buNone/>
            </a:pPr>
            <a:r>
              <a:rPr lang="en-US" sz="2800" b="1" dirty="0">
                <a:solidFill>
                  <a:schemeClr val="accent1"/>
                </a:solidFill>
              </a:rPr>
              <a:t>[The decision you ask for, in one line]</a:t>
            </a:r>
            <a:endParaRPr lang="en-US" sz="2800" dirty="0"/>
          </a:p>
        </p:txBody>
      </p:sp>
      <p:sp>
        <p:nvSpPr>
          <p:cNvPr id="5" name="Tile 1"/>
          <p:cNvSpPr/>
          <p:nvPr/>
        </p:nvSpPr>
        <p:spPr>
          <a:xfrm>
            <a:off x="457200" y="2194560"/>
            <a:ext cx="2697480" cy="1920240"/>
          </a:xfrm>
          <a:prstGeom prst="rect">
            <a:avLst/>
          </a:prstGeom>
          <a:solidFill>
            <a:schemeClr val="bg1"/>
          </a:solidFill>
          <a:ln w="9525">
            <a:solidFill>
              <a:srgbClr val="DDDBD3"/>
            </a:solidFill>
            <a:prstDash val="solid"/>
          </a:ln>
        </p:spPr>
      </p:sp>
      <p:sp>
        <p:nvSpPr>
          <p:cNvPr id="6" name="Tile 1 bar"/>
          <p:cNvSpPr/>
          <p:nvPr/>
        </p:nvSpPr>
        <p:spPr>
          <a:xfrm>
            <a:off x="457200" y="2194560"/>
            <a:ext cx="2697480" cy="73152"/>
          </a:xfrm>
          <a:prstGeom prst="rect">
            <a:avLst/>
          </a:prstGeom>
          <a:solidFill>
            <a:schemeClr val="accent1"/>
          </a:solidFill>
          <a:ln/>
        </p:spPr>
      </p:sp>
      <p:sp>
        <p:nvSpPr>
          <p:cNvPr id="7" name="Tile 1 label"/>
          <p:cNvSpPr txBox="1"/>
          <p:nvPr/>
        </p:nvSpPr>
        <p:spPr>
          <a:xfrm>
            <a:off x="640080" y="2377440"/>
            <a:ext cx="2377440" cy="274320"/>
          </a:xfrm>
          <a:prstGeom prst="rect">
            <a:avLst/>
          </a:prstGeom>
          <a:noFill/>
          <a:ln/>
        </p:spPr>
        <p:txBody>
          <a:bodyPr wrap="square" lIns="0" tIns="0" rIns="0" bIns="0" rtlCol="0" anchor="ctr"/>
          <a:lstStyle/>
          <a:p>
            <a:pPr indent="0" marL="0">
              <a:buNone/>
            </a:pPr>
            <a:r>
              <a:rPr lang="en-US" sz="1100" b="1" spc="100" kern="0" dirty="0">
                <a:solidFill>
                  <a:srgbClr val="6B6B6B"/>
                </a:solidFill>
              </a:rPr>
              <a:t>ANNUAL IMPACT</a:t>
            </a:r>
            <a:endParaRPr lang="en-US" sz="1100" dirty="0"/>
          </a:p>
        </p:txBody>
      </p:sp>
      <p:sp>
        <p:nvSpPr>
          <p:cNvPr id="8" name="Tile 1 value"/>
          <p:cNvSpPr txBox="1"/>
          <p:nvPr/>
        </p:nvSpPr>
        <p:spPr>
          <a:xfrm>
            <a:off x="640080" y="2697480"/>
            <a:ext cx="2377440" cy="73152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[00,000] m³</a:t>
            </a:r>
            <a:endParaRPr lang="en-US" sz="2800" dirty="0"/>
          </a:p>
        </p:txBody>
      </p:sp>
      <p:sp>
        <p:nvSpPr>
          <p:cNvPr id="9" name="Tile 1 note"/>
          <p:cNvSpPr txBox="1"/>
          <p:nvPr/>
        </p:nvSpPr>
        <p:spPr>
          <a:xfrm>
            <a:off x="640080" y="3456432"/>
            <a:ext cx="2377440" cy="502920"/>
          </a:xfrm>
          <a:prstGeom prst="rect">
            <a:avLst/>
          </a:prstGeom>
          <a:noFill/>
          <a:ln/>
        </p:spPr>
        <p:txBody>
          <a:bodyPr wrap="square" lIns="0" tIns="0" rIns="0" bIns="0" rtlCol="0" anchor="t"/>
          <a:lstStyle/>
          <a:p>
            <a:pPr indent="0" marL="0">
              <a:buNone/>
            </a:pPr>
            <a:r>
              <a:rPr lang="en-US" sz="1200" dirty="0">
                <a:solidFill>
                  <a:schemeClr val="tx1"/>
                </a:solidFill>
              </a:rPr>
              <a:t>withdrawal avoided per year, from [start year]</a:t>
            </a:r>
            <a:endParaRPr lang="en-US" sz="1200" dirty="0"/>
          </a:p>
        </p:txBody>
      </p:sp>
      <p:sp>
        <p:nvSpPr>
          <p:cNvPr id="10" name="Tile 2"/>
          <p:cNvSpPr/>
          <p:nvPr/>
        </p:nvSpPr>
        <p:spPr>
          <a:xfrm>
            <a:off x="3337560" y="2194560"/>
            <a:ext cx="2697480" cy="1920240"/>
          </a:xfrm>
          <a:prstGeom prst="rect">
            <a:avLst/>
          </a:prstGeom>
          <a:solidFill>
            <a:schemeClr val="bg1"/>
          </a:solidFill>
          <a:ln w="9525">
            <a:solidFill>
              <a:srgbClr val="DDDBD3"/>
            </a:solidFill>
            <a:prstDash val="solid"/>
          </a:ln>
        </p:spPr>
      </p:sp>
      <p:sp>
        <p:nvSpPr>
          <p:cNvPr id="11" name="Tile 2 bar"/>
          <p:cNvSpPr/>
          <p:nvPr/>
        </p:nvSpPr>
        <p:spPr>
          <a:xfrm>
            <a:off x="3337560" y="2194560"/>
            <a:ext cx="2697480" cy="73152"/>
          </a:xfrm>
          <a:prstGeom prst="rect">
            <a:avLst/>
          </a:prstGeom>
          <a:solidFill>
            <a:schemeClr val="accent1"/>
          </a:solidFill>
          <a:ln/>
        </p:spPr>
      </p:sp>
      <p:sp>
        <p:nvSpPr>
          <p:cNvPr id="12" name="Tile 2 label"/>
          <p:cNvSpPr txBox="1"/>
          <p:nvPr/>
        </p:nvSpPr>
        <p:spPr>
          <a:xfrm>
            <a:off x="3520440" y="2377440"/>
            <a:ext cx="2377440" cy="274320"/>
          </a:xfrm>
          <a:prstGeom prst="rect">
            <a:avLst/>
          </a:prstGeom>
          <a:noFill/>
          <a:ln/>
        </p:spPr>
        <p:txBody>
          <a:bodyPr wrap="square" lIns="0" tIns="0" rIns="0" bIns="0" rtlCol="0" anchor="ctr"/>
          <a:lstStyle/>
          <a:p>
            <a:pPr indent="0" marL="0">
              <a:buNone/>
            </a:pPr>
            <a:r>
              <a:rPr lang="en-US" sz="1100" b="1" spc="100" kern="0" dirty="0">
                <a:solidFill>
                  <a:srgbClr val="6B6B6B"/>
                </a:solidFill>
              </a:rPr>
              <a:t>SHARE OF SITE TARGET</a:t>
            </a:r>
            <a:endParaRPr lang="en-US" sz="1100" dirty="0"/>
          </a:p>
        </p:txBody>
      </p:sp>
      <p:sp>
        <p:nvSpPr>
          <p:cNvPr id="13" name="Tile 2 value"/>
          <p:cNvSpPr txBox="1"/>
          <p:nvPr/>
        </p:nvSpPr>
        <p:spPr>
          <a:xfrm>
            <a:off x="3520440" y="2697480"/>
            <a:ext cx="2377440" cy="73152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[00] %</a:t>
            </a:r>
            <a:endParaRPr lang="en-US" sz="2800" dirty="0"/>
          </a:p>
        </p:txBody>
      </p:sp>
      <p:sp>
        <p:nvSpPr>
          <p:cNvPr id="14" name="Tile 2 note"/>
          <p:cNvSpPr txBox="1"/>
          <p:nvPr/>
        </p:nvSpPr>
        <p:spPr>
          <a:xfrm>
            <a:off x="3520440" y="3456432"/>
            <a:ext cx="2377440" cy="502920"/>
          </a:xfrm>
          <a:prstGeom prst="rect">
            <a:avLst/>
          </a:prstGeom>
          <a:noFill/>
          <a:ln/>
        </p:spPr>
        <p:txBody>
          <a:bodyPr wrap="square" lIns="0" tIns="0" rIns="0" bIns="0" rtlCol="0" anchor="t"/>
          <a:lstStyle/>
          <a:p>
            <a:pPr indent="0" marL="0">
              <a:buNone/>
            </a:pPr>
            <a:r>
              <a:rPr lang="en-US" sz="1200" dirty="0">
                <a:solidFill>
                  <a:schemeClr val="tx1"/>
                </a:solidFill>
              </a:rPr>
              <a:t>of the m³ the site must save by 2030</a:t>
            </a:r>
            <a:endParaRPr lang="en-US" sz="1200" dirty="0"/>
          </a:p>
        </p:txBody>
      </p:sp>
      <p:sp>
        <p:nvSpPr>
          <p:cNvPr id="15" name="Tile 3"/>
          <p:cNvSpPr/>
          <p:nvPr/>
        </p:nvSpPr>
        <p:spPr>
          <a:xfrm>
            <a:off x="6217920" y="2194560"/>
            <a:ext cx="2697480" cy="1920240"/>
          </a:xfrm>
          <a:prstGeom prst="rect">
            <a:avLst/>
          </a:prstGeom>
          <a:solidFill>
            <a:schemeClr val="bg1"/>
          </a:solidFill>
          <a:ln w="9525">
            <a:solidFill>
              <a:srgbClr val="DDDBD3"/>
            </a:solidFill>
            <a:prstDash val="solid"/>
          </a:ln>
        </p:spPr>
      </p:sp>
      <p:sp>
        <p:nvSpPr>
          <p:cNvPr id="16" name="Tile 3 bar"/>
          <p:cNvSpPr/>
          <p:nvPr/>
        </p:nvSpPr>
        <p:spPr>
          <a:xfrm>
            <a:off x="6217920" y="2194560"/>
            <a:ext cx="2697480" cy="73152"/>
          </a:xfrm>
          <a:prstGeom prst="rect">
            <a:avLst/>
          </a:prstGeom>
          <a:solidFill>
            <a:schemeClr val="accent1"/>
          </a:solidFill>
          <a:ln/>
        </p:spPr>
      </p:sp>
      <p:sp>
        <p:nvSpPr>
          <p:cNvPr id="17" name="Tile 3 label"/>
          <p:cNvSpPr txBox="1"/>
          <p:nvPr/>
        </p:nvSpPr>
        <p:spPr>
          <a:xfrm>
            <a:off x="6400800" y="2377440"/>
            <a:ext cx="2377440" cy="274320"/>
          </a:xfrm>
          <a:prstGeom prst="rect">
            <a:avLst/>
          </a:prstGeom>
          <a:noFill/>
          <a:ln/>
        </p:spPr>
        <p:txBody>
          <a:bodyPr wrap="square" lIns="0" tIns="0" rIns="0" bIns="0" rtlCol="0" anchor="ctr"/>
          <a:lstStyle/>
          <a:p>
            <a:pPr indent="0" marL="0">
              <a:buNone/>
            </a:pPr>
            <a:r>
              <a:rPr lang="en-US" sz="1100" b="1" spc="100" kern="0" dirty="0">
                <a:solidFill>
                  <a:srgbClr val="6B6B6B"/>
                </a:solidFill>
              </a:rPr>
              <a:t>CAPEX</a:t>
            </a:r>
            <a:endParaRPr lang="en-US" sz="1100" dirty="0"/>
          </a:p>
        </p:txBody>
      </p:sp>
      <p:sp>
        <p:nvSpPr>
          <p:cNvPr id="18" name="Tile 3 value"/>
          <p:cNvSpPr txBox="1"/>
          <p:nvPr/>
        </p:nvSpPr>
        <p:spPr>
          <a:xfrm>
            <a:off x="6400800" y="2697480"/>
            <a:ext cx="2377440" cy="73152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 [0.00] m</a:t>
            </a:r>
            <a:endParaRPr lang="en-US" sz="2800" dirty="0"/>
          </a:p>
        </p:txBody>
      </p:sp>
      <p:sp>
        <p:nvSpPr>
          <p:cNvPr id="19" name="Tile 3 note"/>
          <p:cNvSpPr txBox="1"/>
          <p:nvPr/>
        </p:nvSpPr>
        <p:spPr>
          <a:xfrm>
            <a:off x="6400800" y="3456432"/>
            <a:ext cx="2377440" cy="502920"/>
          </a:xfrm>
          <a:prstGeom prst="rect">
            <a:avLst/>
          </a:prstGeom>
          <a:noFill/>
          <a:ln/>
        </p:spPr>
        <p:txBody>
          <a:bodyPr wrap="square" lIns="0" tIns="0" rIns="0" bIns="0" rtlCol="0" anchor="t"/>
          <a:lstStyle/>
          <a:p>
            <a:pPr indent="0" marL="0">
              <a:buNone/>
            </a:pPr>
            <a:r>
              <a:rPr lang="en-US" sz="1200" dirty="0">
                <a:solidFill>
                  <a:schemeClr val="tx1"/>
                </a:solidFill>
              </a:rPr>
              <a:t>Opex change: € [−000,000] per year</a:t>
            </a:r>
            <a:endParaRPr lang="en-US" sz="1200" dirty="0"/>
          </a:p>
        </p:txBody>
      </p:sp>
      <p:sp>
        <p:nvSpPr>
          <p:cNvPr id="20" name="Tile 4"/>
          <p:cNvSpPr/>
          <p:nvPr/>
        </p:nvSpPr>
        <p:spPr>
          <a:xfrm>
            <a:off x="9098280" y="2194560"/>
            <a:ext cx="2697480" cy="1920240"/>
          </a:xfrm>
          <a:prstGeom prst="rect">
            <a:avLst/>
          </a:prstGeom>
          <a:solidFill>
            <a:schemeClr val="bg1"/>
          </a:solidFill>
          <a:ln w="9525">
            <a:solidFill>
              <a:srgbClr val="DDDBD3"/>
            </a:solidFill>
            <a:prstDash val="solid"/>
          </a:ln>
        </p:spPr>
      </p:sp>
      <p:sp>
        <p:nvSpPr>
          <p:cNvPr id="21" name="Tile 4 bar"/>
          <p:cNvSpPr/>
          <p:nvPr/>
        </p:nvSpPr>
        <p:spPr>
          <a:xfrm>
            <a:off x="9098280" y="2194560"/>
            <a:ext cx="2697480" cy="73152"/>
          </a:xfrm>
          <a:prstGeom prst="rect">
            <a:avLst/>
          </a:prstGeom>
          <a:solidFill>
            <a:schemeClr val="accent1"/>
          </a:solidFill>
          <a:ln/>
        </p:spPr>
      </p:sp>
      <p:sp>
        <p:nvSpPr>
          <p:cNvPr id="22" name="Tile 4 label"/>
          <p:cNvSpPr txBox="1"/>
          <p:nvPr/>
        </p:nvSpPr>
        <p:spPr>
          <a:xfrm>
            <a:off x="9281160" y="2377440"/>
            <a:ext cx="2377440" cy="274320"/>
          </a:xfrm>
          <a:prstGeom prst="rect">
            <a:avLst/>
          </a:prstGeom>
          <a:noFill/>
          <a:ln/>
        </p:spPr>
        <p:txBody>
          <a:bodyPr wrap="square" lIns="0" tIns="0" rIns="0" bIns="0" rtlCol="0" anchor="ctr"/>
          <a:lstStyle/>
          <a:p>
            <a:pPr indent="0" marL="0">
              <a:buNone/>
            </a:pPr>
            <a:r>
              <a:rPr lang="en-US" sz="1100" b="1" spc="100" kern="0" dirty="0">
                <a:solidFill>
                  <a:srgbClr val="6B6B6B"/>
                </a:solidFill>
              </a:rPr>
              <a:t>PAYBACK</a:t>
            </a:r>
            <a:endParaRPr lang="en-US" sz="1100" dirty="0"/>
          </a:p>
        </p:txBody>
      </p:sp>
      <p:sp>
        <p:nvSpPr>
          <p:cNvPr id="23" name="Tile 4 value"/>
          <p:cNvSpPr txBox="1"/>
          <p:nvPr/>
        </p:nvSpPr>
        <p:spPr>
          <a:xfrm>
            <a:off x="9281160" y="2697480"/>
            <a:ext cx="2377440" cy="73152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[0.0] years</a:t>
            </a:r>
            <a:endParaRPr lang="en-US" sz="2800" dirty="0"/>
          </a:p>
        </p:txBody>
      </p:sp>
      <p:sp>
        <p:nvSpPr>
          <p:cNvPr id="24" name="Tile 4 note"/>
          <p:cNvSpPr txBox="1"/>
          <p:nvPr/>
        </p:nvSpPr>
        <p:spPr>
          <a:xfrm>
            <a:off x="9281160" y="3456432"/>
            <a:ext cx="2377440" cy="502920"/>
          </a:xfrm>
          <a:prstGeom prst="rect">
            <a:avLst/>
          </a:prstGeom>
          <a:noFill/>
          <a:ln/>
        </p:spPr>
        <p:txBody>
          <a:bodyPr wrap="square" lIns="0" tIns="0" rIns="0" bIns="0" rtlCol="0" anchor="t"/>
          <a:lstStyle/>
          <a:p>
            <a:pPr indent="0" marL="0">
              <a:buNone/>
            </a:pPr>
            <a:r>
              <a:rPr lang="en-US" sz="1200" dirty="0">
                <a:solidFill>
                  <a:schemeClr val="tx1"/>
                </a:solidFill>
              </a:rPr>
              <a:t>Simple payback, after funding</a:t>
            </a:r>
            <a:endParaRPr lang="en-US" sz="1200" dirty="0"/>
          </a:p>
        </p:txBody>
      </p:sp>
      <p:sp>
        <p:nvSpPr>
          <p:cNvPr id="25" name="Project card"/>
          <p:cNvSpPr/>
          <p:nvPr/>
        </p:nvSpPr>
        <p:spPr>
          <a:xfrm>
            <a:off x="457200" y="4389120"/>
            <a:ext cx="7223760" cy="1737360"/>
          </a:xfrm>
          <a:prstGeom prst="rect">
            <a:avLst/>
          </a:prstGeom>
          <a:solidFill>
            <a:schemeClr val="bg1"/>
          </a:solidFill>
          <a:ln w="9525">
            <a:solidFill>
              <a:srgbClr val="DDDBD3"/>
            </a:solidFill>
            <a:prstDash val="solid"/>
          </a:ln>
        </p:spPr>
      </p:sp>
      <p:sp>
        <p:nvSpPr>
          <p:cNvPr id="26" name="Project eyebrow"/>
          <p:cNvSpPr txBox="1"/>
          <p:nvPr/>
        </p:nvSpPr>
        <p:spPr>
          <a:xfrm>
            <a:off x="640080" y="4498848"/>
            <a:ext cx="68580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THE PROJECT IN THREE LINES</a:t>
            </a:r>
            <a:endParaRPr lang="en-US" sz="1100" dirty="0"/>
          </a:p>
        </p:txBody>
      </p:sp>
      <p:sp>
        <p:nvSpPr>
          <p:cNvPr id="27" name="Project lines"/>
          <p:cNvSpPr txBox="1"/>
          <p:nvPr/>
        </p:nvSpPr>
        <p:spPr>
          <a:xfrm>
            <a:off x="640080" y="4846320"/>
            <a:ext cx="6858000" cy="1188720"/>
          </a:xfrm>
          <a:prstGeom prst="rect">
            <a:avLst/>
          </a:prstGeom>
          <a:noFill/>
          <a:ln/>
        </p:spPr>
        <p:txBody>
          <a:bodyPr wrap="square" lIns="0" tIns="0" rIns="0" bIns="0" rtlCol="0" anchor="t"/>
          <a:lstStyle/>
          <a:p>
            <a:pPr indent="0" marL="0">
              <a:spcAft>
                <a:spcPts val="700"/>
              </a:spcAft>
              <a:buNone/>
            </a:pPr>
            <a:r>
              <a:rPr lang="en-US" sz="1300" b="1" dirty="0">
                <a:solidFill>
                  <a:schemeClr val="tx1"/>
                </a:solidFill>
              </a:rPr>
              <a:t>What we do: </a:t>
            </a:r>
            <a:pPr indent="0" marL="0">
              <a:spcAft>
                <a:spcPts val="700"/>
              </a:spcAft>
              <a:buNone/>
            </a:pPr>
            <a:r>
              <a:rPr lang="en-US" sz="1300" dirty="0">
                <a:solidFill>
                  <a:schemeClr val="tx1"/>
                </a:solidFill>
              </a:rPr>
              <a:t>[one sentence]</a:t>
            </a:r>
            <a:endParaRPr lang="en-US" sz="1300" dirty="0"/>
          </a:p>
          <a:p>
            <a:pPr indent="0" marL="0">
              <a:spcAft>
                <a:spcPts val="700"/>
              </a:spcAft>
              <a:buNone/>
            </a:pPr>
            <a:r>
              <a:rPr lang="en-US" sz="1300" b="1" dirty="0">
                <a:solidFill>
                  <a:schemeClr val="tx1"/>
                </a:solidFill>
              </a:rPr>
              <a:t>Why now: </a:t>
            </a:r>
            <a:pPr indent="0" marL="0">
              <a:spcAft>
                <a:spcPts val="700"/>
              </a:spcAft>
              <a:buNone/>
            </a:pPr>
            <a:r>
              <a:rPr lang="en-US" sz="1300" dirty="0">
                <a:solidFill>
                  <a:schemeClr val="tx1"/>
                </a:solidFill>
              </a:rPr>
              <a:t>[the trigger: end of life, gap to the target, funding window]</a:t>
            </a:r>
            <a:endParaRPr lang="en-US" sz="1300" dirty="0"/>
          </a:p>
          <a:p>
            <a:pPr indent="0" marL="0">
              <a:spcAft>
                <a:spcPts val="700"/>
              </a:spcAft>
              <a:buNone/>
            </a:pPr>
            <a:r>
              <a:rPr lang="en-US" sz="1300" b="1" dirty="0">
                <a:solidFill>
                  <a:schemeClr val="tx1"/>
                </a:solidFill>
              </a:rPr>
              <a:t>If we do nothing: </a:t>
            </a:r>
            <a:pPr indent="0" marL="0">
              <a:spcAft>
                <a:spcPts val="700"/>
              </a:spcAft>
              <a:buNone/>
            </a:pPr>
            <a:r>
              <a:rPr lang="en-US" sz="1300" dirty="0">
                <a:solidFill>
                  <a:schemeClr val="tx1"/>
                </a:solidFill>
              </a:rPr>
              <a:t>[what stays as it is, and what that costs]</a:t>
            </a:r>
            <a:endParaRPr lang="en-US" sz="1300" dirty="0"/>
          </a:p>
        </p:txBody>
      </p:sp>
      <p:sp>
        <p:nvSpPr>
          <p:cNvPr id="28" name="Resubmission card"/>
          <p:cNvSpPr/>
          <p:nvPr/>
        </p:nvSpPr>
        <p:spPr>
          <a:xfrm>
            <a:off x="7863840" y="4389120"/>
            <a:ext cx="3867912" cy="1737360"/>
          </a:xfrm>
          <a:prstGeom prst="rect">
            <a:avLst/>
          </a:prstGeom>
          <a:solidFill>
            <a:schemeClr val="bg1"/>
          </a:solidFill>
          <a:ln w="9525">
            <a:solidFill>
              <a:srgbClr val="DDDBD3"/>
            </a:solidFill>
            <a:prstDash val="solid"/>
          </a:ln>
        </p:spPr>
      </p:sp>
      <p:sp>
        <p:nvSpPr>
          <p:cNvPr id="29" name="Resubmission eyebrow"/>
          <p:cNvSpPr txBox="1"/>
          <p:nvPr/>
        </p:nvSpPr>
        <p:spPr>
          <a:xfrm>
            <a:off x="8046720" y="4498848"/>
            <a:ext cx="347472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RESUBMISSION ONLY</a:t>
            </a:r>
            <a:endParaRPr lang="en-US" sz="1100" dirty="0"/>
          </a:p>
        </p:txBody>
      </p:sp>
      <p:sp>
        <p:nvSpPr>
          <p:cNvPr id="30" name="Resubmission text"/>
          <p:cNvSpPr txBox="1"/>
          <p:nvPr/>
        </p:nvSpPr>
        <p:spPr>
          <a:xfrm>
            <a:off x="8046720" y="4846320"/>
            <a:ext cx="3502152" cy="1188720"/>
          </a:xfrm>
          <a:prstGeom prst="rect">
            <a:avLst/>
          </a:prstGeom>
          <a:noFill/>
          <a:ln/>
        </p:spPr>
        <p:txBody>
          <a:bodyPr wrap="square" lIns="0" tIns="0" rIns="0" bIns="0" rtlCol="0" anchor="t"/>
          <a:lstStyle/>
          <a:p>
            <a:pPr indent="0" marL="0">
              <a:spcAft>
                <a:spcPts val="600"/>
              </a:spcAft>
              <a:buNone/>
            </a:pPr>
            <a:r>
              <a:rPr lang="en-US" sz="1300" dirty="0">
                <a:solidFill>
                  <a:schemeClr val="tx1"/>
                </a:solidFill>
              </a:rPr>
              <a:t>[What changed since the declined version, and how it answers the committee's reason.]</a:t>
            </a:r>
            <a:endParaRPr lang="en-US" sz="1300" dirty="0"/>
          </a:p>
          <a:p>
            <a:pPr indent="0" marL="0">
              <a:spcAft>
                <a:spcPts val="600"/>
              </a:spcAft>
              <a:buNone/>
            </a:pPr>
            <a:r>
              <a:rPr lang="en-US" sz="1100" dirty="0">
                <a:solidFill>
                  <a:srgbClr val="6B6B6B"/>
                </a:solidFill>
              </a:rPr>
              <a:t>First submission: delete this box.</a:t>
            </a:r>
            <a:endParaRPr lang="en-US" sz="1300" dirty="0"/>
          </a:p>
        </p:txBody>
      </p:sp>
      <p:sp>
        <p:nvSpPr>
          <p:cNvPr id="25" name="Slide Number Placeholder 0"/>
          <p:cNvSpPr>
            <a:spLocks noGrp="1"/>
          </p:cNvSpPr>
          <p:nvPr>
            <p:ph type="sldNum" sz="quarter" idx="4294967295"/>
          </p:nvPr>
        </p:nvSpPr>
        <p:spPr>
          <a:xfrm>
            <a:off x="11402568" y="6400800"/>
            <a:ext cx="329184"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4" type="body" hasCustomPrompt="1"/>
          </p:nvPr>
        </p:nvSpPr>
        <p:spPr>
          <a:xfrm>
            <a:off x="457200" y="941832"/>
            <a:ext cx="1124712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BASELINE AND PROBLEM</a:t>
            </a:r>
            <a:endParaRPr lang="en-US" sz="1100" dirty="0"/>
          </a:p>
        </p:txBody>
      </p:sp>
      <p:sp>
        <p:nvSpPr>
          <p:cNvPr id="3" name="Text 3"/>
          <p:cNvSpPr/>
          <p:nvPr>
            <p:ph idx="105" type="title" hasCustomPrompt="1"/>
          </p:nvPr>
        </p:nvSpPr>
        <p:spPr>
          <a:xfrm>
            <a:off x="457200" y="1188720"/>
            <a:ext cx="11274552" cy="640080"/>
          </a:xfrm>
          <a:prstGeom prst="rect">
            <a:avLst/>
          </a:prstGeom>
          <a:noFill/>
          <a:ln/>
        </p:spPr>
        <p:txBody>
          <a:bodyPr wrap="square" lIns="0" tIns="0" rIns="0" bIns="0" rtlCol="0" anchor="ctr"/>
          <a:lstStyle/>
          <a:p>
            <a:pPr algn="l" indent="0" marL="0">
              <a:buNone/>
            </a:pPr>
            <a:r>
              <a:rPr lang="en-US" sz="2800" b="1" dirty="0">
                <a:solidFill>
                  <a:schemeClr val="accent1"/>
                </a:solidFill>
              </a:rPr>
              <a:t>Where the site stands against its target</a:t>
            </a:r>
            <a:endParaRPr lang="en-US" sz="2800" dirty="0"/>
          </a:p>
        </p:txBody>
      </p:sp>
      <p:graphicFrame>
        <p:nvGraphicFramePr>
          <p:cNvPr id="5" name="Baseline table"/>
          <p:cNvGraphicFramePr>
            <a:graphicFrameLocks noGrp="1"/>
          </p:cNvGraphicFramePr>
          <p:nvPr>
            <p:extLst>
              <p:ext uri="{D42A27DB-BD31-4B8C-83A1-F6EECF244321}">
                <p14:modId xmlns:p14="http://schemas.microsoft.com/office/powerpoint/2010/main" val="1579011935"/>
              </p:ext>
            </p:extLst>
          </p:nvPr>
        </p:nvGraphicFramePr>
        <p:xfrm>
          <a:off x="457200" y="2194560"/>
          <a:ext cx="7223760" cy="914400"/>
        </p:xfrm>
        <a:graphic>
          <a:graphicData uri="http://schemas.openxmlformats.org/drawingml/2006/table">
            <a:tbl>
              <a:tblPr/>
              <a:tblGrid>
                <a:gridCol w="3840480"/>
                <a:gridCol w="1737360"/>
                <a:gridCol w="1645920"/>
              </a:tblGrid>
              <a:tr h="365760">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Figure</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r" indent="0" marL="0">
                        <a:buNone/>
                      </a:pPr>
                      <a:r>
                        <a:rPr lang="en-US" sz="1100" b="1" dirty="0">
                          <a:solidFill>
                            <a:schemeClr val="bg1"/>
                          </a:solidFill>
                          <a:latin typeface="+mj-lt" pitchFamily="34" charset="0"/>
                          <a:ea typeface="+mj-lt" pitchFamily="34" charset="-122"/>
                          <a:cs typeface="+mj-lt" pitchFamily="34" charset="-120"/>
                        </a:rPr>
                        <a:t>Value</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Where to find it</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r>
              <a:tr h="411480">
                <a:tc>
                  <a:txBody>
                    <a:bodyPr/>
                    <a:lstStyle/>
                    <a:p>
                      <a:pPr algn="l" indent="0" marL="0">
                        <a:buNone/>
                      </a:pPr>
                      <a:r>
                        <a:rPr lang="en-US" sz="1200" dirty="0">
                          <a:solidFill>
                            <a:schemeClr val="tx1"/>
                          </a:solidFill>
                        </a:rPr>
                        <a:t>Water withdrawal, FY2024 (base year)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[000,000] m³</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Reference data</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411480">
                <a:tc>
                  <a:txBody>
                    <a:bodyPr/>
                    <a:lstStyle/>
                    <a:p>
                      <a:pPr algn="l" indent="0" marL="0">
                        <a:buNone/>
                      </a:pPr>
                      <a:r>
                        <a:rPr lang="en-US" sz="1200" dirty="0">
                          <a:solidFill>
                            <a:schemeClr val="tx1"/>
                          </a:solidFill>
                        </a:rPr>
                        <a:t>Water withdrawal, latest actual FY[20__]</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[000,000] m³</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Reference data</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r h="411480">
                <a:tc>
                  <a:txBody>
                    <a:bodyPr/>
                    <a:lstStyle/>
                    <a:p>
                      <a:pPr algn="l" indent="0" marL="0">
                        <a:buNone/>
                      </a:pPr>
                      <a:r>
                        <a:rPr lang="en-US" sz="1200" dirty="0">
                          <a:solidFill>
                            <a:schemeClr val="tx1"/>
                          </a:solidFill>
                        </a:rPr>
                        <a:t>Intensity, FY2024</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 m³ per 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Reference data</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411480">
                <a:tc>
                  <a:txBody>
                    <a:bodyPr/>
                    <a:lstStyle/>
                    <a:p>
                      <a:pPr algn="l" indent="0" marL="0">
                        <a:buNone/>
                      </a:pPr>
                      <a:r>
                        <a:rPr lang="en-US" sz="1200" dirty="0">
                          <a:solidFill>
                            <a:schemeClr val="tx1"/>
                          </a:solidFill>
                        </a:rPr>
                        <a:t>Required reduction by 2030 (10 %)</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[00,000] m³</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Overview</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r h="411480">
                <a:tc>
                  <a:txBody>
                    <a:bodyPr/>
                    <a:lstStyle/>
                    <a:p>
                      <a:pPr algn="l" indent="0" marL="0">
                        <a:buNone/>
                      </a:pPr>
                      <a:r>
                        <a:rPr lang="en-US" sz="1200" dirty="0">
                          <a:solidFill>
                            <a:schemeClr val="tx1"/>
                          </a:solidFill>
                        </a:rPr>
                        <a:t>Target intensity 2030 (80 % of FY2024)</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 m³ per 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Overview</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411480">
                <a:tc>
                  <a:txBody>
                    <a:bodyPr/>
                    <a:lstStyle/>
                    <a:p>
                      <a:pPr algn="l" indent="0" marL="0">
                        <a:buNone/>
                      </a:pPr>
                      <a:r>
                        <a:rPr lang="en-US" sz="1200" dirty="0">
                          <a:solidFill>
                            <a:schemeClr val="tx1"/>
                          </a:solidFill>
                        </a:rPr>
                        <a:t>Covered by approved projects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[00,000] m³</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Overview</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r h="411480">
                <a:tc>
                  <a:txBody>
                    <a:bodyPr/>
                    <a:lstStyle/>
                    <a:p>
                      <a:pPr algn="l" indent="0" marL="0">
                        <a:buNone/>
                      </a:pPr>
                      <a:r>
                        <a:rPr lang="en-US" sz="1200" b="1" dirty="0">
                          <a:solidFill>
                            <a:schemeClr val="accent1"/>
                          </a:solidFill>
                        </a:rPr>
                        <a:t>Gap before this project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b="1" dirty="0">
                          <a:solidFill>
                            <a:schemeClr val="accent1"/>
                          </a:solidFill>
                        </a:rPr>
                        <a:t>[00,000] m³</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b="1" dirty="0">
                          <a:solidFill>
                            <a:schemeClr val="accent1"/>
                          </a:solidFill>
                        </a:rPr>
                        <a:t>Overview</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bl>
          </a:graphicData>
        </a:graphic>
      </p:graphicFrame>
      <p:sp>
        <p:nvSpPr>
          <p:cNvPr id="6" name="Baseline note"/>
          <p:cNvSpPr txBox="1"/>
          <p:nvPr/>
        </p:nvSpPr>
        <p:spPr>
          <a:xfrm>
            <a:off x="457200" y="5715000"/>
            <a:ext cx="7223760" cy="365760"/>
          </a:xfrm>
          <a:prstGeom prst="rect">
            <a:avLst/>
          </a:prstGeom>
          <a:noFill/>
          <a:ln/>
        </p:spPr>
        <p:txBody>
          <a:bodyPr wrap="square" lIns="0" tIns="0" rIns="0" bIns="0" rtlCol="0" anchor="t"/>
          <a:lstStyle/>
          <a:p>
            <a:pPr indent="0" marL="0">
              <a:buNone/>
            </a:pPr>
            <a:r>
              <a:rPr lang="en-US" sz="1000" dirty="0">
                <a:solidFill>
                  <a:srgbClr val="6B6B6B"/>
                </a:solidFill>
              </a:rPr>
              <a:t>Two targets against FY2024: withdrawal down 10 %, intensity per tonne of output down 20 %. Site 1100 reports m³ per pallet handled.</a:t>
            </a:r>
            <a:endParaRPr lang="en-US" sz="1000" dirty="0"/>
          </a:p>
        </p:txBody>
      </p:sp>
      <p:sp>
        <p:nvSpPr>
          <p:cNvPr id="7" name="Problem card"/>
          <p:cNvSpPr/>
          <p:nvPr/>
        </p:nvSpPr>
        <p:spPr>
          <a:xfrm>
            <a:off x="7863840" y="2194560"/>
            <a:ext cx="3867912" cy="3383280"/>
          </a:xfrm>
          <a:prstGeom prst="rect">
            <a:avLst/>
          </a:prstGeom>
          <a:solidFill>
            <a:schemeClr val="bg1"/>
          </a:solidFill>
          <a:ln w="9525">
            <a:solidFill>
              <a:srgbClr val="DDDBD3"/>
            </a:solidFill>
            <a:prstDash val="solid"/>
          </a:ln>
        </p:spPr>
      </p:sp>
      <p:sp>
        <p:nvSpPr>
          <p:cNvPr id="8" name="Problem eyebrow"/>
          <p:cNvSpPr txBox="1"/>
          <p:nvPr/>
        </p:nvSpPr>
        <p:spPr>
          <a:xfrm>
            <a:off x="8046720" y="2331720"/>
            <a:ext cx="3502152"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THE PROBLEM THIS PROJECT SOLVES</a:t>
            </a:r>
            <a:endParaRPr lang="en-US" sz="1100" dirty="0"/>
          </a:p>
        </p:txBody>
      </p:sp>
      <p:sp>
        <p:nvSpPr>
          <p:cNvPr id="9" name="Problem text"/>
          <p:cNvSpPr txBox="1"/>
          <p:nvPr/>
        </p:nvSpPr>
        <p:spPr>
          <a:xfrm>
            <a:off x="8046720" y="2724912"/>
            <a:ext cx="3502152" cy="2743200"/>
          </a:xfrm>
          <a:prstGeom prst="rect">
            <a:avLst/>
          </a:prstGeom>
          <a:noFill/>
          <a:ln/>
        </p:spPr>
        <p:txBody>
          <a:bodyPr wrap="square" lIns="0" tIns="0" rIns="0" bIns="0" rtlCol="0" anchor="t"/>
          <a:lstStyle/>
          <a:p>
            <a:pPr indent="0" marL="0">
              <a:spcAft>
                <a:spcPts val="1000"/>
              </a:spcAft>
              <a:buNone/>
            </a:pPr>
            <a:r>
              <a:rPr lang="en-US" sz="1300" dirty="0">
                <a:solidFill>
                  <a:schemeClr val="tx1"/>
                </a:solidFill>
              </a:rPr>
              <a:t>[Which process or use, and its share of the site's withdrawal: 00 %]</a:t>
            </a:r>
            <a:endParaRPr lang="en-US" sz="1300" dirty="0"/>
          </a:p>
          <a:p>
            <a:pPr indent="0" marL="0">
              <a:spcAft>
                <a:spcPts val="1000"/>
              </a:spcAft>
              <a:buNone/>
            </a:pPr>
            <a:r>
              <a:rPr lang="en-US" sz="1300" dirty="0">
                <a:solidFill>
                  <a:schemeClr val="tx1"/>
                </a:solidFill>
              </a:rPr>
              <a:t>[Where the water comes from: municipal supply, own well, surface water]</a:t>
            </a:r>
            <a:endParaRPr lang="en-US" sz="1300" dirty="0"/>
          </a:p>
          <a:p>
            <a:pPr indent="0" marL="0">
              <a:spcAft>
                <a:spcPts val="1000"/>
              </a:spcAft>
              <a:buNone/>
            </a:pPr>
            <a:r>
              <a:rPr lang="en-US" sz="1300" dirty="0">
                <a:solidFill>
                  <a:schemeClr val="tx1"/>
                </a:solidFill>
              </a:rPr>
              <a:t>[Why it matters here: cost, permit limit, supply risk in dry months]</a:t>
            </a:r>
            <a:endParaRPr lang="en-US" sz="1300" dirty="0"/>
          </a:p>
        </p:txBody>
      </p:sp>
      <p:sp>
        <p:nvSpPr>
          <p:cNvPr id="25" name="Slide Number Placeholder 0"/>
          <p:cNvSpPr>
            <a:spLocks noGrp="1"/>
          </p:cNvSpPr>
          <p:nvPr>
            <p:ph type="sldNum" sz="quarter" idx="4294967295"/>
          </p:nvPr>
        </p:nvSpPr>
        <p:spPr>
          <a:xfrm>
            <a:off x="11402568" y="6400800"/>
            <a:ext cx="329184"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4" type="body" hasCustomPrompt="1"/>
          </p:nvPr>
        </p:nvSpPr>
        <p:spPr>
          <a:xfrm>
            <a:off x="457200" y="941832"/>
            <a:ext cx="1124712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SOLUTION AND OPTIONS</a:t>
            </a:r>
            <a:endParaRPr lang="en-US" sz="1100" dirty="0"/>
          </a:p>
        </p:txBody>
      </p:sp>
      <p:sp>
        <p:nvSpPr>
          <p:cNvPr id="3" name="Text 3"/>
          <p:cNvSpPr/>
          <p:nvPr>
            <p:ph idx="105" type="title" hasCustomPrompt="1"/>
          </p:nvPr>
        </p:nvSpPr>
        <p:spPr>
          <a:xfrm>
            <a:off x="457200" y="1188720"/>
            <a:ext cx="11274552" cy="640080"/>
          </a:xfrm>
          <a:prstGeom prst="rect">
            <a:avLst/>
          </a:prstGeom>
          <a:noFill/>
          <a:ln/>
        </p:spPr>
        <p:txBody>
          <a:bodyPr wrap="square" lIns="0" tIns="0" rIns="0" bIns="0" rtlCol="0" anchor="ctr"/>
          <a:lstStyle/>
          <a:p>
            <a:pPr algn="l" indent="0" marL="0">
              <a:buNone/>
            </a:pPr>
            <a:r>
              <a:rPr lang="en-US" sz="2800" b="1" dirty="0">
                <a:solidFill>
                  <a:schemeClr val="accent1"/>
                </a:solidFill>
              </a:rPr>
              <a:t>What we will do, and why this option</a:t>
            </a:r>
            <a:endParaRPr lang="en-US" sz="2800" dirty="0"/>
          </a:p>
        </p:txBody>
      </p:sp>
      <p:sp>
        <p:nvSpPr>
          <p:cNvPr id="5" name="Solution card 1"/>
          <p:cNvSpPr/>
          <p:nvPr/>
        </p:nvSpPr>
        <p:spPr>
          <a:xfrm>
            <a:off x="457200" y="2194560"/>
            <a:ext cx="4480560" cy="1188720"/>
          </a:xfrm>
          <a:prstGeom prst="rect">
            <a:avLst/>
          </a:prstGeom>
          <a:solidFill>
            <a:schemeClr val="bg1"/>
          </a:solidFill>
          <a:ln w="9525">
            <a:solidFill>
              <a:srgbClr val="DDDBD3"/>
            </a:solidFill>
            <a:prstDash val="solid"/>
          </a:ln>
        </p:spPr>
      </p:sp>
      <p:sp>
        <p:nvSpPr>
          <p:cNvPr id="6" name="Solution eyebrow 1"/>
          <p:cNvSpPr txBox="1"/>
          <p:nvPr/>
        </p:nvSpPr>
        <p:spPr>
          <a:xfrm>
            <a:off x="640080" y="2286000"/>
            <a:ext cx="41148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WHAT CHANGES</a:t>
            </a:r>
            <a:endParaRPr lang="en-US" sz="1100" dirty="0"/>
          </a:p>
        </p:txBody>
      </p:sp>
      <p:sp>
        <p:nvSpPr>
          <p:cNvPr id="7" name="Solution text 1"/>
          <p:cNvSpPr txBox="1"/>
          <p:nvPr/>
        </p:nvSpPr>
        <p:spPr>
          <a:xfrm>
            <a:off x="640080" y="2606040"/>
            <a:ext cx="4114800" cy="731520"/>
          </a:xfrm>
          <a:prstGeom prst="rect">
            <a:avLst/>
          </a:prstGeom>
          <a:noFill/>
          <a:ln/>
        </p:spPr>
        <p:txBody>
          <a:bodyPr wrap="square" lIns="0" tIns="0" rIns="0" bIns="0" rtlCol="0" anchor="t"/>
          <a:lstStyle/>
          <a:p>
            <a:pPr indent="0" marL="0">
              <a:spcAft>
                <a:spcPts val="600"/>
              </a:spcAft>
              <a:buNone/>
            </a:pPr>
            <a:r>
              <a:rPr lang="en-US" sz="1300" dirty="0">
                <a:solidFill>
                  <a:schemeClr val="tx1"/>
                </a:solidFill>
              </a:rPr>
              <a:t>[What is installed or changed, where, and with which capacity]</a:t>
            </a:r>
            <a:endParaRPr lang="en-US" sz="1300" dirty="0"/>
          </a:p>
        </p:txBody>
      </p:sp>
      <p:sp>
        <p:nvSpPr>
          <p:cNvPr id="8" name="Solution card 2"/>
          <p:cNvSpPr/>
          <p:nvPr/>
        </p:nvSpPr>
        <p:spPr>
          <a:xfrm>
            <a:off x="457200" y="3520440"/>
            <a:ext cx="4480560" cy="1188720"/>
          </a:xfrm>
          <a:prstGeom prst="rect">
            <a:avLst/>
          </a:prstGeom>
          <a:solidFill>
            <a:schemeClr val="bg1"/>
          </a:solidFill>
          <a:ln w="9525">
            <a:solidFill>
              <a:srgbClr val="DDDBD3"/>
            </a:solidFill>
            <a:prstDash val="solid"/>
          </a:ln>
        </p:spPr>
      </p:sp>
      <p:sp>
        <p:nvSpPr>
          <p:cNvPr id="9" name="Solution eyebrow 2"/>
          <p:cNvSpPr txBox="1"/>
          <p:nvPr/>
        </p:nvSpPr>
        <p:spPr>
          <a:xfrm>
            <a:off x="640080" y="3611880"/>
            <a:ext cx="41148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PROVEN WHERE</a:t>
            </a:r>
            <a:endParaRPr lang="en-US" sz="1100" dirty="0"/>
          </a:p>
        </p:txBody>
      </p:sp>
      <p:sp>
        <p:nvSpPr>
          <p:cNvPr id="10" name="Solution text 2"/>
          <p:cNvSpPr txBox="1"/>
          <p:nvPr/>
        </p:nvSpPr>
        <p:spPr>
          <a:xfrm>
            <a:off x="640080" y="3931920"/>
            <a:ext cx="4114800" cy="731520"/>
          </a:xfrm>
          <a:prstGeom prst="rect">
            <a:avLst/>
          </a:prstGeom>
          <a:noFill/>
          <a:ln/>
        </p:spPr>
        <p:txBody>
          <a:bodyPr wrap="square" lIns="0" tIns="0" rIns="0" bIns="0" rtlCol="0" anchor="t"/>
          <a:lstStyle/>
          <a:p>
            <a:pPr indent="0" marL="0">
              <a:spcAft>
                <a:spcPts val="600"/>
              </a:spcAft>
              <a:buNone/>
            </a:pPr>
            <a:r>
              <a:rPr lang="en-US" sz="1300" dirty="0">
                <a:solidFill>
                  <a:schemeClr val="tx1"/>
                </a:solidFill>
              </a:rPr>
              <a:t>[Reference at another site or at the supplier's customers]</a:t>
            </a:r>
            <a:endParaRPr lang="en-US" sz="1300" dirty="0"/>
          </a:p>
        </p:txBody>
      </p:sp>
      <p:sp>
        <p:nvSpPr>
          <p:cNvPr id="11" name="Solution card 3"/>
          <p:cNvSpPr/>
          <p:nvPr/>
        </p:nvSpPr>
        <p:spPr>
          <a:xfrm>
            <a:off x="457200" y="4846320"/>
            <a:ext cx="4480560" cy="1188720"/>
          </a:xfrm>
          <a:prstGeom prst="rect">
            <a:avLst/>
          </a:prstGeom>
          <a:solidFill>
            <a:schemeClr val="bg1"/>
          </a:solidFill>
          <a:ln w="9525">
            <a:solidFill>
              <a:srgbClr val="DDDBD3"/>
            </a:solidFill>
            <a:prstDash val="solid"/>
          </a:ln>
        </p:spPr>
      </p:sp>
      <p:sp>
        <p:nvSpPr>
          <p:cNvPr id="12" name="Solution eyebrow 3"/>
          <p:cNvSpPr txBox="1"/>
          <p:nvPr/>
        </p:nvSpPr>
        <p:spPr>
          <a:xfrm>
            <a:off x="640080" y="4937760"/>
            <a:ext cx="41148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OUT OF SCOPE</a:t>
            </a:r>
            <a:endParaRPr lang="en-US" sz="1100" dirty="0"/>
          </a:p>
        </p:txBody>
      </p:sp>
      <p:sp>
        <p:nvSpPr>
          <p:cNvPr id="13" name="Solution text 3"/>
          <p:cNvSpPr txBox="1"/>
          <p:nvPr/>
        </p:nvSpPr>
        <p:spPr>
          <a:xfrm>
            <a:off x="640080" y="5257800"/>
            <a:ext cx="4114800" cy="731520"/>
          </a:xfrm>
          <a:prstGeom prst="rect">
            <a:avLst/>
          </a:prstGeom>
          <a:noFill/>
          <a:ln/>
        </p:spPr>
        <p:txBody>
          <a:bodyPr wrap="square" lIns="0" tIns="0" rIns="0" bIns="0" rtlCol="0" anchor="t"/>
          <a:lstStyle/>
          <a:p>
            <a:pPr indent="0" marL="0">
              <a:spcAft>
                <a:spcPts val="600"/>
              </a:spcAft>
              <a:buNone/>
            </a:pPr>
            <a:r>
              <a:rPr lang="en-US" sz="1300" dirty="0">
                <a:solidFill>
                  <a:schemeClr val="tx1"/>
                </a:solidFill>
              </a:rPr>
              <a:t>[What stays as it is and is not part of this project]</a:t>
            </a:r>
            <a:endParaRPr lang="en-US" sz="1300" dirty="0"/>
          </a:p>
        </p:txBody>
      </p:sp>
      <p:graphicFrame>
        <p:nvGraphicFramePr>
          <p:cNvPr id="6" name="Options table"/>
          <p:cNvGraphicFramePr>
            <a:graphicFrameLocks noGrp="1"/>
          </p:cNvGraphicFramePr>
          <p:nvPr>
            <p:extLst>
              <p:ext uri="{D42A27DB-BD31-4B8C-83A1-F6EECF244321}">
                <p14:modId xmlns:p14="http://schemas.microsoft.com/office/powerpoint/2010/main" val="1579011935"/>
              </p:ext>
            </p:extLst>
          </p:nvPr>
        </p:nvGraphicFramePr>
        <p:xfrm>
          <a:off x="5212080" y="2194560"/>
          <a:ext cx="6519672" cy="914400"/>
        </p:xfrm>
        <a:graphic>
          <a:graphicData uri="http://schemas.openxmlformats.org/drawingml/2006/table">
            <a:tbl>
              <a:tblPr/>
              <a:tblGrid>
                <a:gridCol w="1737360"/>
                <a:gridCol w="1234440"/>
                <a:gridCol w="1143000"/>
                <a:gridCol w="2404872"/>
              </a:tblGrid>
              <a:tr h="365760">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Option</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r" indent="0" marL="0">
                        <a:buNone/>
                      </a:pPr>
                      <a:r>
                        <a:rPr lang="en-US" sz="1100" b="1" dirty="0">
                          <a:solidFill>
                            <a:schemeClr val="bg1"/>
                          </a:solidFill>
                          <a:latin typeface="+mj-lt" pitchFamily="34" charset="0"/>
                          <a:ea typeface="+mj-lt" pitchFamily="34" charset="-122"/>
                          <a:cs typeface="+mj-lt" pitchFamily="34" charset="-120"/>
                        </a:rPr>
                        <a:t>m³ a year</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r" indent="0" marL="0">
                        <a:buNone/>
                      </a:pPr>
                      <a:r>
                        <a:rPr lang="en-US" sz="1100" b="1" dirty="0">
                          <a:solidFill>
                            <a:schemeClr val="bg1"/>
                          </a:solidFill>
                          <a:latin typeface="+mj-lt" pitchFamily="34" charset="0"/>
                          <a:ea typeface="+mj-lt" pitchFamily="34" charset="-122"/>
                          <a:cs typeface="+mj-lt" pitchFamily="34" charset="-120"/>
                        </a:rPr>
                        <a:t>Capex</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Why chosen, or why not</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r>
              <a:tr h="713232">
                <a:tc>
                  <a:txBody>
                    <a:bodyPr/>
                    <a:lstStyle/>
                    <a:p>
                      <a:pPr algn="l" indent="0" marL="0">
                        <a:buNone/>
                      </a:pPr>
                      <a:r>
                        <a:rPr lang="en-US" sz="1200" dirty="0">
                          <a:solidFill>
                            <a:schemeClr val="tx1"/>
                          </a:solidFill>
                        </a:rPr>
                        <a:t>Do nothing</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€ 0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[What it costs: fees, and the gap to the target stays]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713232">
                <a:tc>
                  <a:txBody>
                    <a:bodyPr/>
                    <a:lstStyle/>
                    <a:p>
                      <a:pPr algn="l" indent="0" marL="0">
                        <a:buNone/>
                      </a:pPr>
                      <a:r>
                        <a:rPr lang="en-US" sz="1200" dirty="0">
                          <a:solidFill>
                            <a:schemeClr val="tx1"/>
                          </a:solidFill>
                        </a:rPr>
                        <a:t>[Alternative A]</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 [0.00] m</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[Why not: impact, cost, risk, timing]</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r h="713232">
                <a:tc>
                  <a:txBody>
                    <a:bodyPr/>
                    <a:lstStyle/>
                    <a:p>
                      <a:pPr algn="l" indent="0" marL="0">
                        <a:buNone/>
                      </a:pPr>
                      <a:r>
                        <a:rPr lang="en-US" sz="1200" dirty="0">
                          <a:solidFill>
                            <a:schemeClr val="tx1"/>
                          </a:solidFill>
                        </a:rPr>
                        <a:t>[Alternative B]</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 [0.00] m</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[Why not: impact, cost, risk, timing]</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713232">
                <a:tc>
                  <a:txBody>
                    <a:bodyPr/>
                    <a:lstStyle/>
                    <a:p>
                      <a:pPr algn="l" indent="0" marL="0">
                        <a:buNone/>
                      </a:pPr>
                      <a:r>
                        <a:rPr lang="en-US" sz="1200" b="1" dirty="0">
                          <a:solidFill>
                            <a:schemeClr val="accent1"/>
                          </a:solidFill>
                        </a:rPr>
                        <a:t>[This project]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accent1"/>
                          </a:solidFill>
                        </a:rPr>
                        <a:t>[00,000]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accent1"/>
                          </a:solidFill>
                        </a:rPr>
                        <a:t>€ [0.00] m</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b="1" dirty="0">
                          <a:solidFill>
                            <a:schemeClr val="accent1"/>
                          </a:solidFill>
                        </a:rPr>
                        <a:t>Chosen: [the reason in one line]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bl>
          </a:graphicData>
        </a:graphic>
      </p:graphicFrame>
      <p:sp>
        <p:nvSpPr>
          <p:cNvPr id="15" name="Options note"/>
          <p:cNvSpPr txBox="1"/>
          <p:nvPr/>
        </p:nvSpPr>
        <p:spPr>
          <a:xfrm>
            <a:off x="5212080" y="5532120"/>
            <a:ext cx="6519672" cy="365760"/>
          </a:xfrm>
          <a:prstGeom prst="rect">
            <a:avLst/>
          </a:prstGeom>
          <a:noFill/>
          <a:ln/>
        </p:spPr>
        <p:txBody>
          <a:bodyPr wrap="square" lIns="0" tIns="0" rIns="0" bIns="0" rtlCol="0" anchor="t"/>
          <a:lstStyle/>
          <a:p>
            <a:pPr indent="0" marL="0">
              <a:buNone/>
            </a:pPr>
            <a:r>
              <a:rPr lang="en-US" sz="1000" dirty="0">
                <a:solidFill>
                  <a:srgbClr val="6B6B6B"/>
                </a:solidFill>
              </a:rPr>
              <a:t>Keep four rows at most. An option the site never seriously looked at does not belong here.</a:t>
            </a:r>
            <a:endParaRPr lang="en-US" sz="1000" dirty="0"/>
          </a:p>
        </p:txBody>
      </p:sp>
      <p:sp>
        <p:nvSpPr>
          <p:cNvPr id="25" name="Slide Number Placeholder 0"/>
          <p:cNvSpPr>
            <a:spLocks noGrp="1"/>
          </p:cNvSpPr>
          <p:nvPr>
            <p:ph type="sldNum" sz="quarter" idx="4294967295"/>
          </p:nvPr>
        </p:nvSpPr>
        <p:spPr>
          <a:xfrm>
            <a:off x="11402568" y="6400800"/>
            <a:ext cx="329184"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4" type="body" hasCustomPrompt="1"/>
          </p:nvPr>
        </p:nvSpPr>
        <p:spPr>
          <a:xfrm>
            <a:off x="457200" y="941832"/>
            <a:ext cx="1124712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IMPACT CALCULATION</a:t>
            </a:r>
            <a:endParaRPr lang="en-US" sz="1100" dirty="0"/>
          </a:p>
        </p:txBody>
      </p:sp>
      <p:sp>
        <p:nvSpPr>
          <p:cNvPr id="3" name="Text 3"/>
          <p:cNvSpPr/>
          <p:nvPr>
            <p:ph idx="105" type="title" hasCustomPrompt="1"/>
          </p:nvPr>
        </p:nvSpPr>
        <p:spPr>
          <a:xfrm>
            <a:off x="457200" y="1188720"/>
            <a:ext cx="11274552" cy="640080"/>
          </a:xfrm>
          <a:prstGeom prst="rect">
            <a:avLst/>
          </a:prstGeom>
          <a:noFill/>
          <a:ln/>
        </p:spPr>
        <p:txBody>
          <a:bodyPr wrap="square" lIns="0" tIns="0" rIns="0" bIns="0" rtlCol="0" anchor="ctr"/>
          <a:lstStyle/>
          <a:p>
            <a:pPr algn="l" indent="0" marL="0">
              <a:buNone/>
            </a:pPr>
            <a:r>
              <a:rPr lang="en-US" sz="2800" b="1" dirty="0">
                <a:solidFill>
                  <a:schemeClr val="accent1"/>
                </a:solidFill>
              </a:rPr>
              <a:t>How the [00,000] m³ a year are calculated</a:t>
            </a:r>
            <a:endParaRPr lang="en-US" sz="2800" dirty="0"/>
          </a:p>
        </p:txBody>
      </p:sp>
      <p:graphicFrame>
        <p:nvGraphicFramePr>
          <p:cNvPr id="7" name="Calculation table"/>
          <p:cNvGraphicFramePr>
            <a:graphicFrameLocks noGrp="1"/>
          </p:cNvGraphicFramePr>
          <p:nvPr>
            <p:extLst>
              <p:ext uri="{D42A27DB-BD31-4B8C-83A1-F6EECF244321}">
                <p14:modId xmlns:p14="http://schemas.microsoft.com/office/powerpoint/2010/main" val="1579011935"/>
              </p:ext>
            </p:extLst>
          </p:nvPr>
        </p:nvGraphicFramePr>
        <p:xfrm>
          <a:off x="457200" y="2194560"/>
          <a:ext cx="7498080" cy="914400"/>
        </p:xfrm>
        <a:graphic>
          <a:graphicData uri="http://schemas.openxmlformats.org/drawingml/2006/table">
            <a:tbl>
              <a:tblPr/>
              <a:tblGrid>
                <a:gridCol w="3246120"/>
                <a:gridCol w="960120"/>
                <a:gridCol w="960120"/>
                <a:gridCol w="960120"/>
                <a:gridCol w="1371600"/>
              </a:tblGrid>
              <a:tr h="365760">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Line</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r" indent="0" marL="0">
                        <a:buNone/>
                      </a:pPr>
                      <a:r>
                        <a:rPr lang="en-US" sz="1100" b="1" dirty="0">
                          <a:solidFill>
                            <a:schemeClr val="bg1"/>
                          </a:solidFill>
                          <a:latin typeface="+mj-lt" pitchFamily="34" charset="0"/>
                          <a:ea typeface="+mj-lt" pitchFamily="34" charset="-122"/>
                          <a:cs typeface="+mj-lt" pitchFamily="34" charset="-120"/>
                        </a:rPr>
                        <a:t>Before</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r" indent="0" marL="0">
                        <a:buNone/>
                      </a:pPr>
                      <a:r>
                        <a:rPr lang="en-US" sz="1100" b="1" dirty="0">
                          <a:solidFill>
                            <a:schemeClr val="bg1"/>
                          </a:solidFill>
                          <a:latin typeface="+mj-lt" pitchFamily="34" charset="0"/>
                          <a:ea typeface="+mj-lt" pitchFamily="34" charset="-122"/>
                          <a:cs typeface="+mj-lt" pitchFamily="34" charset="-120"/>
                        </a:rPr>
                        <a:t>After</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r" indent="0" marL="0">
                        <a:buNone/>
                      </a:pPr>
                      <a:r>
                        <a:rPr lang="en-US" sz="1100" b="1" dirty="0">
                          <a:solidFill>
                            <a:schemeClr val="bg1"/>
                          </a:solidFill>
                          <a:latin typeface="+mj-lt" pitchFamily="34" charset="0"/>
                          <a:ea typeface="+mj-lt" pitchFamily="34" charset="-122"/>
                          <a:cs typeface="+mj-lt" pitchFamily="34" charset="-120"/>
                        </a:rPr>
                        <a:t>Change</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Source</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r>
              <a:tr h="429768">
                <a:tc>
                  <a:txBody>
                    <a:bodyPr/>
                    <a:lstStyle/>
                    <a:p>
                      <a:pPr algn="l" indent="0" marL="0">
                        <a:buNone/>
                      </a:pPr>
                      <a:r>
                        <a:rPr lang="en-US" sz="1200" dirty="0">
                          <a:solidFill>
                            <a:schemeClr val="tx1"/>
                          </a:solidFill>
                        </a:rPr>
                        <a:t>Water demand of the process, m³ a year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[Sub-meter]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429768">
                <a:tc>
                  <a:txBody>
                    <a:bodyPr/>
                    <a:lstStyle/>
                    <a:p>
                      <a:pPr algn="l" indent="0" marL="0">
                        <a:buNone/>
                      </a:pPr>
                      <a:r>
                        <a:rPr lang="en-US" sz="1200" dirty="0">
                          <a:solidFill>
                            <a:schemeClr val="tx1"/>
                          </a:solidFill>
                        </a:rPr>
                        <a:t>Of which reused or recycled, m³ a year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[Design figure]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r h="429768">
                <a:tc>
                  <a:txBody>
                    <a:bodyPr/>
                    <a:lstStyle/>
                    <a:p>
                      <a:pPr algn="l" indent="0" marL="0">
                        <a:buNone/>
                      </a:pPr>
                      <a:r>
                        <a:rPr lang="en-US" sz="1200" dirty="0">
                          <a:solidFill>
                            <a:schemeClr val="tx1"/>
                          </a:solidFill>
                        </a:rPr>
                        <a:t>Withdrawal, municipal supply, m³ a year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[Meter, invoices]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429768">
                <a:tc>
                  <a:txBody>
                    <a:bodyPr/>
                    <a:lstStyle/>
                    <a:p>
                      <a:pPr algn="l" indent="0" marL="0">
                        <a:buNone/>
                      </a:pPr>
                      <a:r>
                        <a:rPr lang="en-US" sz="1200" dirty="0">
                          <a:solidFill>
                            <a:schemeClr val="tx1"/>
                          </a:solidFill>
                        </a:rPr>
                        <a:t>Withdrawal, own well or surface, m³ a year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[Meter]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r h="429768">
                <a:tc>
                  <a:txBody>
                    <a:bodyPr/>
                    <a:lstStyle/>
                    <a:p>
                      <a:pPr algn="l" indent="0" marL="0">
                        <a:buNone/>
                      </a:pPr>
                      <a:r>
                        <a:rPr lang="en-US" sz="1200" dirty="0">
                          <a:solidFill>
                            <a:schemeClr val="tx1"/>
                          </a:solidFill>
                        </a:rPr>
                        <a:t>Wastewater discharged, m³ a year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[Meter, invoices]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429768">
                <a:tc>
                  <a:txBody>
                    <a:bodyPr/>
                    <a:lstStyle/>
                    <a:p>
                      <a:pPr algn="l" indent="0" marL="0">
                        <a:buNone/>
                      </a:pPr>
                      <a:r>
                        <a:rPr lang="en-US" sz="1200" b="1" dirty="0">
                          <a:solidFill>
                            <a:schemeClr val="accent1"/>
                          </a:solidFill>
                        </a:rPr>
                        <a:t>Annual impact, m³ a year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accent1"/>
                          </a:solidFill>
                        </a:rPr>
                        <a:t>[00,000]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b="1" dirty="0">
                          <a:solidFill>
                            <a:schemeClr val="accent1"/>
                          </a:solidFill>
                        </a:rPr>
                        <a:t>= tracker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r h="429768">
                <a:tc>
                  <a:txBody>
                    <a:bodyPr/>
                    <a:lstStyle/>
                    <a:p>
                      <a:pPr algn="l" indent="0" marL="0">
                        <a:buNone/>
                      </a:pPr>
                      <a:r>
                        <a:rPr lang="en-US" sz="1200" b="1" dirty="0">
                          <a:solidFill>
                            <a:schemeClr val="accent1"/>
                          </a:solidFill>
                        </a:rPr>
                        <a:t>Total impact over [00] years, m³</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b="1" dirty="0">
                          <a:solidFill>
                            <a:schemeClr val="accent1"/>
                          </a:solidFill>
                        </a:rPr>
                        <a:t>[000,000]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b="1" dirty="0">
                          <a:solidFill>
                            <a:schemeClr val="accent1"/>
                          </a:solidFill>
                        </a:rPr>
                        <a:t>= tracker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bl>
          </a:graphicData>
        </a:graphic>
      </p:graphicFrame>
      <p:sp>
        <p:nvSpPr>
          <p:cNvPr id="6" name="Calculation note"/>
          <p:cNvSpPr txBox="1"/>
          <p:nvPr/>
        </p:nvSpPr>
        <p:spPr>
          <a:xfrm>
            <a:off x="457200" y="5715000"/>
            <a:ext cx="7498080" cy="384048"/>
          </a:xfrm>
          <a:prstGeom prst="rect">
            <a:avLst/>
          </a:prstGeom>
          <a:noFill/>
          <a:ln/>
        </p:spPr>
        <p:txBody>
          <a:bodyPr wrap="square" lIns="0" tIns="0" rIns="0" bIns="0" rtlCol="0" anchor="t"/>
          <a:lstStyle/>
          <a:p>
            <a:pPr indent="0" marL="0">
              <a:buNone/>
            </a:pPr>
            <a:r>
              <a:rPr lang="en-US" sz="1000" dirty="0">
                <a:solidFill>
                  <a:srgbClr val="6B6B6B"/>
                </a:solidFill>
              </a:rPr>
              <a:t>The annual impact is the withdrawal the site no longer needs, at its meters. Water that goes round a loop several times is counted once.</a:t>
            </a:r>
            <a:endParaRPr lang="en-US" sz="1000" dirty="0"/>
          </a:p>
        </p:txBody>
      </p:sp>
      <p:sp>
        <p:nvSpPr>
          <p:cNvPr id="7" name="Assumptions card"/>
          <p:cNvSpPr/>
          <p:nvPr/>
        </p:nvSpPr>
        <p:spPr>
          <a:xfrm>
            <a:off x="8229600" y="2194560"/>
            <a:ext cx="3502152" cy="3374136"/>
          </a:xfrm>
          <a:prstGeom prst="rect">
            <a:avLst/>
          </a:prstGeom>
          <a:solidFill>
            <a:schemeClr val="bg1"/>
          </a:solidFill>
          <a:ln w="9525">
            <a:solidFill>
              <a:srgbClr val="DDDBD3"/>
            </a:solidFill>
            <a:prstDash val="solid"/>
          </a:ln>
        </p:spPr>
      </p:sp>
      <p:sp>
        <p:nvSpPr>
          <p:cNvPr id="8" name="Assumptions eyebrow"/>
          <p:cNvSpPr txBox="1"/>
          <p:nvPr/>
        </p:nvSpPr>
        <p:spPr>
          <a:xfrm>
            <a:off x="8412480" y="2331720"/>
            <a:ext cx="3136392"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ASSUMPTIONS</a:t>
            </a:r>
            <a:endParaRPr lang="en-US" sz="1100" dirty="0"/>
          </a:p>
        </p:txBody>
      </p:sp>
      <p:sp>
        <p:nvSpPr>
          <p:cNvPr id="9" name="Assumptions list"/>
          <p:cNvSpPr txBox="1"/>
          <p:nvPr/>
        </p:nvSpPr>
        <p:spPr>
          <a:xfrm>
            <a:off x="8412480" y="2724912"/>
            <a:ext cx="3136392" cy="2743200"/>
          </a:xfrm>
          <a:prstGeom prst="rect">
            <a:avLst/>
          </a:prstGeom>
          <a:noFill/>
          <a:ln/>
        </p:spPr>
        <p:txBody>
          <a:bodyPr wrap="square" lIns="0" tIns="0" rIns="0" bIns="0" rtlCol="0" anchor="t"/>
          <a:lstStyle/>
          <a:p>
            <a:pPr indent="0" marL="0">
              <a:spcAft>
                <a:spcPts val="800"/>
              </a:spcAft>
              <a:buNone/>
            </a:pPr>
            <a:r>
              <a:rPr lang="en-US" sz="1250" b="1" dirty="0">
                <a:solidFill>
                  <a:schemeClr val="tx1"/>
                </a:solidFill>
              </a:rPr>
              <a:t>Operating days: </a:t>
            </a:r>
            <a:pPr indent="0" marL="0">
              <a:spcAft>
                <a:spcPts val="800"/>
              </a:spcAft>
              <a:buNone/>
            </a:pPr>
            <a:r>
              <a:rPr lang="en-US" sz="1250" dirty="0">
                <a:solidFill>
                  <a:schemeClr val="tx1"/>
                </a:solidFill>
              </a:rPr>
              <a:t>[000] a year</a:t>
            </a:r>
            <a:endParaRPr lang="en-US" sz="1250" dirty="0"/>
          </a:p>
          <a:p>
            <a:pPr indent="0" marL="0">
              <a:spcAft>
                <a:spcPts val="800"/>
              </a:spcAft>
              <a:buNone/>
            </a:pPr>
            <a:r>
              <a:rPr lang="en-US" sz="1250" b="1" dirty="0">
                <a:solidFill>
                  <a:schemeClr val="tx1"/>
                </a:solidFill>
              </a:rPr>
              <a:t>Output level: </a:t>
            </a:r>
            <a:pPr indent="0" marL="0">
              <a:spcAft>
                <a:spcPts val="800"/>
              </a:spcAft>
              <a:buNone/>
            </a:pPr>
            <a:r>
              <a:rPr lang="en-US" sz="1250" dirty="0">
                <a:solidFill>
                  <a:schemeClr val="tx1"/>
                </a:solidFill>
              </a:rPr>
              <a:t>[000,000] t a year, same before and after</a:t>
            </a:r>
            <a:endParaRPr lang="en-US" sz="1250" dirty="0"/>
          </a:p>
          <a:p>
            <a:pPr indent="0" marL="0">
              <a:spcAft>
                <a:spcPts val="800"/>
              </a:spcAft>
              <a:buNone/>
            </a:pPr>
            <a:r>
              <a:rPr lang="en-US" sz="1250" b="1" dirty="0">
                <a:solidFill>
                  <a:schemeClr val="tx1"/>
                </a:solidFill>
              </a:rPr>
              <a:t>Recovery rate: </a:t>
            </a:r>
            <a:pPr indent="0" marL="0">
              <a:spcAft>
                <a:spcPts val="800"/>
              </a:spcAft>
              <a:buNone/>
            </a:pPr>
            <a:r>
              <a:rPr lang="en-US" sz="1250" dirty="0">
                <a:solidFill>
                  <a:schemeClr val="tx1"/>
                </a:solidFill>
              </a:rPr>
              <a:t>[00] % of the stream</a:t>
            </a:r>
            <a:endParaRPr lang="en-US" sz="1250" dirty="0"/>
          </a:p>
          <a:p>
            <a:pPr indent="0" marL="0">
              <a:spcAft>
                <a:spcPts val="800"/>
              </a:spcAft>
              <a:buNone/>
            </a:pPr>
            <a:r>
              <a:rPr lang="en-US" sz="1250" b="1" dirty="0">
                <a:solidFill>
                  <a:schemeClr val="tx1"/>
                </a:solidFill>
              </a:rPr>
              <a:t>Life of the project: </a:t>
            </a:r>
            <a:pPr indent="0" marL="0">
              <a:spcAft>
                <a:spcPts val="800"/>
              </a:spcAft>
              <a:buNone/>
            </a:pPr>
            <a:r>
              <a:rPr lang="en-US" sz="1250" dirty="0">
                <a:solidFill>
                  <a:schemeClr val="tx1"/>
                </a:solidFill>
              </a:rPr>
              <a:t>[00] years</a:t>
            </a:r>
            <a:endParaRPr lang="en-US" sz="1250" dirty="0"/>
          </a:p>
          <a:p>
            <a:pPr indent="0" marL="0">
              <a:spcAft>
                <a:spcPts val="800"/>
              </a:spcAft>
              <a:buNone/>
            </a:pPr>
            <a:r>
              <a:rPr lang="en-US" sz="1250" b="1" dirty="0">
                <a:solidFill>
                  <a:schemeClr val="tx1"/>
                </a:solidFill>
              </a:rPr>
              <a:t>Basis: </a:t>
            </a:r>
            <a:pPr indent="0" marL="0">
              <a:spcAft>
                <a:spcPts val="800"/>
              </a:spcAft>
              <a:buNone/>
            </a:pPr>
            <a:r>
              <a:rPr lang="en-US" sz="1250" dirty="0">
                <a:solidFill>
                  <a:schemeClr val="tx1"/>
                </a:solidFill>
              </a:rPr>
              <a:t>[sub-meter over 12 months, supplier guarantee or estimate]</a:t>
            </a:r>
            <a:endParaRPr lang="en-US" sz="1250" dirty="0"/>
          </a:p>
        </p:txBody>
      </p:sp>
      <p:sp>
        <p:nvSpPr>
          <p:cNvPr id="25" name="Slide Number Placeholder 0"/>
          <p:cNvSpPr>
            <a:spLocks noGrp="1"/>
          </p:cNvSpPr>
          <p:nvPr>
            <p:ph type="sldNum" sz="quarter" idx="4294967295"/>
          </p:nvPr>
        </p:nvSpPr>
        <p:spPr>
          <a:xfrm>
            <a:off x="11402568" y="6400800"/>
            <a:ext cx="329184"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4" type="body" hasCustomPrompt="1"/>
          </p:nvPr>
        </p:nvSpPr>
        <p:spPr>
          <a:xfrm>
            <a:off x="457200" y="941832"/>
            <a:ext cx="1124712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CONTRIBUTION TO THE 2030 TARGET</a:t>
            </a:r>
            <a:endParaRPr lang="en-US" sz="1100" dirty="0"/>
          </a:p>
        </p:txBody>
      </p:sp>
      <p:sp>
        <p:nvSpPr>
          <p:cNvPr id="3" name="Text 3"/>
          <p:cNvSpPr/>
          <p:nvPr>
            <p:ph idx="105" type="title" hasCustomPrompt="1"/>
          </p:nvPr>
        </p:nvSpPr>
        <p:spPr>
          <a:xfrm>
            <a:off x="457200" y="1188720"/>
            <a:ext cx="11274552" cy="640080"/>
          </a:xfrm>
          <a:prstGeom prst="rect">
            <a:avLst/>
          </a:prstGeom>
          <a:noFill/>
          <a:ln/>
        </p:spPr>
        <p:txBody>
          <a:bodyPr wrap="square" lIns="0" tIns="0" rIns="0" bIns="0" rtlCol="0" anchor="ctr"/>
          <a:lstStyle/>
          <a:p>
            <a:pPr algn="l" indent="0" marL="0">
              <a:buNone/>
            </a:pPr>
            <a:r>
              <a:rPr lang="en-US" sz="2800" b="1" dirty="0">
                <a:solidFill>
                  <a:schemeClr val="accent1"/>
                </a:solidFill>
              </a:rPr>
              <a:t>This project closes [00] % of the site's gap</a:t>
            </a:r>
            <a:endParaRPr lang="en-US" sz="2800" dirty="0"/>
          </a:p>
        </p:txBody>
      </p:sp>
      <p:sp>
        <p:nvSpPr>
          <p:cNvPr id="5" name="Chart card"/>
          <p:cNvSpPr/>
          <p:nvPr/>
        </p:nvSpPr>
        <p:spPr>
          <a:xfrm>
            <a:off x="457200" y="2194560"/>
            <a:ext cx="7315200" cy="3611880"/>
          </a:xfrm>
          <a:prstGeom prst="rect">
            <a:avLst/>
          </a:prstGeom>
          <a:solidFill>
            <a:schemeClr val="bg1"/>
          </a:solidFill>
          <a:ln w="9525">
            <a:solidFill>
              <a:srgbClr val="DDDBD3"/>
            </a:solidFill>
            <a:prstDash val="solid"/>
          </a:ln>
        </p:spPr>
      </p:sp>
      <p:graphicFrame>
        <p:nvGraphicFramePr>
          <p:cNvPr id="6" name="Target chart" descr=""/>
          <p:cNvGraphicFramePr/>
          <p:nvPr/>
        </p:nvGraphicFramePr>
        <p:xfrm>
          <a:off x="594360" y="2286000"/>
          <a:ext cx="7040880" cy="3429000"/>
        </p:xfrm>
        <a:graphic xmlns:a="http://schemas.openxmlformats.org/drawingml/2006/main">
          <a:graphicData uri="http://schemas.openxmlformats.org/drawingml/2006/chart">
            <c:chart xmlns:c="http://schemas.openxmlformats.org/drawingml/2006/chart" r:id="rId1"/>
          </a:graphicData>
        </a:graphic>
      </p:graphicFrame>
      <p:sp>
        <p:nvSpPr>
          <p:cNvPr id="7" name="Chart note"/>
          <p:cNvSpPr txBox="1"/>
          <p:nvPr/>
        </p:nvSpPr>
        <p:spPr>
          <a:xfrm>
            <a:off x="457200" y="5897880"/>
            <a:ext cx="7315200" cy="384048"/>
          </a:xfrm>
          <a:prstGeom prst="rect">
            <a:avLst/>
          </a:prstGeom>
          <a:noFill/>
          <a:ln/>
        </p:spPr>
        <p:txBody>
          <a:bodyPr wrap="square" lIns="0" tIns="0" rIns="0" bIns="0" rtlCol="0" anchor="t"/>
          <a:lstStyle/>
          <a:p>
            <a:pPr indent="0" marL="0">
              <a:buNone/>
            </a:pPr>
            <a:r>
              <a:rPr lang="en-US" sz="1000" dirty="0">
                <a:solidFill>
                  <a:srgbClr val="6B6B6B"/>
                </a:solidFill>
              </a:rPr>
              <a:t>Example figures: right-click the chart, choose Edit Data and enter your site's figures. m³ of withdrawal per year in 2030, against the absolute target (−10 %).</a:t>
            </a:r>
            <a:endParaRPr lang="en-US" sz="1000" dirty="0"/>
          </a:p>
        </p:txBody>
      </p:sp>
      <p:sp>
        <p:nvSpPr>
          <p:cNvPr id="8" name="Figures card"/>
          <p:cNvSpPr/>
          <p:nvPr/>
        </p:nvSpPr>
        <p:spPr>
          <a:xfrm>
            <a:off x="7955280" y="2194560"/>
            <a:ext cx="3776472" cy="3611880"/>
          </a:xfrm>
          <a:prstGeom prst="rect">
            <a:avLst/>
          </a:prstGeom>
          <a:solidFill>
            <a:schemeClr val="bg1"/>
          </a:solidFill>
          <a:ln w="9525">
            <a:solidFill>
              <a:srgbClr val="DDDBD3"/>
            </a:solidFill>
            <a:prstDash val="solid"/>
          </a:ln>
        </p:spPr>
      </p:sp>
      <p:sp>
        <p:nvSpPr>
          <p:cNvPr id="9" name="Target label 1"/>
          <p:cNvSpPr txBox="1"/>
          <p:nvPr/>
        </p:nvSpPr>
        <p:spPr>
          <a:xfrm>
            <a:off x="8138160" y="2359152"/>
            <a:ext cx="3410712" cy="219456"/>
          </a:xfrm>
          <a:prstGeom prst="rect">
            <a:avLst/>
          </a:prstGeom>
          <a:noFill/>
          <a:ln/>
        </p:spPr>
        <p:txBody>
          <a:bodyPr wrap="square" lIns="0" tIns="0" rIns="0" bIns="0" rtlCol="0" anchor="ctr"/>
          <a:lstStyle/>
          <a:p>
            <a:pPr indent="0" marL="0">
              <a:buNone/>
            </a:pPr>
            <a:r>
              <a:rPr lang="en-US" sz="1050" b="1" spc="100" kern="0" dirty="0">
                <a:solidFill>
                  <a:srgbClr val="6B6B6B"/>
                </a:solidFill>
              </a:rPr>
              <a:t>REQUIRED BY 2030</a:t>
            </a:r>
            <a:endParaRPr lang="en-US" sz="1050" dirty="0"/>
          </a:p>
        </p:txBody>
      </p:sp>
      <p:sp>
        <p:nvSpPr>
          <p:cNvPr id="10" name="Target value 1"/>
          <p:cNvSpPr txBox="1"/>
          <p:nvPr/>
        </p:nvSpPr>
        <p:spPr>
          <a:xfrm>
            <a:off x="8138160" y="2587752"/>
            <a:ext cx="3410712" cy="329184"/>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[00,000] m³</a:t>
            </a:r>
            <a:endParaRPr lang="en-US" sz="1800" dirty="0"/>
          </a:p>
        </p:txBody>
      </p:sp>
      <p:sp>
        <p:nvSpPr>
          <p:cNvPr id="11" name="Target note 1"/>
          <p:cNvSpPr txBox="1"/>
          <p:nvPr/>
        </p:nvSpPr>
        <p:spPr>
          <a:xfrm>
            <a:off x="8138160" y="2916936"/>
            <a:ext cx="3410712" cy="201168"/>
          </a:xfrm>
          <a:prstGeom prst="rect">
            <a:avLst/>
          </a:prstGeom>
          <a:noFill/>
          <a:ln/>
        </p:spPr>
        <p:txBody>
          <a:bodyPr wrap="square" lIns="0" tIns="0" rIns="0" bIns="0" rtlCol="0" anchor="ctr"/>
          <a:lstStyle/>
          <a:p>
            <a:pPr indent="0" marL="0">
              <a:buNone/>
            </a:pPr>
            <a:r>
              <a:rPr lang="en-US" sz="1050" dirty="0">
                <a:solidFill>
                  <a:srgbClr val="6B6B6B"/>
                </a:solidFill>
              </a:rPr>
              <a:t>10 % of FY2024 withdrawal</a:t>
            </a:r>
            <a:endParaRPr lang="en-US" sz="1050" dirty="0"/>
          </a:p>
        </p:txBody>
      </p:sp>
      <p:sp>
        <p:nvSpPr>
          <p:cNvPr id="12" name="Target label 2"/>
          <p:cNvSpPr txBox="1"/>
          <p:nvPr/>
        </p:nvSpPr>
        <p:spPr>
          <a:xfrm>
            <a:off x="8138160" y="3218688"/>
            <a:ext cx="3410712" cy="219456"/>
          </a:xfrm>
          <a:prstGeom prst="rect">
            <a:avLst/>
          </a:prstGeom>
          <a:noFill/>
          <a:ln/>
        </p:spPr>
        <p:txBody>
          <a:bodyPr wrap="square" lIns="0" tIns="0" rIns="0" bIns="0" rtlCol="0" anchor="ctr"/>
          <a:lstStyle/>
          <a:p>
            <a:pPr indent="0" marL="0">
              <a:buNone/>
            </a:pPr>
            <a:r>
              <a:rPr lang="en-US" sz="1050" b="1" spc="100" kern="0" dirty="0">
                <a:solidFill>
                  <a:srgbClr val="6B6B6B"/>
                </a:solidFill>
              </a:rPr>
              <a:t>THIS PROJECT</a:t>
            </a:r>
            <a:endParaRPr lang="en-US" sz="1050" dirty="0"/>
          </a:p>
        </p:txBody>
      </p:sp>
      <p:sp>
        <p:nvSpPr>
          <p:cNvPr id="13" name="Target value 2"/>
          <p:cNvSpPr txBox="1"/>
          <p:nvPr/>
        </p:nvSpPr>
        <p:spPr>
          <a:xfrm>
            <a:off x="8138160" y="3447288"/>
            <a:ext cx="3410712" cy="329184"/>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[00,000] m³</a:t>
            </a:r>
            <a:endParaRPr lang="en-US" sz="1800" dirty="0"/>
          </a:p>
        </p:txBody>
      </p:sp>
      <p:sp>
        <p:nvSpPr>
          <p:cNvPr id="14" name="Target note 2"/>
          <p:cNvSpPr txBox="1"/>
          <p:nvPr/>
        </p:nvSpPr>
        <p:spPr>
          <a:xfrm>
            <a:off x="8138160" y="3776472"/>
            <a:ext cx="3410712" cy="201168"/>
          </a:xfrm>
          <a:prstGeom prst="rect">
            <a:avLst/>
          </a:prstGeom>
          <a:noFill/>
          <a:ln/>
        </p:spPr>
        <p:txBody>
          <a:bodyPr wrap="square" lIns="0" tIns="0" rIns="0" bIns="0" rtlCol="0" anchor="ctr"/>
          <a:lstStyle/>
          <a:p>
            <a:pPr indent="0" marL="0">
              <a:buNone/>
            </a:pPr>
            <a:r>
              <a:rPr lang="en-US" sz="1050" dirty="0">
                <a:solidFill>
                  <a:srgbClr val="6B6B6B"/>
                </a:solidFill>
              </a:rPr>
              <a:t>[00] % of the requirement</a:t>
            </a:r>
            <a:endParaRPr lang="en-US" sz="1050" dirty="0"/>
          </a:p>
        </p:txBody>
      </p:sp>
      <p:sp>
        <p:nvSpPr>
          <p:cNvPr id="15" name="Target label 3"/>
          <p:cNvSpPr txBox="1"/>
          <p:nvPr/>
        </p:nvSpPr>
        <p:spPr>
          <a:xfrm>
            <a:off x="8138160" y="4078224"/>
            <a:ext cx="3410712" cy="219456"/>
          </a:xfrm>
          <a:prstGeom prst="rect">
            <a:avLst/>
          </a:prstGeom>
          <a:noFill/>
          <a:ln/>
        </p:spPr>
        <p:txBody>
          <a:bodyPr wrap="square" lIns="0" tIns="0" rIns="0" bIns="0" rtlCol="0" anchor="ctr"/>
          <a:lstStyle/>
          <a:p>
            <a:pPr indent="0" marL="0">
              <a:buNone/>
            </a:pPr>
            <a:r>
              <a:rPr lang="en-US" sz="1050" b="1" spc="100" kern="0" dirty="0">
                <a:solidFill>
                  <a:srgbClr val="6B6B6B"/>
                </a:solidFill>
              </a:rPr>
              <a:t>INTENSITY TARGET 2030</a:t>
            </a:r>
            <a:endParaRPr lang="en-US" sz="1050" dirty="0"/>
          </a:p>
        </p:txBody>
      </p:sp>
      <p:sp>
        <p:nvSpPr>
          <p:cNvPr id="16" name="Target value 3"/>
          <p:cNvSpPr txBox="1"/>
          <p:nvPr/>
        </p:nvSpPr>
        <p:spPr>
          <a:xfrm>
            <a:off x="8138160" y="4306824"/>
            <a:ext cx="3410712" cy="329184"/>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[0.00] m³ per t</a:t>
            </a:r>
            <a:endParaRPr lang="en-US" sz="1800" dirty="0"/>
          </a:p>
        </p:txBody>
      </p:sp>
      <p:sp>
        <p:nvSpPr>
          <p:cNvPr id="17" name="Target note 3"/>
          <p:cNvSpPr txBox="1"/>
          <p:nvPr/>
        </p:nvSpPr>
        <p:spPr>
          <a:xfrm>
            <a:off x="8138160" y="4636008"/>
            <a:ext cx="3410712" cy="201168"/>
          </a:xfrm>
          <a:prstGeom prst="rect">
            <a:avLst/>
          </a:prstGeom>
          <a:noFill/>
          <a:ln/>
        </p:spPr>
        <p:txBody>
          <a:bodyPr wrap="square" lIns="0" tIns="0" rIns="0" bIns="0" rtlCol="0" anchor="ctr"/>
          <a:lstStyle/>
          <a:p>
            <a:pPr indent="0" marL="0">
              <a:buNone/>
            </a:pPr>
            <a:r>
              <a:rPr lang="en-US" sz="1050" dirty="0">
                <a:solidFill>
                  <a:srgbClr val="6B6B6B"/>
                </a:solidFill>
              </a:rPr>
              <a:t>80 % of FY2024 intensity</a:t>
            </a:r>
            <a:endParaRPr lang="en-US" sz="1050" dirty="0"/>
          </a:p>
        </p:txBody>
      </p:sp>
      <p:sp>
        <p:nvSpPr>
          <p:cNvPr id="18" name="Target label 4"/>
          <p:cNvSpPr txBox="1"/>
          <p:nvPr/>
        </p:nvSpPr>
        <p:spPr>
          <a:xfrm>
            <a:off x="8138160" y="4937760"/>
            <a:ext cx="3410712" cy="219456"/>
          </a:xfrm>
          <a:prstGeom prst="rect">
            <a:avLst/>
          </a:prstGeom>
          <a:noFill/>
          <a:ln/>
        </p:spPr>
        <p:txBody>
          <a:bodyPr wrap="square" lIns="0" tIns="0" rIns="0" bIns="0" rtlCol="0" anchor="ctr"/>
          <a:lstStyle/>
          <a:p>
            <a:pPr indent="0" marL="0">
              <a:buNone/>
            </a:pPr>
            <a:r>
              <a:rPr lang="en-US" sz="1050" b="1" spc="100" kern="0" dirty="0">
                <a:solidFill>
                  <a:srgbClr val="6B6B6B"/>
                </a:solidFill>
              </a:rPr>
              <a:t>INTENSITY WITH THIS PROJECT</a:t>
            </a:r>
            <a:endParaRPr lang="en-US" sz="1050" dirty="0"/>
          </a:p>
        </p:txBody>
      </p:sp>
      <p:sp>
        <p:nvSpPr>
          <p:cNvPr id="19" name="Target value 4"/>
          <p:cNvSpPr txBox="1"/>
          <p:nvPr/>
        </p:nvSpPr>
        <p:spPr>
          <a:xfrm>
            <a:off x="8138160" y="5166360"/>
            <a:ext cx="3410712" cy="329184"/>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[0.00] m³ per t</a:t>
            </a:r>
            <a:endParaRPr lang="en-US" sz="1800" dirty="0"/>
          </a:p>
        </p:txBody>
      </p:sp>
      <p:sp>
        <p:nvSpPr>
          <p:cNvPr id="20" name="Target note 4"/>
          <p:cNvSpPr txBox="1"/>
          <p:nvPr/>
        </p:nvSpPr>
        <p:spPr>
          <a:xfrm>
            <a:off x="8138160" y="5495544"/>
            <a:ext cx="3410712" cy="201168"/>
          </a:xfrm>
          <a:prstGeom prst="rect">
            <a:avLst/>
          </a:prstGeom>
          <a:noFill/>
          <a:ln/>
        </p:spPr>
        <p:txBody>
          <a:bodyPr wrap="square" lIns="0" tIns="0" rIns="0" bIns="0" rtlCol="0" anchor="ctr"/>
          <a:lstStyle/>
          <a:p>
            <a:pPr indent="0" marL="0">
              <a:buNone/>
            </a:pPr>
            <a:r>
              <a:rPr lang="en-US" sz="1050" dirty="0">
                <a:solidFill>
                  <a:srgbClr val="6B6B6B"/>
                </a:solidFill>
              </a:rPr>
              <a:t>in 2030, at planned output</a:t>
            </a:r>
            <a:endParaRPr lang="en-US" sz="1050" dirty="0"/>
          </a:p>
        </p:txBody>
      </p:sp>
      <p:sp>
        <p:nvSpPr>
          <p:cNvPr id="25" name="Slide Number Placeholder 0"/>
          <p:cNvSpPr>
            <a:spLocks noGrp="1"/>
          </p:cNvSpPr>
          <p:nvPr>
            <p:ph type="sldNum" sz="quarter" idx="4294967295"/>
          </p:nvPr>
        </p:nvSpPr>
        <p:spPr>
          <a:xfrm>
            <a:off x="11402568" y="6400800"/>
            <a:ext cx="329184"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4" type="body" hasCustomPrompt="1"/>
          </p:nvPr>
        </p:nvSpPr>
        <p:spPr>
          <a:xfrm>
            <a:off x="457200" y="941832"/>
            <a:ext cx="1124712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FINANCIAL CASE</a:t>
            </a:r>
            <a:endParaRPr lang="en-US" sz="1100" dirty="0"/>
          </a:p>
        </p:txBody>
      </p:sp>
      <p:sp>
        <p:nvSpPr>
          <p:cNvPr id="3" name="Text 3"/>
          <p:cNvSpPr/>
          <p:nvPr>
            <p:ph idx="105" type="title" hasCustomPrompt="1"/>
          </p:nvPr>
        </p:nvSpPr>
        <p:spPr>
          <a:xfrm>
            <a:off x="457200" y="1188720"/>
            <a:ext cx="11274552" cy="640080"/>
          </a:xfrm>
          <a:prstGeom prst="rect">
            <a:avLst/>
          </a:prstGeom>
          <a:noFill/>
          <a:ln/>
        </p:spPr>
        <p:txBody>
          <a:bodyPr wrap="square" lIns="0" tIns="0" rIns="0" bIns="0" rtlCol="0" anchor="ctr"/>
          <a:lstStyle/>
          <a:p>
            <a:pPr algn="l" indent="0" marL="0">
              <a:buNone/>
            </a:pPr>
            <a:r>
              <a:rPr lang="en-US" sz="2800" b="1" dirty="0">
                <a:solidFill>
                  <a:schemeClr val="accent1"/>
                </a:solidFill>
              </a:rPr>
              <a:t>€ [0.00] m capex, paid back in [0.0] years</a:t>
            </a:r>
            <a:endParaRPr lang="en-US" sz="2800" dirty="0"/>
          </a:p>
        </p:txBody>
      </p:sp>
      <p:graphicFrame>
        <p:nvGraphicFramePr>
          <p:cNvPr id="9" name="Financial table"/>
          <p:cNvGraphicFramePr>
            <a:graphicFrameLocks noGrp="1"/>
          </p:cNvGraphicFramePr>
          <p:nvPr>
            <p:extLst>
              <p:ext uri="{D42A27DB-BD31-4B8C-83A1-F6EECF244321}">
                <p14:modId xmlns:p14="http://schemas.microsoft.com/office/powerpoint/2010/main" val="1579011935"/>
              </p:ext>
            </p:extLst>
          </p:nvPr>
        </p:nvGraphicFramePr>
        <p:xfrm>
          <a:off x="457200" y="2194560"/>
          <a:ext cx="7406640" cy="914400"/>
        </p:xfrm>
        <a:graphic>
          <a:graphicData uri="http://schemas.openxmlformats.org/drawingml/2006/table">
            <a:tbl>
              <a:tblPr/>
              <a:tblGrid>
                <a:gridCol w="3200400"/>
                <a:gridCol w="1280160"/>
                <a:gridCol w="2926080"/>
              </a:tblGrid>
              <a:tr h="347472">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Item</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r" indent="0" marL="0">
                        <a:buNone/>
                      </a:pPr>
                      <a:r>
                        <a:rPr lang="en-US" sz="1100" b="1" dirty="0">
                          <a:solidFill>
                            <a:schemeClr val="bg1"/>
                          </a:solidFill>
                          <a:latin typeface="+mj-lt" pitchFamily="34" charset="0"/>
                          <a:ea typeface="+mj-lt" pitchFamily="34" charset="-122"/>
                          <a:cs typeface="+mj-lt" pitchFamily="34" charset="-120"/>
                        </a:rPr>
                        <a:t>EUR</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Basis</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r>
              <a:tr h="315468">
                <a:tc>
                  <a:txBody>
                    <a:bodyPr/>
                    <a:lstStyle/>
                    <a:p>
                      <a:pPr algn="l" indent="0" marL="0">
                        <a:buNone/>
                      </a:pPr>
                      <a:r>
                        <a:rPr lang="en-US" sz="1200" b="1" dirty="0">
                          <a:solidFill>
                            <a:schemeClr val="accent1"/>
                          </a:solidFill>
                        </a:rPr>
                        <a:t>Capex, total</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b="1" dirty="0">
                          <a:solidFill>
                            <a:schemeClr val="accent1"/>
                          </a:solidFill>
                        </a:rPr>
                        <a:t>[0,000,000]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b="1" dirty="0">
                          <a:solidFill>
                            <a:schemeClr val="accent1"/>
                          </a:solidFill>
                        </a:rPr>
                        <a:t>= capex in the tracker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315468">
                <a:tc>
                  <a:txBody>
                    <a:bodyPr/>
                    <a:lstStyle/>
                    <a:p>
                      <a:pPr algn="l" indent="0" marL="0">
                        <a:buNone/>
                      </a:pPr>
                      <a:r>
                        <a:rPr lang="en-US" sz="1200" dirty="0">
                          <a:solidFill>
                            <a:schemeClr val="tx1"/>
                          </a:solidFill>
                        </a:rPr>
                        <a:t>     Equipment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[Supplier quote, date]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r h="315468">
                <a:tc>
                  <a:txBody>
                    <a:bodyPr/>
                    <a:lstStyle/>
                    <a:p>
                      <a:pPr algn="l" indent="0" marL="0">
                        <a:buNone/>
                      </a:pPr>
                      <a:r>
                        <a:rPr lang="en-US" sz="1200" dirty="0">
                          <a:solidFill>
                            <a:schemeClr val="tx1"/>
                          </a:solidFill>
                        </a:rPr>
                        <a:t>     Installation, engineering, permits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[Quote or estimate]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315468">
                <a:tc>
                  <a:txBody>
                    <a:bodyPr/>
                    <a:lstStyle/>
                    <a:p>
                      <a:pPr algn="l" indent="0" marL="0">
                        <a:buNone/>
                      </a:pPr>
                      <a:r>
                        <a:rPr lang="en-US" sz="1200" dirty="0">
                          <a:solidFill>
                            <a:schemeClr val="tx1"/>
                          </a:solidFill>
                        </a:rPr>
                        <a:t>     Contingency</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[00] % of capex</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r h="315468">
                <a:tc>
                  <a:txBody>
                    <a:bodyPr/>
                    <a:lstStyle/>
                    <a:p>
                      <a:pPr algn="l" indent="0" marL="0">
                        <a:buNone/>
                      </a:pPr>
                      <a:r>
                        <a:rPr lang="en-US" sz="1200" dirty="0">
                          <a:solidFill>
                            <a:schemeClr val="tx1"/>
                          </a:solidFill>
                        </a:rPr>
                        <a:t>Public funding applied for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[Programme, status]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315468">
                <a:tc>
                  <a:txBody>
                    <a:bodyPr/>
                    <a:lstStyle/>
                    <a:p>
                      <a:pPr algn="l" indent="0" marL="0">
                        <a:buNone/>
                      </a:pPr>
                      <a:r>
                        <a:rPr lang="en-US" sz="1200" b="1" dirty="0">
                          <a:solidFill>
                            <a:schemeClr val="accent1"/>
                          </a:solidFill>
                        </a:rPr>
                        <a:t>Net capex after funding</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accent1"/>
                          </a:solidFill>
                        </a:rPr>
                        <a:t>[0,000,000]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b="1" dirty="0">
                          <a:solidFill>
                            <a:schemeClr val="accent1"/>
                          </a:solidFill>
                        </a:rPr>
                        <a:t>Capex minus funding</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r h="315468">
                <a:tc>
                  <a:txBody>
                    <a:bodyPr/>
                    <a:lstStyle/>
                    <a:p>
                      <a:pPr algn="l" indent="0" marL="0">
                        <a:buNone/>
                      </a:pPr>
                      <a:r>
                        <a:rPr lang="en-US" sz="1200" b="1" dirty="0">
                          <a:solidFill>
                            <a:schemeClr val="accent1"/>
                          </a:solidFill>
                        </a:rPr>
                        <a:t>Opex change per year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b="1" dirty="0">
                          <a:solidFill>
                            <a:schemeClr val="accent1"/>
                          </a:solidFill>
                        </a:rPr>
                        <a:t>[−000,000]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b="1" dirty="0">
                          <a:solidFill>
                            <a:schemeClr val="accent1"/>
                          </a:solidFill>
                        </a:rPr>
                        <a:t>= opex in the tracker; minus is a saving</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315468">
                <a:tc>
                  <a:txBody>
                    <a:bodyPr/>
                    <a:lstStyle/>
                    <a:p>
                      <a:pPr algn="l" indent="0" marL="0">
                        <a:buNone/>
                      </a:pPr>
                      <a:r>
                        <a:rPr lang="en-US" sz="1200" dirty="0">
                          <a:solidFill>
                            <a:schemeClr val="tx1"/>
                          </a:solidFill>
                        </a:rPr>
                        <a:t>     Water supply and wastewater fees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[Fees assumed, € per m³]</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r h="315468">
                <a:tc>
                  <a:txBody>
                    <a:bodyPr/>
                    <a:lstStyle/>
                    <a:p>
                      <a:pPr algn="l" indent="0" marL="0">
                        <a:buNone/>
                      </a:pPr>
                      <a:r>
                        <a:rPr lang="en-US" sz="1200" dirty="0">
                          <a:solidFill>
                            <a:schemeClr val="tx1"/>
                          </a:solidFill>
                        </a:rPr>
                        <a:t>     Energy and chemicals for treatment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[Quantities and prices assumed]</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315468">
                <a:tc>
                  <a:txBody>
                    <a:bodyPr/>
                    <a:lstStyle/>
                    <a:p>
                      <a:pPr algn="l" indent="0" marL="0">
                        <a:buNone/>
                      </a:pPr>
                      <a:r>
                        <a:rPr lang="en-US" sz="1200" dirty="0">
                          <a:solidFill>
                            <a:schemeClr val="tx1"/>
                          </a:solidFill>
                        </a:rPr>
                        <a:t>     Maintenance, consumables, staff</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[−000,000]</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[Contract or estimate]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bl>
          </a:graphicData>
        </a:graphic>
      </p:graphicFrame>
      <p:sp>
        <p:nvSpPr>
          <p:cNvPr id="6" name="Formula note"/>
          <p:cNvSpPr txBox="1"/>
          <p:nvPr/>
        </p:nvSpPr>
        <p:spPr>
          <a:xfrm>
            <a:off x="457200" y="5833872"/>
            <a:ext cx="7406640" cy="365760"/>
          </a:xfrm>
          <a:prstGeom prst="rect">
            <a:avLst/>
          </a:prstGeom>
          <a:noFill/>
          <a:ln/>
        </p:spPr>
        <p:txBody>
          <a:bodyPr wrap="square" lIns="0" tIns="0" rIns="0" bIns="0" rtlCol="0" anchor="t"/>
          <a:lstStyle/>
          <a:p>
            <a:pPr indent="0" marL="0">
              <a:buNone/>
            </a:pPr>
            <a:r>
              <a:rPr lang="en-US" sz="1000" dirty="0">
                <a:solidFill>
                  <a:srgbClr val="6B6B6B"/>
                </a:solidFill>
              </a:rPr>
              <a:t>Payback = net capex ÷ yearly net saving.  Cost per m³ = (net capex + opex change × years of life) ÷ total impact.  NPV at the Group Finance rate.</a:t>
            </a:r>
            <a:endParaRPr lang="en-US" sz="1000" dirty="0"/>
          </a:p>
        </p:txBody>
      </p:sp>
      <p:sp>
        <p:nvSpPr>
          <p:cNvPr id="7" name="Finance figures card"/>
          <p:cNvSpPr/>
          <p:nvPr/>
        </p:nvSpPr>
        <p:spPr>
          <a:xfrm>
            <a:off x="8046720" y="2194560"/>
            <a:ext cx="3685032" cy="3502152"/>
          </a:xfrm>
          <a:prstGeom prst="rect">
            <a:avLst/>
          </a:prstGeom>
          <a:solidFill>
            <a:schemeClr val="bg1"/>
          </a:solidFill>
          <a:ln w="9525">
            <a:solidFill>
              <a:srgbClr val="DDDBD3"/>
            </a:solidFill>
            <a:prstDash val="solid"/>
          </a:ln>
        </p:spPr>
      </p:sp>
      <p:sp>
        <p:nvSpPr>
          <p:cNvPr id="8" name="Finance label 1"/>
          <p:cNvSpPr txBox="1"/>
          <p:nvPr/>
        </p:nvSpPr>
        <p:spPr>
          <a:xfrm>
            <a:off x="8229600" y="2359152"/>
            <a:ext cx="3319272" cy="219456"/>
          </a:xfrm>
          <a:prstGeom prst="rect">
            <a:avLst/>
          </a:prstGeom>
          <a:noFill/>
          <a:ln/>
        </p:spPr>
        <p:txBody>
          <a:bodyPr wrap="square" lIns="0" tIns="0" rIns="0" bIns="0" rtlCol="0" anchor="ctr"/>
          <a:lstStyle/>
          <a:p>
            <a:pPr indent="0" marL="0">
              <a:buNone/>
            </a:pPr>
            <a:r>
              <a:rPr lang="en-US" sz="1050" b="1" spc="100" kern="0" dirty="0">
                <a:solidFill>
                  <a:srgbClr val="6B6B6B"/>
                </a:solidFill>
              </a:rPr>
              <a:t>SIMPLE PAYBACK</a:t>
            </a:r>
            <a:endParaRPr lang="en-US" sz="1050" dirty="0"/>
          </a:p>
        </p:txBody>
      </p:sp>
      <p:sp>
        <p:nvSpPr>
          <p:cNvPr id="9" name="Finance value 1"/>
          <p:cNvSpPr txBox="1"/>
          <p:nvPr/>
        </p:nvSpPr>
        <p:spPr>
          <a:xfrm>
            <a:off x="8229600" y="2587752"/>
            <a:ext cx="3319272" cy="329184"/>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[0.0] years</a:t>
            </a:r>
            <a:endParaRPr lang="en-US" sz="1800" dirty="0"/>
          </a:p>
        </p:txBody>
      </p:sp>
      <p:sp>
        <p:nvSpPr>
          <p:cNvPr id="10" name="Finance note 1"/>
          <p:cNvSpPr txBox="1"/>
          <p:nvPr/>
        </p:nvSpPr>
        <p:spPr>
          <a:xfrm>
            <a:off x="8229600" y="2916936"/>
            <a:ext cx="3319272" cy="201168"/>
          </a:xfrm>
          <a:prstGeom prst="rect">
            <a:avLst/>
          </a:prstGeom>
          <a:noFill/>
          <a:ln/>
        </p:spPr>
        <p:txBody>
          <a:bodyPr wrap="square" lIns="0" tIns="0" rIns="0" bIns="0" rtlCol="0" anchor="ctr"/>
          <a:lstStyle/>
          <a:p>
            <a:pPr indent="0" marL="0">
              <a:buNone/>
            </a:pPr>
            <a:r>
              <a:rPr lang="en-US" sz="1050" dirty="0">
                <a:solidFill>
                  <a:srgbClr val="6B6B6B"/>
                </a:solidFill>
              </a:rPr>
              <a:t>after funding</a:t>
            </a:r>
            <a:endParaRPr lang="en-US" sz="1050" dirty="0"/>
          </a:p>
        </p:txBody>
      </p:sp>
      <p:sp>
        <p:nvSpPr>
          <p:cNvPr id="11" name="Finance label 2"/>
          <p:cNvSpPr txBox="1"/>
          <p:nvPr/>
        </p:nvSpPr>
        <p:spPr>
          <a:xfrm>
            <a:off x="8229600" y="3255264"/>
            <a:ext cx="3319272" cy="219456"/>
          </a:xfrm>
          <a:prstGeom prst="rect">
            <a:avLst/>
          </a:prstGeom>
          <a:noFill/>
          <a:ln/>
        </p:spPr>
        <p:txBody>
          <a:bodyPr wrap="square" lIns="0" tIns="0" rIns="0" bIns="0" rtlCol="0" anchor="ctr"/>
          <a:lstStyle/>
          <a:p>
            <a:pPr indent="0" marL="0">
              <a:buNone/>
            </a:pPr>
            <a:r>
              <a:rPr lang="en-US" sz="1050" b="1" spc="100" kern="0" dirty="0">
                <a:solidFill>
                  <a:srgbClr val="6B6B6B"/>
                </a:solidFill>
              </a:rPr>
              <a:t>NET PRESENT VALUE</a:t>
            </a:r>
            <a:endParaRPr lang="en-US" sz="1050" dirty="0"/>
          </a:p>
        </p:txBody>
      </p:sp>
      <p:sp>
        <p:nvSpPr>
          <p:cNvPr id="12" name="Finance value 2"/>
          <p:cNvSpPr txBox="1"/>
          <p:nvPr/>
        </p:nvSpPr>
        <p:spPr>
          <a:xfrm>
            <a:off x="8229600" y="3483864"/>
            <a:ext cx="3319272" cy="329184"/>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 [0.00] m</a:t>
            </a:r>
            <a:endParaRPr lang="en-US" sz="1800" dirty="0"/>
          </a:p>
        </p:txBody>
      </p:sp>
      <p:sp>
        <p:nvSpPr>
          <p:cNvPr id="13" name="Finance note 2"/>
          <p:cNvSpPr txBox="1"/>
          <p:nvPr/>
        </p:nvSpPr>
        <p:spPr>
          <a:xfrm>
            <a:off x="8229600" y="3813048"/>
            <a:ext cx="3319272" cy="201168"/>
          </a:xfrm>
          <a:prstGeom prst="rect">
            <a:avLst/>
          </a:prstGeom>
          <a:noFill/>
          <a:ln/>
        </p:spPr>
        <p:txBody>
          <a:bodyPr wrap="square" lIns="0" tIns="0" rIns="0" bIns="0" rtlCol="0" anchor="ctr"/>
          <a:lstStyle/>
          <a:p>
            <a:pPr indent="0" marL="0">
              <a:buNone/>
            </a:pPr>
            <a:r>
              <a:rPr lang="en-US" sz="1050" dirty="0">
                <a:solidFill>
                  <a:srgbClr val="6B6B6B"/>
                </a:solidFill>
              </a:rPr>
              <a:t>at [0.0] % over [00] years</a:t>
            </a:r>
            <a:endParaRPr lang="en-US" sz="1050" dirty="0"/>
          </a:p>
        </p:txBody>
      </p:sp>
      <p:sp>
        <p:nvSpPr>
          <p:cNvPr id="14" name="Finance label 3"/>
          <p:cNvSpPr txBox="1"/>
          <p:nvPr/>
        </p:nvSpPr>
        <p:spPr>
          <a:xfrm>
            <a:off x="8229600" y="4151376"/>
            <a:ext cx="3319272" cy="219456"/>
          </a:xfrm>
          <a:prstGeom prst="rect">
            <a:avLst/>
          </a:prstGeom>
          <a:noFill/>
          <a:ln/>
        </p:spPr>
        <p:txBody>
          <a:bodyPr wrap="square" lIns="0" tIns="0" rIns="0" bIns="0" rtlCol="0" anchor="ctr"/>
          <a:lstStyle/>
          <a:p>
            <a:pPr indent="0" marL="0">
              <a:buNone/>
            </a:pPr>
            <a:r>
              <a:rPr lang="en-US" sz="1050" b="1" spc="100" kern="0" dirty="0">
                <a:solidFill>
                  <a:srgbClr val="6B6B6B"/>
                </a:solidFill>
              </a:rPr>
              <a:t>COST PER m³ SAVED</a:t>
            </a:r>
            <a:endParaRPr lang="en-US" sz="1050" dirty="0"/>
          </a:p>
        </p:txBody>
      </p:sp>
      <p:sp>
        <p:nvSpPr>
          <p:cNvPr id="15" name="Finance value 3"/>
          <p:cNvSpPr txBox="1"/>
          <p:nvPr/>
        </p:nvSpPr>
        <p:spPr>
          <a:xfrm>
            <a:off x="8229600" y="4379976"/>
            <a:ext cx="3319272" cy="329184"/>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 [000]</a:t>
            </a:r>
            <a:endParaRPr lang="en-US" sz="1800" dirty="0"/>
          </a:p>
        </p:txBody>
      </p:sp>
      <p:sp>
        <p:nvSpPr>
          <p:cNvPr id="16" name="Finance note 3"/>
          <p:cNvSpPr txBox="1"/>
          <p:nvPr/>
        </p:nvSpPr>
        <p:spPr>
          <a:xfrm>
            <a:off x="8229600" y="4709160"/>
            <a:ext cx="3319272" cy="201168"/>
          </a:xfrm>
          <a:prstGeom prst="rect">
            <a:avLst/>
          </a:prstGeom>
          <a:noFill/>
          <a:ln/>
        </p:spPr>
        <p:txBody>
          <a:bodyPr wrap="square" lIns="0" tIns="0" rIns="0" bIns="0" rtlCol="0" anchor="ctr"/>
          <a:lstStyle/>
          <a:p>
            <a:pPr indent="0" marL="0">
              <a:buNone/>
            </a:pPr>
            <a:r>
              <a:rPr lang="en-US" sz="1050" dirty="0">
                <a:solidFill>
                  <a:srgbClr val="6B6B6B"/>
                </a:solidFill>
              </a:rPr>
              <a:t>over the life of the project</a:t>
            </a:r>
            <a:endParaRPr lang="en-US" sz="1050" dirty="0"/>
          </a:p>
        </p:txBody>
      </p:sp>
      <p:sp>
        <p:nvSpPr>
          <p:cNvPr id="17" name="Finance sign-off"/>
          <p:cNvSpPr txBox="1"/>
          <p:nvPr/>
        </p:nvSpPr>
        <p:spPr>
          <a:xfrm>
            <a:off x="8229600" y="5047488"/>
            <a:ext cx="3319272" cy="566928"/>
          </a:xfrm>
          <a:prstGeom prst="rect">
            <a:avLst/>
          </a:prstGeom>
          <a:noFill/>
          <a:ln/>
        </p:spPr>
        <p:txBody>
          <a:bodyPr wrap="square" lIns="0" tIns="0" rIns="0" bIns="0" rtlCol="0" anchor="t"/>
          <a:lstStyle/>
          <a:p>
            <a:pPr indent="0" marL="0">
              <a:buNone/>
            </a:pPr>
            <a:r>
              <a:rPr lang="en-US" sz="1250" b="1" dirty="0">
                <a:solidFill>
                  <a:schemeClr val="tx1"/>
                </a:solidFill>
              </a:rPr>
              <a:t>In the budget: </a:t>
            </a:r>
            <a:pPr indent="0" marL="0">
              <a:buNone/>
            </a:pPr>
            <a:r>
              <a:rPr lang="en-US" sz="1250" dirty="0">
                <a:solidFill>
                  <a:schemeClr val="tx1"/>
                </a:solidFill>
              </a:rPr>
              <a:t>[yes, 20__ / no]</a:t>
            </a:r>
            <a:endParaRPr lang="en-US" sz="1250" dirty="0"/>
          </a:p>
          <a:p>
            <a:pPr indent="0" marL="0">
              <a:buNone/>
            </a:pPr>
            <a:r>
              <a:rPr lang="en-US" sz="1250" b="1" dirty="0">
                <a:solidFill>
                  <a:schemeClr val="tx1"/>
                </a:solidFill>
              </a:rPr>
              <a:t>Reviewed by: </a:t>
            </a:r>
            <a:pPr indent="0" marL="0">
              <a:buNone/>
            </a:pPr>
            <a:r>
              <a:rPr lang="en-US" sz="1250" dirty="0">
                <a:solidFill>
                  <a:schemeClr val="tx1"/>
                </a:solidFill>
              </a:rPr>
              <a:t>[site controller]</a:t>
            </a:r>
            <a:endParaRPr lang="en-US" sz="1250" dirty="0"/>
          </a:p>
        </p:txBody>
      </p:sp>
      <p:sp>
        <p:nvSpPr>
          <p:cNvPr id="25" name="Slide Number Placeholder 0"/>
          <p:cNvSpPr>
            <a:spLocks noGrp="1"/>
          </p:cNvSpPr>
          <p:nvPr>
            <p:ph type="sldNum" sz="quarter" idx="4294967295"/>
          </p:nvPr>
        </p:nvSpPr>
        <p:spPr>
          <a:xfrm>
            <a:off x="11402568" y="6400800"/>
            <a:ext cx="329184"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4" type="body" hasCustomPrompt="1"/>
          </p:nvPr>
        </p:nvSpPr>
        <p:spPr>
          <a:xfrm>
            <a:off x="457200" y="941832"/>
            <a:ext cx="1124712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IMPLEMENTATION PLAN</a:t>
            </a:r>
            <a:endParaRPr lang="en-US" sz="1100" dirty="0"/>
          </a:p>
        </p:txBody>
      </p:sp>
      <p:sp>
        <p:nvSpPr>
          <p:cNvPr id="3" name="Text 3"/>
          <p:cNvSpPr/>
          <p:nvPr>
            <p:ph idx="105" type="title" hasCustomPrompt="1"/>
          </p:nvPr>
        </p:nvSpPr>
        <p:spPr>
          <a:xfrm>
            <a:off x="457200" y="1188720"/>
            <a:ext cx="11274552" cy="640080"/>
          </a:xfrm>
          <a:prstGeom prst="rect">
            <a:avLst/>
          </a:prstGeom>
          <a:noFill/>
          <a:ln/>
        </p:spPr>
        <p:txBody>
          <a:bodyPr wrap="square" lIns="0" tIns="0" rIns="0" bIns="0" rtlCol="0" anchor="ctr"/>
          <a:lstStyle/>
          <a:p>
            <a:pPr algn="l" indent="0" marL="0">
              <a:buNone/>
            </a:pPr>
            <a:r>
              <a:rPr lang="en-US" sz="2800" b="1" dirty="0">
                <a:solidFill>
                  <a:schemeClr val="accent1"/>
                </a:solidFill>
              </a:rPr>
              <a:t>Full impact from [start year]</a:t>
            </a:r>
            <a:endParaRPr lang="en-US" sz="2800" dirty="0"/>
          </a:p>
        </p:txBody>
      </p:sp>
      <p:sp>
        <p:nvSpPr>
          <p:cNvPr id="5" name="Phase 1 card"/>
          <p:cNvSpPr/>
          <p:nvPr/>
        </p:nvSpPr>
        <p:spPr>
          <a:xfrm>
            <a:off x="457200" y="2194560"/>
            <a:ext cx="2103120" cy="1417320"/>
          </a:xfrm>
          <a:prstGeom prst="rect">
            <a:avLst/>
          </a:prstGeom>
          <a:solidFill>
            <a:schemeClr val="bg1"/>
          </a:solidFill>
          <a:ln w="9525">
            <a:solidFill>
              <a:srgbClr val="DDDBD3"/>
            </a:solidFill>
            <a:prstDash val="solid"/>
          </a:ln>
        </p:spPr>
      </p:sp>
      <p:sp>
        <p:nvSpPr>
          <p:cNvPr id="6" name="Phase 1 label"/>
          <p:cNvSpPr txBox="1"/>
          <p:nvPr/>
        </p:nvSpPr>
        <p:spPr>
          <a:xfrm>
            <a:off x="621792" y="2286000"/>
            <a:ext cx="18288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1  DECISION</a:t>
            </a:r>
            <a:endParaRPr lang="en-US" sz="1100" dirty="0"/>
          </a:p>
        </p:txBody>
      </p:sp>
      <p:sp>
        <p:nvSpPr>
          <p:cNvPr id="7" name="Phase 1 date"/>
          <p:cNvSpPr txBox="1"/>
          <p:nvPr/>
        </p:nvSpPr>
        <p:spPr>
          <a:xfrm>
            <a:off x="621792" y="2578608"/>
            <a:ext cx="1828800" cy="411480"/>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[Month 20__]</a:t>
            </a:r>
            <a:endParaRPr lang="en-US" sz="1800" dirty="0"/>
          </a:p>
        </p:txBody>
      </p:sp>
      <p:sp>
        <p:nvSpPr>
          <p:cNvPr id="8" name="Phase 1 text"/>
          <p:cNvSpPr txBox="1"/>
          <p:nvPr/>
        </p:nvSpPr>
        <p:spPr>
          <a:xfrm>
            <a:off x="621792" y="3017520"/>
            <a:ext cx="1828800" cy="502920"/>
          </a:xfrm>
          <a:prstGeom prst="rect">
            <a:avLst/>
          </a:prstGeom>
          <a:noFill/>
          <a:ln/>
        </p:spPr>
        <p:txBody>
          <a:bodyPr wrap="square" lIns="0" tIns="0" rIns="0" bIns="0" rtlCol="0" anchor="t"/>
          <a:lstStyle/>
          <a:p>
            <a:pPr indent="0" marL="0">
              <a:buNone/>
            </a:pPr>
            <a:r>
              <a:rPr lang="en-US" sz="1200" dirty="0">
                <a:solidFill>
                  <a:schemeClr val="tx1"/>
                </a:solidFill>
              </a:rPr>
              <a:t>Committee approval</a:t>
            </a:r>
            <a:endParaRPr lang="en-US" sz="1200" dirty="0"/>
          </a:p>
        </p:txBody>
      </p:sp>
      <p:sp>
        <p:nvSpPr>
          <p:cNvPr id="9" name="Phase 2 card"/>
          <p:cNvSpPr/>
          <p:nvPr/>
        </p:nvSpPr>
        <p:spPr>
          <a:xfrm>
            <a:off x="2743200" y="2194560"/>
            <a:ext cx="2103120" cy="1417320"/>
          </a:xfrm>
          <a:prstGeom prst="rect">
            <a:avLst/>
          </a:prstGeom>
          <a:solidFill>
            <a:schemeClr val="bg1"/>
          </a:solidFill>
          <a:ln w="9525">
            <a:solidFill>
              <a:srgbClr val="DDDBD3"/>
            </a:solidFill>
            <a:prstDash val="solid"/>
          </a:ln>
        </p:spPr>
      </p:sp>
      <p:sp>
        <p:nvSpPr>
          <p:cNvPr id="10" name="Phase 2 label"/>
          <p:cNvSpPr txBox="1"/>
          <p:nvPr/>
        </p:nvSpPr>
        <p:spPr>
          <a:xfrm>
            <a:off x="2907792" y="2286000"/>
            <a:ext cx="18288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2  ENGINEERING</a:t>
            </a:r>
            <a:endParaRPr lang="en-US" sz="1100" dirty="0"/>
          </a:p>
        </p:txBody>
      </p:sp>
      <p:sp>
        <p:nvSpPr>
          <p:cNvPr id="11" name="Phase 2 date"/>
          <p:cNvSpPr txBox="1"/>
          <p:nvPr/>
        </p:nvSpPr>
        <p:spPr>
          <a:xfrm>
            <a:off x="2907792" y="2578608"/>
            <a:ext cx="1828800" cy="411480"/>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[Q0 20__]</a:t>
            </a:r>
            <a:endParaRPr lang="en-US" sz="1800" dirty="0"/>
          </a:p>
        </p:txBody>
      </p:sp>
      <p:sp>
        <p:nvSpPr>
          <p:cNvPr id="12" name="Phase 2 text"/>
          <p:cNvSpPr txBox="1"/>
          <p:nvPr/>
        </p:nvSpPr>
        <p:spPr>
          <a:xfrm>
            <a:off x="2907792" y="3017520"/>
            <a:ext cx="1828800" cy="502920"/>
          </a:xfrm>
          <a:prstGeom prst="rect">
            <a:avLst/>
          </a:prstGeom>
          <a:noFill/>
          <a:ln/>
        </p:spPr>
        <p:txBody>
          <a:bodyPr wrap="square" lIns="0" tIns="0" rIns="0" bIns="0" rtlCol="0" anchor="t"/>
          <a:lstStyle/>
          <a:p>
            <a:pPr indent="0" marL="0">
              <a:buNone/>
            </a:pPr>
            <a:r>
              <a:rPr lang="en-US" sz="1200" dirty="0">
                <a:solidFill>
                  <a:schemeClr val="tx1"/>
                </a:solidFill>
              </a:rPr>
              <a:t>Design and permits</a:t>
            </a:r>
            <a:endParaRPr lang="en-US" sz="1200" dirty="0"/>
          </a:p>
        </p:txBody>
      </p:sp>
      <p:sp>
        <p:nvSpPr>
          <p:cNvPr id="13" name="Phase 3 card"/>
          <p:cNvSpPr/>
          <p:nvPr/>
        </p:nvSpPr>
        <p:spPr>
          <a:xfrm>
            <a:off x="5029200" y="2194560"/>
            <a:ext cx="2103120" cy="1417320"/>
          </a:xfrm>
          <a:prstGeom prst="rect">
            <a:avLst/>
          </a:prstGeom>
          <a:solidFill>
            <a:schemeClr val="bg1"/>
          </a:solidFill>
          <a:ln w="9525">
            <a:solidFill>
              <a:srgbClr val="DDDBD3"/>
            </a:solidFill>
            <a:prstDash val="solid"/>
          </a:ln>
        </p:spPr>
      </p:sp>
      <p:sp>
        <p:nvSpPr>
          <p:cNvPr id="14" name="Phase 3 label"/>
          <p:cNvSpPr txBox="1"/>
          <p:nvPr/>
        </p:nvSpPr>
        <p:spPr>
          <a:xfrm>
            <a:off x="5193792" y="2286000"/>
            <a:ext cx="18288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3  PROCUREMENT</a:t>
            </a:r>
            <a:endParaRPr lang="en-US" sz="1100" dirty="0"/>
          </a:p>
        </p:txBody>
      </p:sp>
      <p:sp>
        <p:nvSpPr>
          <p:cNvPr id="15" name="Phase 3 date"/>
          <p:cNvSpPr txBox="1"/>
          <p:nvPr/>
        </p:nvSpPr>
        <p:spPr>
          <a:xfrm>
            <a:off x="5193792" y="2578608"/>
            <a:ext cx="1828800" cy="411480"/>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[Q0 20__]</a:t>
            </a:r>
            <a:endParaRPr lang="en-US" sz="1800" dirty="0"/>
          </a:p>
        </p:txBody>
      </p:sp>
      <p:sp>
        <p:nvSpPr>
          <p:cNvPr id="16" name="Phase 3 text"/>
          <p:cNvSpPr txBox="1"/>
          <p:nvPr/>
        </p:nvSpPr>
        <p:spPr>
          <a:xfrm>
            <a:off x="5193792" y="3017520"/>
            <a:ext cx="1828800" cy="502920"/>
          </a:xfrm>
          <a:prstGeom prst="rect">
            <a:avLst/>
          </a:prstGeom>
          <a:noFill/>
          <a:ln/>
        </p:spPr>
        <p:txBody>
          <a:bodyPr wrap="square" lIns="0" tIns="0" rIns="0" bIns="0" rtlCol="0" anchor="t"/>
          <a:lstStyle/>
          <a:p>
            <a:pPr indent="0" marL="0">
              <a:buNone/>
            </a:pPr>
            <a:r>
              <a:rPr lang="en-US" sz="1200" dirty="0">
                <a:solidFill>
                  <a:schemeClr val="tx1"/>
                </a:solidFill>
              </a:rPr>
              <a:t>Order placed, delivery in [00] weeks</a:t>
            </a:r>
            <a:endParaRPr lang="en-US" sz="1200" dirty="0"/>
          </a:p>
        </p:txBody>
      </p:sp>
      <p:sp>
        <p:nvSpPr>
          <p:cNvPr id="17" name="Phase 4 card"/>
          <p:cNvSpPr/>
          <p:nvPr/>
        </p:nvSpPr>
        <p:spPr>
          <a:xfrm>
            <a:off x="7315200" y="2194560"/>
            <a:ext cx="2103120" cy="1417320"/>
          </a:xfrm>
          <a:prstGeom prst="rect">
            <a:avLst/>
          </a:prstGeom>
          <a:solidFill>
            <a:schemeClr val="bg1"/>
          </a:solidFill>
          <a:ln w="9525">
            <a:solidFill>
              <a:srgbClr val="DDDBD3"/>
            </a:solidFill>
            <a:prstDash val="solid"/>
          </a:ln>
        </p:spPr>
      </p:sp>
      <p:sp>
        <p:nvSpPr>
          <p:cNvPr id="18" name="Phase 4 label"/>
          <p:cNvSpPr txBox="1"/>
          <p:nvPr/>
        </p:nvSpPr>
        <p:spPr>
          <a:xfrm>
            <a:off x="7479792" y="2286000"/>
            <a:ext cx="18288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4  INSTALLATION</a:t>
            </a:r>
            <a:endParaRPr lang="en-US" sz="1100" dirty="0"/>
          </a:p>
        </p:txBody>
      </p:sp>
      <p:sp>
        <p:nvSpPr>
          <p:cNvPr id="19" name="Phase 4 date"/>
          <p:cNvSpPr txBox="1"/>
          <p:nvPr/>
        </p:nvSpPr>
        <p:spPr>
          <a:xfrm>
            <a:off x="7479792" y="2578608"/>
            <a:ext cx="1828800" cy="411480"/>
          </a:xfrm>
          <a:prstGeom prst="rect">
            <a:avLst/>
          </a:prstGeom>
          <a:noFill/>
          <a:ln/>
        </p:spPr>
        <p:txBody>
          <a:bodyPr wrap="square" lIns="0" tIns="0" rIns="0" bIns="0" rtlCol="0" anchor="ctr"/>
          <a:lstStyle/>
          <a:p>
            <a:pPr indent="0" marL="0">
              <a:buNone/>
            </a:pPr>
            <a:r>
              <a:rPr lang="en-US" sz="1800" b="1" dirty="0">
                <a:solidFill>
                  <a:schemeClr val="accent1"/>
                </a:solidFill>
                <a:latin typeface="+mj-lt" pitchFamily="34" charset="0"/>
                <a:ea typeface="+mj-lt" pitchFamily="34" charset="-122"/>
                <a:cs typeface="+mj-lt" pitchFamily="34" charset="-120"/>
              </a:rPr>
              <a:t>[Q0 20__]</a:t>
            </a:r>
            <a:endParaRPr lang="en-US" sz="1800" dirty="0"/>
          </a:p>
        </p:txBody>
      </p:sp>
      <p:sp>
        <p:nvSpPr>
          <p:cNvPr id="20" name="Phase 4 text"/>
          <p:cNvSpPr txBox="1"/>
          <p:nvPr/>
        </p:nvSpPr>
        <p:spPr>
          <a:xfrm>
            <a:off x="7479792" y="3017520"/>
            <a:ext cx="1828800" cy="502920"/>
          </a:xfrm>
          <a:prstGeom prst="rect">
            <a:avLst/>
          </a:prstGeom>
          <a:noFill/>
          <a:ln/>
        </p:spPr>
        <p:txBody>
          <a:bodyPr wrap="square" lIns="0" tIns="0" rIns="0" bIns="0" rtlCol="0" anchor="t"/>
          <a:lstStyle/>
          <a:p>
            <a:pPr indent="0" marL="0">
              <a:buNone/>
            </a:pPr>
            <a:r>
              <a:rPr lang="en-US" sz="1200" dirty="0">
                <a:solidFill>
                  <a:schemeClr val="tx1"/>
                </a:solidFill>
              </a:rPr>
              <a:t>Shutdown window: [dates]</a:t>
            </a:r>
            <a:endParaRPr lang="en-US" sz="1200" dirty="0"/>
          </a:p>
        </p:txBody>
      </p:sp>
      <p:sp>
        <p:nvSpPr>
          <p:cNvPr id="21" name="Phase 5 card"/>
          <p:cNvSpPr/>
          <p:nvPr/>
        </p:nvSpPr>
        <p:spPr>
          <a:xfrm>
            <a:off x="9601200" y="2194560"/>
            <a:ext cx="2103120" cy="1417320"/>
          </a:xfrm>
          <a:prstGeom prst="rect">
            <a:avLst/>
          </a:prstGeom>
          <a:solidFill>
            <a:schemeClr val="accent1"/>
          </a:solidFill>
          <a:ln w="9525">
            <a:solidFill>
              <a:srgbClr val="DDDBD3"/>
            </a:solidFill>
            <a:prstDash val="solid"/>
          </a:ln>
        </p:spPr>
      </p:sp>
      <p:sp>
        <p:nvSpPr>
          <p:cNvPr id="22" name="Phase 5 label"/>
          <p:cNvSpPr txBox="1"/>
          <p:nvPr/>
        </p:nvSpPr>
        <p:spPr>
          <a:xfrm>
            <a:off x="9765792" y="2286000"/>
            <a:ext cx="1828800" cy="274320"/>
          </a:xfrm>
          <a:prstGeom prst="rect">
            <a:avLst/>
          </a:prstGeom>
          <a:noFill/>
          <a:ln/>
        </p:spPr>
        <p:txBody>
          <a:bodyPr wrap="square" lIns="0" tIns="0" rIns="0" bIns="0" rtlCol="0" anchor="ctr"/>
          <a:lstStyle/>
          <a:p>
            <a:pPr indent="0" marL="0">
              <a:buNone/>
            </a:pPr>
            <a:r>
              <a:rPr lang="en-US" sz="1100" b="1" spc="100" kern="0" dirty="0">
                <a:solidFill>
                  <a:schemeClr val="bg1"/>
                </a:solidFill>
              </a:rPr>
              <a:t>5  FULL RUN RATE</a:t>
            </a:r>
            <a:endParaRPr lang="en-US" sz="1100" dirty="0"/>
          </a:p>
        </p:txBody>
      </p:sp>
      <p:sp>
        <p:nvSpPr>
          <p:cNvPr id="23" name="Phase 5 date"/>
          <p:cNvSpPr txBox="1"/>
          <p:nvPr/>
        </p:nvSpPr>
        <p:spPr>
          <a:xfrm>
            <a:off x="9765792" y="2578608"/>
            <a:ext cx="1828800" cy="411480"/>
          </a:xfrm>
          <a:prstGeom prst="rect">
            <a:avLst/>
          </a:prstGeom>
          <a:noFill/>
          <a:ln/>
        </p:spPr>
        <p:txBody>
          <a:bodyPr wrap="square" lIns="0" tIns="0" rIns="0" bIns="0" rtlCol="0" anchor="ctr"/>
          <a:lstStyle/>
          <a:p>
            <a:pPr indent="0" marL="0">
              <a:buNone/>
            </a:pPr>
            <a:r>
              <a:rPr lang="en-US" sz="1800" b="1" dirty="0">
                <a:solidFill>
                  <a:schemeClr val="bg1"/>
                </a:solidFill>
                <a:latin typeface="+mj-lt" pitchFamily="34" charset="0"/>
                <a:ea typeface="+mj-lt" pitchFamily="34" charset="-122"/>
                <a:cs typeface="+mj-lt" pitchFamily="34" charset="-120"/>
              </a:rPr>
              <a:t>[20__]</a:t>
            </a:r>
            <a:endParaRPr lang="en-US" sz="1800" dirty="0"/>
          </a:p>
        </p:txBody>
      </p:sp>
      <p:sp>
        <p:nvSpPr>
          <p:cNvPr id="24" name="Phase 5 text"/>
          <p:cNvSpPr txBox="1"/>
          <p:nvPr/>
        </p:nvSpPr>
        <p:spPr>
          <a:xfrm>
            <a:off x="9765792" y="3017520"/>
            <a:ext cx="1828800" cy="502920"/>
          </a:xfrm>
          <a:prstGeom prst="rect">
            <a:avLst/>
          </a:prstGeom>
          <a:noFill/>
          <a:ln/>
        </p:spPr>
        <p:txBody>
          <a:bodyPr wrap="square" lIns="0" tIns="0" rIns="0" bIns="0" rtlCol="0" anchor="t"/>
          <a:lstStyle/>
          <a:p>
            <a:pPr indent="0" marL="0">
              <a:buNone/>
            </a:pPr>
            <a:r>
              <a:rPr lang="en-US" sz="1200" dirty="0">
                <a:solidFill>
                  <a:schemeClr val="bg1"/>
                </a:solidFill>
              </a:rPr>
              <a:t>= start year in the tracker</a:t>
            </a:r>
            <a:endParaRPr lang="en-US" sz="1200" dirty="0"/>
          </a:p>
        </p:txBody>
      </p:sp>
      <p:sp>
        <p:nvSpPr>
          <p:cNvPr id="25" name="Plan card 1"/>
          <p:cNvSpPr/>
          <p:nvPr/>
        </p:nvSpPr>
        <p:spPr>
          <a:xfrm>
            <a:off x="457200" y="3886200"/>
            <a:ext cx="3627425" cy="2194560"/>
          </a:xfrm>
          <a:prstGeom prst="rect">
            <a:avLst/>
          </a:prstGeom>
          <a:solidFill>
            <a:schemeClr val="bg1"/>
          </a:solidFill>
          <a:ln w="9525">
            <a:solidFill>
              <a:srgbClr val="DDDBD3"/>
            </a:solidFill>
            <a:prstDash val="solid"/>
          </a:ln>
        </p:spPr>
      </p:sp>
      <p:sp>
        <p:nvSpPr>
          <p:cNvPr id="26" name="Plan eyebrow 1"/>
          <p:cNvSpPr txBox="1"/>
          <p:nvPr/>
        </p:nvSpPr>
        <p:spPr>
          <a:xfrm>
            <a:off x="640080" y="3995928"/>
            <a:ext cx="3255264"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TEAM</a:t>
            </a:r>
            <a:endParaRPr lang="en-US" sz="1100" dirty="0"/>
          </a:p>
        </p:txBody>
      </p:sp>
      <p:sp>
        <p:nvSpPr>
          <p:cNvPr id="27" name="Plan text 1"/>
          <p:cNvSpPr txBox="1"/>
          <p:nvPr/>
        </p:nvSpPr>
        <p:spPr>
          <a:xfrm>
            <a:off x="640080" y="4370832"/>
            <a:ext cx="3255264" cy="1645920"/>
          </a:xfrm>
          <a:prstGeom prst="rect">
            <a:avLst/>
          </a:prstGeom>
          <a:noFill/>
          <a:ln/>
        </p:spPr>
        <p:txBody>
          <a:bodyPr wrap="square" lIns="0" tIns="0" rIns="0" bIns="0" rtlCol="0" anchor="t"/>
          <a:lstStyle/>
          <a:p>
            <a:pPr indent="0" marL="0">
              <a:spcAft>
                <a:spcPts val="800"/>
              </a:spcAft>
              <a:buNone/>
            </a:pPr>
            <a:r>
              <a:rPr lang="en-US" sz="1250" b="1" dirty="0">
                <a:solidFill>
                  <a:schemeClr val="tx1"/>
                </a:solidFill>
              </a:rPr>
              <a:t>Project owner: </a:t>
            </a:r>
            <a:pPr indent="0" marL="0">
              <a:spcAft>
                <a:spcPts val="800"/>
              </a:spcAft>
              <a:buNone/>
            </a:pPr>
            <a:r>
              <a:rPr lang="en-US" sz="1250" dirty="0">
                <a:solidFill>
                  <a:schemeClr val="tx1"/>
                </a:solidFill>
              </a:rPr>
              <a:t>[name, as in the tracker]</a:t>
            </a:r>
            <a:endParaRPr lang="en-US" sz="1250" dirty="0"/>
          </a:p>
          <a:p>
            <a:pPr indent="0" marL="0">
              <a:spcAft>
                <a:spcPts val="800"/>
              </a:spcAft>
              <a:buNone/>
            </a:pPr>
            <a:r>
              <a:rPr lang="en-US" sz="1250" b="1" dirty="0">
                <a:solidFill>
                  <a:schemeClr val="tx1"/>
                </a:solidFill>
              </a:rPr>
              <a:t>Project lead: </a:t>
            </a:r>
            <a:pPr indent="0" marL="0">
              <a:spcAft>
                <a:spcPts val="800"/>
              </a:spcAft>
              <a:buNone/>
            </a:pPr>
            <a:r>
              <a:rPr lang="en-US" sz="1250" dirty="0">
                <a:solidFill>
                  <a:schemeClr val="tx1"/>
                </a:solidFill>
              </a:rPr>
              <a:t>[name]</a:t>
            </a:r>
            <a:endParaRPr lang="en-US" sz="1250" dirty="0"/>
          </a:p>
          <a:p>
            <a:pPr indent="0" marL="0">
              <a:spcAft>
                <a:spcPts val="800"/>
              </a:spcAft>
              <a:buNone/>
            </a:pPr>
            <a:r>
              <a:rPr lang="en-US" sz="1250" b="1" dirty="0">
                <a:solidFill>
                  <a:schemeClr val="tx1"/>
                </a:solidFill>
              </a:rPr>
              <a:t>Supplier: </a:t>
            </a:r>
            <a:pPr indent="0" marL="0">
              <a:spcAft>
                <a:spcPts val="800"/>
              </a:spcAft>
              <a:buNone/>
            </a:pPr>
            <a:r>
              <a:rPr lang="en-US" sz="1250" dirty="0">
                <a:solidFill>
                  <a:schemeClr val="tx1"/>
                </a:solidFill>
              </a:rPr>
              <a:t>[name, status of the offer]</a:t>
            </a:r>
            <a:endParaRPr lang="en-US" sz="1250" dirty="0"/>
          </a:p>
        </p:txBody>
      </p:sp>
      <p:sp>
        <p:nvSpPr>
          <p:cNvPr id="28" name="Plan card 2"/>
          <p:cNvSpPr/>
          <p:nvPr/>
        </p:nvSpPr>
        <p:spPr>
          <a:xfrm>
            <a:off x="4267505" y="3886200"/>
            <a:ext cx="3627425" cy="2194560"/>
          </a:xfrm>
          <a:prstGeom prst="rect">
            <a:avLst/>
          </a:prstGeom>
          <a:solidFill>
            <a:schemeClr val="bg1"/>
          </a:solidFill>
          <a:ln w="9525">
            <a:solidFill>
              <a:srgbClr val="DDDBD3"/>
            </a:solidFill>
            <a:prstDash val="solid"/>
          </a:ln>
        </p:spPr>
      </p:sp>
      <p:sp>
        <p:nvSpPr>
          <p:cNvPr id="29" name="Plan eyebrow 2"/>
          <p:cNvSpPr txBox="1"/>
          <p:nvPr/>
        </p:nvSpPr>
        <p:spPr>
          <a:xfrm>
            <a:off x="4450385" y="3995928"/>
            <a:ext cx="3255264"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PRODUCTION</a:t>
            </a:r>
            <a:endParaRPr lang="en-US" sz="1100" dirty="0"/>
          </a:p>
        </p:txBody>
      </p:sp>
      <p:sp>
        <p:nvSpPr>
          <p:cNvPr id="30" name="Plan text 2"/>
          <p:cNvSpPr txBox="1"/>
          <p:nvPr/>
        </p:nvSpPr>
        <p:spPr>
          <a:xfrm>
            <a:off x="4450385" y="4370832"/>
            <a:ext cx="3255264" cy="1645920"/>
          </a:xfrm>
          <a:prstGeom prst="rect">
            <a:avLst/>
          </a:prstGeom>
          <a:noFill/>
          <a:ln/>
        </p:spPr>
        <p:txBody>
          <a:bodyPr wrap="square" lIns="0" tIns="0" rIns="0" bIns="0" rtlCol="0" anchor="t"/>
          <a:lstStyle/>
          <a:p>
            <a:pPr indent="0" marL="0">
              <a:spcAft>
                <a:spcPts val="800"/>
              </a:spcAft>
              <a:buNone/>
            </a:pPr>
            <a:r>
              <a:rPr lang="en-US" sz="1250" b="1" dirty="0">
                <a:solidFill>
                  <a:schemeClr val="tx1"/>
                </a:solidFill>
              </a:rPr>
              <a:t>Downtime: </a:t>
            </a:r>
            <a:pPr indent="0" marL="0">
              <a:spcAft>
                <a:spcPts val="800"/>
              </a:spcAft>
              <a:buNone/>
            </a:pPr>
            <a:r>
              <a:rPr lang="en-US" sz="1250" dirty="0">
                <a:solidFill>
                  <a:schemeClr val="tx1"/>
                </a:solidFill>
              </a:rPr>
              <a:t>[00] days in [month 20__]</a:t>
            </a:r>
            <a:endParaRPr lang="en-US" sz="1250" dirty="0"/>
          </a:p>
          <a:p>
            <a:pPr indent="0" marL="0">
              <a:spcAft>
                <a:spcPts val="800"/>
              </a:spcAft>
              <a:buNone/>
            </a:pPr>
            <a:r>
              <a:rPr lang="en-US" sz="1250" b="1" dirty="0">
                <a:solidFill>
                  <a:schemeClr val="tx1"/>
                </a:solidFill>
              </a:rPr>
              <a:t>Lines affected: </a:t>
            </a:r>
            <a:pPr indent="0" marL="0">
              <a:spcAft>
                <a:spcPts val="800"/>
              </a:spcAft>
              <a:buNone/>
            </a:pPr>
            <a:r>
              <a:rPr lang="en-US" sz="1250" dirty="0">
                <a:solidFill>
                  <a:schemeClr val="tx1"/>
                </a:solidFill>
              </a:rPr>
              <a:t>[which]</a:t>
            </a:r>
            <a:endParaRPr lang="en-US" sz="1250" dirty="0"/>
          </a:p>
          <a:p>
            <a:pPr indent="0" marL="0">
              <a:spcAft>
                <a:spcPts val="800"/>
              </a:spcAft>
              <a:buNone/>
            </a:pPr>
            <a:r>
              <a:rPr lang="en-US" sz="1250" b="1" dirty="0">
                <a:solidFill>
                  <a:schemeClr val="tx1"/>
                </a:solidFill>
              </a:rPr>
              <a:t>Output covered by: </a:t>
            </a:r>
            <a:pPr indent="0" marL="0">
              <a:spcAft>
                <a:spcPts val="800"/>
              </a:spcAft>
              <a:buNone/>
            </a:pPr>
            <a:r>
              <a:rPr lang="en-US" sz="1250" dirty="0">
                <a:solidFill>
                  <a:schemeClr val="tx1"/>
                </a:solidFill>
              </a:rPr>
              <a:t>[stock, shifts, other lines]</a:t>
            </a:r>
            <a:endParaRPr lang="en-US" sz="1250" dirty="0"/>
          </a:p>
        </p:txBody>
      </p:sp>
      <p:sp>
        <p:nvSpPr>
          <p:cNvPr id="31" name="Plan card 3"/>
          <p:cNvSpPr/>
          <p:nvPr/>
        </p:nvSpPr>
        <p:spPr>
          <a:xfrm>
            <a:off x="8077810" y="3886200"/>
            <a:ext cx="3627425" cy="2194560"/>
          </a:xfrm>
          <a:prstGeom prst="rect">
            <a:avLst/>
          </a:prstGeom>
          <a:solidFill>
            <a:schemeClr val="bg1"/>
          </a:solidFill>
          <a:ln w="9525">
            <a:solidFill>
              <a:srgbClr val="DDDBD3"/>
            </a:solidFill>
            <a:prstDash val="solid"/>
          </a:ln>
        </p:spPr>
      </p:sp>
      <p:sp>
        <p:nvSpPr>
          <p:cNvPr id="32" name="Plan eyebrow 3"/>
          <p:cNvSpPr txBox="1"/>
          <p:nvPr/>
        </p:nvSpPr>
        <p:spPr>
          <a:xfrm>
            <a:off x="8260690" y="3995928"/>
            <a:ext cx="3255264"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PERMITS AND DEPENDENCIES</a:t>
            </a:r>
            <a:endParaRPr lang="en-US" sz="1100" dirty="0"/>
          </a:p>
        </p:txBody>
      </p:sp>
      <p:sp>
        <p:nvSpPr>
          <p:cNvPr id="33" name="Plan text 3"/>
          <p:cNvSpPr txBox="1"/>
          <p:nvPr/>
        </p:nvSpPr>
        <p:spPr>
          <a:xfrm>
            <a:off x="8260690" y="4370832"/>
            <a:ext cx="3255264" cy="1645920"/>
          </a:xfrm>
          <a:prstGeom prst="rect">
            <a:avLst/>
          </a:prstGeom>
          <a:noFill/>
          <a:ln/>
        </p:spPr>
        <p:txBody>
          <a:bodyPr wrap="square" lIns="0" tIns="0" rIns="0" bIns="0" rtlCol="0" anchor="t"/>
          <a:lstStyle/>
          <a:p>
            <a:pPr indent="0" marL="0">
              <a:spcAft>
                <a:spcPts val="800"/>
              </a:spcAft>
              <a:buNone/>
            </a:pPr>
            <a:r>
              <a:rPr lang="en-US" sz="1250" b="1" dirty="0">
                <a:solidFill>
                  <a:schemeClr val="tx1"/>
                </a:solidFill>
              </a:rPr>
              <a:t>Permits: </a:t>
            </a:r>
            <a:pPr indent="0" marL="0">
              <a:spcAft>
                <a:spcPts val="800"/>
              </a:spcAft>
              <a:buNone/>
            </a:pPr>
            <a:r>
              <a:rPr lang="en-US" sz="1250" dirty="0">
                <a:solidFill>
                  <a:schemeClr val="tx1"/>
                </a:solidFill>
              </a:rPr>
              <a:t>[water authority, discharge permit]</a:t>
            </a:r>
            <a:endParaRPr lang="en-US" sz="1250" dirty="0"/>
          </a:p>
          <a:p>
            <a:pPr indent="0" marL="0">
              <a:spcAft>
                <a:spcPts val="800"/>
              </a:spcAft>
              <a:buNone/>
            </a:pPr>
            <a:r>
              <a:rPr lang="en-US" sz="1250" b="1" dirty="0">
                <a:solidFill>
                  <a:schemeClr val="tx1"/>
                </a:solidFill>
              </a:rPr>
              <a:t>Quality release: </a:t>
            </a:r>
            <a:pPr indent="0" marL="0">
              <a:spcAft>
                <a:spcPts val="800"/>
              </a:spcAft>
              <a:buNone/>
            </a:pPr>
            <a:r>
              <a:rPr lang="en-US" sz="1250" dirty="0">
                <a:solidFill>
                  <a:schemeClr val="tx1"/>
                </a:solidFill>
              </a:rPr>
              <a:t>[who signs off water quality and hygiene]</a:t>
            </a:r>
            <a:endParaRPr lang="en-US" sz="1250" dirty="0"/>
          </a:p>
          <a:p>
            <a:pPr indent="0" marL="0">
              <a:spcAft>
                <a:spcPts val="800"/>
              </a:spcAft>
              <a:buNone/>
            </a:pPr>
            <a:r>
              <a:rPr lang="en-US" sz="1250" b="1" dirty="0">
                <a:solidFill>
                  <a:schemeClr val="tx1"/>
                </a:solidFill>
              </a:rPr>
              <a:t>Depends on: </a:t>
            </a:r>
            <a:pPr indent="0" marL="0">
              <a:spcAft>
                <a:spcPts val="800"/>
              </a:spcAft>
              <a:buNone/>
            </a:pPr>
            <a:r>
              <a:rPr lang="en-US" sz="1250" dirty="0">
                <a:solidFill>
                  <a:schemeClr val="tx1"/>
                </a:solidFill>
              </a:rPr>
              <a:t>[other projects, funding decision]</a:t>
            </a:r>
            <a:endParaRPr lang="en-US" sz="1250" dirty="0"/>
          </a:p>
        </p:txBody>
      </p:sp>
      <p:sp>
        <p:nvSpPr>
          <p:cNvPr id="25" name="Slide Number Placeholder 0"/>
          <p:cNvSpPr>
            <a:spLocks noGrp="1"/>
          </p:cNvSpPr>
          <p:nvPr>
            <p:ph type="sldNum" sz="quarter" idx="4294967295"/>
          </p:nvPr>
        </p:nvSpPr>
        <p:spPr>
          <a:xfrm>
            <a:off x="11402568" y="6400800"/>
            <a:ext cx="329184"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4" type="body" hasCustomPrompt="1"/>
          </p:nvPr>
        </p:nvSpPr>
        <p:spPr>
          <a:xfrm>
            <a:off x="457200" y="941832"/>
            <a:ext cx="1124712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RISKS AND SIDE EFFECTS</a:t>
            </a:r>
            <a:endParaRPr lang="en-US" sz="1100" dirty="0"/>
          </a:p>
        </p:txBody>
      </p:sp>
      <p:sp>
        <p:nvSpPr>
          <p:cNvPr id="3" name="Text 3"/>
          <p:cNvSpPr/>
          <p:nvPr>
            <p:ph idx="105" type="title" hasCustomPrompt="1"/>
          </p:nvPr>
        </p:nvSpPr>
        <p:spPr>
          <a:xfrm>
            <a:off x="457200" y="1188720"/>
            <a:ext cx="11274552" cy="640080"/>
          </a:xfrm>
          <a:prstGeom prst="rect">
            <a:avLst/>
          </a:prstGeom>
          <a:noFill/>
          <a:ln/>
        </p:spPr>
        <p:txBody>
          <a:bodyPr wrap="square" lIns="0" tIns="0" rIns="0" bIns="0" rtlCol="0" anchor="ctr"/>
          <a:lstStyle/>
          <a:p>
            <a:pPr algn="l" indent="0" marL="0">
              <a:buNone/>
            </a:pPr>
            <a:r>
              <a:rPr lang="en-US" sz="2800" b="1" dirty="0">
                <a:solidFill>
                  <a:schemeClr val="accent1"/>
                </a:solidFill>
              </a:rPr>
              <a:t>What could go wrong, and what else changes</a:t>
            </a:r>
            <a:endParaRPr lang="en-US" sz="2800" dirty="0"/>
          </a:p>
        </p:txBody>
      </p:sp>
      <p:graphicFrame>
        <p:nvGraphicFramePr>
          <p:cNvPr id="11" name="Risk table"/>
          <p:cNvGraphicFramePr>
            <a:graphicFrameLocks noGrp="1"/>
          </p:cNvGraphicFramePr>
          <p:nvPr>
            <p:extLst>
              <p:ext uri="{D42A27DB-BD31-4B8C-83A1-F6EECF244321}">
                <p14:modId xmlns:p14="http://schemas.microsoft.com/office/powerpoint/2010/main" val="1579011935"/>
              </p:ext>
            </p:extLst>
          </p:nvPr>
        </p:nvGraphicFramePr>
        <p:xfrm>
          <a:off x="457200" y="2194560"/>
          <a:ext cx="11274552" cy="914400"/>
        </p:xfrm>
        <a:graphic>
          <a:graphicData uri="http://schemas.openxmlformats.org/drawingml/2006/table">
            <a:tbl>
              <a:tblPr/>
              <a:tblGrid>
                <a:gridCol w="3291840"/>
                <a:gridCol w="731520"/>
                <a:gridCol w="2743200"/>
                <a:gridCol w="3044952"/>
                <a:gridCol w="1463040"/>
              </a:tblGrid>
              <a:tr h="365760">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Risk</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latin typeface="+mj-lt" pitchFamily="34" charset="0"/>
                          <a:ea typeface="+mj-lt" pitchFamily="34" charset="-122"/>
                          <a:cs typeface="+mj-lt" pitchFamily="34" charset="-120"/>
                        </a:rPr>
                        <a:t>Level</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Effect on impact or cost</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What we do about it</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Owner</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r>
              <a:tr h="512064">
                <a:tc>
                  <a:txBody>
                    <a:bodyPr/>
                    <a:lstStyle/>
                    <a:p>
                      <a:pPr algn="l" indent="0" marL="0">
                        <a:buNone/>
                      </a:pPr>
                      <a:r>
                        <a:rPr lang="en-US" sz="1200" dirty="0">
                          <a:solidFill>
                            <a:schemeClr val="tx1"/>
                          </a:solidFill>
                        </a:rPr>
                        <a:t>Technical: [recovery rate below plan]</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accent5"/>
                          </a:solidFill>
                        </a:rPr>
                        <a: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[What it would change, in figures]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[Mitigation, and who decides]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[Name]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512064">
                <a:tc>
                  <a:txBody>
                    <a:bodyPr/>
                    <a:lstStyle/>
                    <a:p>
                      <a:pPr algn="l" indent="0" marL="0">
                        <a:buNone/>
                      </a:pPr>
                      <a:r>
                        <a:rPr lang="en-US" sz="1200" dirty="0">
                          <a:solidFill>
                            <a:schemeClr val="tx1"/>
                          </a:solidFill>
                        </a:rPr>
                        <a:t>Quality and hygiene: [water quality for the product]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accent5"/>
                          </a:solidFill>
                        </a:rPr>
                        <a: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[What it would change, in figures]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[Mitigation, and who decides]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[Name]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r h="512064">
                <a:tc>
                  <a:txBody>
                    <a:bodyPr/>
                    <a:lstStyle/>
                    <a:p>
                      <a:pPr algn="l" indent="0" marL="0">
                        <a:buNone/>
                      </a:pPr>
                      <a:r>
                        <a:rPr lang="en-US" sz="1200" dirty="0">
                          <a:solidFill>
                            <a:schemeClr val="tx1"/>
                          </a:solidFill>
                        </a:rPr>
                        <a:t>Financial: [cost overrun, fees lower than assumed]</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accent5"/>
                          </a:solidFill>
                        </a:rPr>
                        <a: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[What it would change, in figures]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[Mitigation, and who decides]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[Name]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512064">
                <a:tc>
                  <a:txBody>
                    <a:bodyPr/>
                    <a:lstStyle/>
                    <a:p>
                      <a:pPr algn="l" indent="0" marL="0">
                        <a:buNone/>
                      </a:pPr>
                      <a:r>
                        <a:rPr lang="en-US" sz="1200" dirty="0">
                          <a:solidFill>
                            <a:schemeClr val="tx1"/>
                          </a:solidFill>
                        </a:rPr>
                        <a:t>Permits: [approval by the water authority late]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accent5"/>
                          </a:solidFill>
                        </a:rPr>
                        <a: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[What it would change, in figures]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[Mitigation, and who decides]</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[Name]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bl>
          </a:graphicData>
        </a:graphic>
      </p:graphicFrame>
      <p:sp>
        <p:nvSpPr>
          <p:cNvPr id="6" name="Risk legend"/>
          <p:cNvSpPr txBox="1"/>
          <p:nvPr/>
        </p:nvSpPr>
        <p:spPr>
          <a:xfrm>
            <a:off x="457200" y="4663440"/>
            <a:ext cx="11247120" cy="274320"/>
          </a:xfrm>
          <a:prstGeom prst="rect">
            <a:avLst/>
          </a:prstGeom>
          <a:noFill/>
          <a:ln/>
        </p:spPr>
        <p:txBody>
          <a:bodyPr wrap="square" lIns="0" tIns="0" rIns="0" bIns="0" rtlCol="0" anchor="ctr"/>
          <a:lstStyle/>
          <a:p>
            <a:pPr indent="0" marL="0">
              <a:buNone/>
            </a:pPr>
            <a:r>
              <a:rPr lang="en-US" sz="1000" dirty="0">
                <a:solidFill>
                  <a:srgbClr val="6B6B6B"/>
                </a:solidFill>
              </a:rPr>
              <a:t>Level:  </a:t>
            </a:r>
            <a:pPr indent="0" marL="0">
              <a:buNone/>
            </a:pPr>
            <a:r>
              <a:rPr lang="en-US" sz="1000" dirty="0">
                <a:solidFill>
                  <a:schemeClr val="accent4"/>
                </a:solidFill>
              </a:rPr>
              <a:t>● </a:t>
            </a:r>
            <a:pPr indent="0" marL="0">
              <a:buNone/>
            </a:pPr>
            <a:r>
              <a:rPr lang="en-US" sz="1000" dirty="0">
                <a:solidFill>
                  <a:srgbClr val="6B6B6B"/>
                </a:solidFill>
              </a:rPr>
              <a:t>low    </a:t>
            </a:r>
            <a:pPr indent="0" marL="0">
              <a:buNone/>
            </a:pPr>
            <a:r>
              <a:rPr lang="en-US" sz="1000" dirty="0">
                <a:solidFill>
                  <a:schemeClr val="accent5"/>
                </a:solidFill>
              </a:rPr>
              <a:t>● </a:t>
            </a:r>
            <a:pPr indent="0" marL="0">
              <a:buNone/>
            </a:pPr>
            <a:r>
              <a:rPr lang="en-US" sz="1000" dirty="0">
                <a:solidFill>
                  <a:srgbClr val="6B6B6B"/>
                </a:solidFill>
              </a:rPr>
              <a:t>medium    </a:t>
            </a:r>
            <a:pPr indent="0" marL="0">
              <a:buNone/>
            </a:pPr>
            <a:r>
              <a:rPr lang="en-US" sz="1000" dirty="0">
                <a:solidFill>
                  <a:schemeClr val="accent6"/>
                </a:solidFill>
              </a:rPr>
              <a:t>● </a:t>
            </a:r>
            <a:pPr indent="0" marL="0">
              <a:buNone/>
            </a:pPr>
            <a:r>
              <a:rPr lang="en-US" sz="1000" dirty="0">
                <a:solidFill>
                  <a:srgbClr val="6B6B6B"/>
                </a:solidFill>
              </a:rPr>
              <a:t>high.  Recolour the dot for each risk.</a:t>
            </a:r>
            <a:endParaRPr lang="en-US" sz="1000" dirty="0"/>
          </a:p>
        </p:txBody>
      </p:sp>
      <p:sp>
        <p:nvSpPr>
          <p:cNvPr id="7" name="Side effects card"/>
          <p:cNvSpPr/>
          <p:nvPr/>
        </p:nvSpPr>
        <p:spPr>
          <a:xfrm>
            <a:off x="457200" y="5029200"/>
            <a:ext cx="11274552" cy="1097280"/>
          </a:xfrm>
          <a:prstGeom prst="rect">
            <a:avLst/>
          </a:prstGeom>
          <a:solidFill>
            <a:schemeClr val="bg1"/>
          </a:solidFill>
          <a:ln w="9525">
            <a:solidFill>
              <a:srgbClr val="DDDBD3"/>
            </a:solidFill>
            <a:prstDash val="solid"/>
          </a:ln>
        </p:spPr>
      </p:sp>
      <p:sp>
        <p:nvSpPr>
          <p:cNvPr id="8" name="Side effects eyebrow"/>
          <p:cNvSpPr txBox="1"/>
          <p:nvPr/>
        </p:nvSpPr>
        <p:spPr>
          <a:xfrm>
            <a:off x="640080" y="5102352"/>
            <a:ext cx="731520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SIDE EFFECTS ON THE OTHER TARGETS</a:t>
            </a:r>
            <a:endParaRPr lang="en-US" sz="1100" dirty="0"/>
          </a:p>
        </p:txBody>
      </p:sp>
      <p:sp>
        <p:nvSpPr>
          <p:cNvPr id="9" name="Side effect 1"/>
          <p:cNvSpPr txBox="1"/>
          <p:nvPr/>
        </p:nvSpPr>
        <p:spPr>
          <a:xfrm>
            <a:off x="640080" y="5422392"/>
            <a:ext cx="3520440" cy="640080"/>
          </a:xfrm>
          <a:prstGeom prst="rect">
            <a:avLst/>
          </a:prstGeom>
          <a:noFill/>
          <a:ln/>
        </p:spPr>
        <p:txBody>
          <a:bodyPr wrap="square" lIns="0" tIns="0" rIns="0" bIns="0" rtlCol="0" anchor="t"/>
          <a:lstStyle/>
          <a:p>
            <a:pPr indent="0" marL="0">
              <a:spcAft>
                <a:spcPts val="700"/>
              </a:spcAft>
              <a:buNone/>
            </a:pPr>
            <a:r>
              <a:rPr lang="en-US" sz="1250" b="1" dirty="0">
                <a:solidFill>
                  <a:schemeClr val="tx1"/>
                </a:solidFill>
              </a:rPr>
              <a:t>Emissions: </a:t>
            </a:r>
            <a:pPr indent="0" marL="0">
              <a:spcAft>
                <a:spcPts val="700"/>
              </a:spcAft>
              <a:buNone/>
            </a:pPr>
            <a:r>
              <a:rPr lang="en-US" sz="1250" dirty="0">
                <a:solidFill>
                  <a:schemeClr val="tx1"/>
                </a:solidFill>
              </a:rPr>
              <a:t>[energy for pumps and treatment, in tCO₂e a year]</a:t>
            </a:r>
            <a:endParaRPr lang="en-US" sz="1250" dirty="0"/>
          </a:p>
        </p:txBody>
      </p:sp>
      <p:sp>
        <p:nvSpPr>
          <p:cNvPr id="10" name="Side effect 2"/>
          <p:cNvSpPr txBox="1"/>
          <p:nvPr/>
        </p:nvSpPr>
        <p:spPr>
          <a:xfrm>
            <a:off x="4343400" y="5422392"/>
            <a:ext cx="3520440" cy="640080"/>
          </a:xfrm>
          <a:prstGeom prst="rect">
            <a:avLst/>
          </a:prstGeom>
          <a:noFill/>
          <a:ln/>
        </p:spPr>
        <p:txBody>
          <a:bodyPr wrap="square" lIns="0" tIns="0" rIns="0" bIns="0" rtlCol="0" anchor="t"/>
          <a:lstStyle/>
          <a:p>
            <a:pPr indent="0" marL="0">
              <a:spcAft>
                <a:spcPts val="700"/>
              </a:spcAft>
              <a:buNone/>
            </a:pPr>
            <a:r>
              <a:rPr lang="en-US" sz="1250" b="1" dirty="0">
                <a:solidFill>
                  <a:schemeClr val="tx1"/>
                </a:solidFill>
              </a:rPr>
              <a:t>Waste: </a:t>
            </a:r>
            <a:pPr indent="0" marL="0">
              <a:spcAft>
                <a:spcPts val="700"/>
              </a:spcAft>
              <a:buNone/>
            </a:pPr>
            <a:r>
              <a:rPr lang="en-US" sz="1250" dirty="0">
                <a:solidFill>
                  <a:schemeClr val="tx1"/>
                </a:solidFill>
              </a:rPr>
              <a:t>[sludge, filters, chemicals, in t a year]</a:t>
            </a:r>
            <a:endParaRPr lang="en-US" sz="1250" dirty="0"/>
          </a:p>
        </p:txBody>
      </p:sp>
      <p:sp>
        <p:nvSpPr>
          <p:cNvPr id="11" name="Side effect 3"/>
          <p:cNvSpPr txBox="1"/>
          <p:nvPr/>
        </p:nvSpPr>
        <p:spPr>
          <a:xfrm>
            <a:off x="8046720" y="5422392"/>
            <a:ext cx="3520440" cy="640080"/>
          </a:xfrm>
          <a:prstGeom prst="rect">
            <a:avLst/>
          </a:prstGeom>
          <a:noFill/>
          <a:ln/>
        </p:spPr>
        <p:txBody>
          <a:bodyPr wrap="square" lIns="0" tIns="0" rIns="0" bIns="0" rtlCol="0" anchor="t"/>
          <a:lstStyle/>
          <a:p>
            <a:pPr indent="0" marL="0">
              <a:spcAft>
                <a:spcPts val="700"/>
              </a:spcAft>
              <a:buNone/>
            </a:pPr>
            <a:r>
              <a:rPr lang="en-US" sz="1250" b="1" dirty="0">
                <a:solidFill>
                  <a:schemeClr val="tx1"/>
                </a:solidFill>
              </a:rPr>
              <a:t>Product: </a:t>
            </a:r>
            <a:pPr indent="0" marL="0">
              <a:spcAft>
                <a:spcPts val="700"/>
              </a:spcAft>
              <a:buNone/>
            </a:pPr>
            <a:r>
              <a:rPr lang="en-US" sz="1250" dirty="0">
                <a:solidFill>
                  <a:schemeClr val="tx1"/>
                </a:solidFill>
              </a:rPr>
              <a:t>[quality, hygiene, cleaning cycles]</a:t>
            </a:r>
            <a:endParaRPr lang="en-US" sz="1250" dirty="0"/>
          </a:p>
        </p:txBody>
      </p:sp>
      <p:sp>
        <p:nvSpPr>
          <p:cNvPr id="25" name="Slide Number Placeholder 0"/>
          <p:cNvSpPr>
            <a:spLocks noGrp="1"/>
          </p:cNvSpPr>
          <p:nvPr>
            <p:ph type="sldNum" sz="quarter" idx="4294967295"/>
          </p:nvPr>
        </p:nvSpPr>
        <p:spPr>
          <a:xfrm>
            <a:off x="11402568" y="6400800"/>
            <a:ext cx="329184"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4" type="body" hasCustomPrompt="1"/>
          </p:nvPr>
        </p:nvSpPr>
        <p:spPr>
          <a:xfrm>
            <a:off x="457200" y="941832"/>
            <a:ext cx="1124712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MEASUREMENT AND VERIFICATION</a:t>
            </a:r>
            <a:endParaRPr lang="en-US" sz="1100" dirty="0"/>
          </a:p>
        </p:txBody>
      </p:sp>
      <p:sp>
        <p:nvSpPr>
          <p:cNvPr id="3" name="Text 3"/>
          <p:cNvSpPr/>
          <p:nvPr>
            <p:ph idx="105" type="title" hasCustomPrompt="1"/>
          </p:nvPr>
        </p:nvSpPr>
        <p:spPr>
          <a:xfrm>
            <a:off x="457200" y="1188720"/>
            <a:ext cx="11274552" cy="640080"/>
          </a:xfrm>
          <a:prstGeom prst="rect">
            <a:avLst/>
          </a:prstGeom>
          <a:noFill/>
          <a:ln/>
        </p:spPr>
        <p:txBody>
          <a:bodyPr wrap="square" lIns="0" tIns="0" rIns="0" bIns="0" rtlCol="0" anchor="ctr"/>
          <a:lstStyle/>
          <a:p>
            <a:pPr algn="l" indent="0" marL="0">
              <a:buNone/>
            </a:pPr>
            <a:r>
              <a:rPr lang="en-US" sz="2800" b="1" dirty="0">
                <a:solidFill>
                  <a:schemeClr val="accent1"/>
                </a:solidFill>
              </a:rPr>
              <a:t>How we prove the impact after the start</a:t>
            </a:r>
            <a:endParaRPr lang="en-US" sz="2800" dirty="0"/>
          </a:p>
        </p:txBody>
      </p:sp>
      <p:graphicFrame>
        <p:nvGraphicFramePr>
          <p:cNvPr id="12" name="Measurement table"/>
          <p:cNvGraphicFramePr>
            <a:graphicFrameLocks noGrp="1"/>
          </p:cNvGraphicFramePr>
          <p:nvPr>
            <p:extLst>
              <p:ext uri="{D42A27DB-BD31-4B8C-83A1-F6EECF244321}">
                <p14:modId xmlns:p14="http://schemas.microsoft.com/office/powerpoint/2010/main" val="1579011935"/>
              </p:ext>
            </p:extLst>
          </p:nvPr>
        </p:nvGraphicFramePr>
        <p:xfrm>
          <a:off x="457200" y="2194560"/>
          <a:ext cx="7589520" cy="914400"/>
        </p:xfrm>
        <a:graphic>
          <a:graphicData uri="http://schemas.openxmlformats.org/drawingml/2006/table">
            <a:tbl>
              <a:tblPr/>
              <a:tblGrid>
                <a:gridCol w="2651760"/>
                <a:gridCol w="1828800"/>
                <a:gridCol w="1325880"/>
                <a:gridCol w="960120"/>
                <a:gridCol w="822960"/>
              </a:tblGrid>
              <a:tr h="365760">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What we measure</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Data source</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Baseline</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How often</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c>
                  <a:txBody>
                    <a:bodyPr/>
                    <a:lstStyle/>
                    <a:p>
                      <a:pPr algn="l" indent="0" marL="0">
                        <a:buNone/>
                      </a:pPr>
                      <a:r>
                        <a:rPr lang="en-US" sz="1100" b="1" dirty="0">
                          <a:solidFill>
                            <a:schemeClr val="bg1"/>
                          </a:solidFill>
                          <a:latin typeface="+mj-lt" pitchFamily="34" charset="0"/>
                          <a:ea typeface="+mj-lt" pitchFamily="34" charset="-122"/>
                          <a:cs typeface="+mj-lt" pitchFamily="34" charset="-120"/>
                        </a:rPr>
                        <a:t>Who</a:t>
                      </a:r>
                      <a:endParaRPr lang="en-US" sz="1100" dirty="0">
                        <a:latin typeface="+mj-lt" charset="0"/>
                        <a:ea typeface="+mj-lt" charset="0"/>
                        <a:cs typeface="+mj-lt" charset="0"/>
                      </a:endParaRPr>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accent1"/>
                    </a:solidFill>
                  </a:tcPr>
                </a:tc>
              </a:tr>
              <a:tr h="749808">
                <a:tc>
                  <a:txBody>
                    <a:bodyPr/>
                    <a:lstStyle/>
                    <a:p>
                      <a:pPr algn="l" indent="0" marL="0">
                        <a:buNone/>
                      </a:pPr>
                      <a:r>
                        <a:rPr lang="en-US" sz="1200" dirty="0">
                          <a:solidFill>
                            <a:schemeClr val="tx1"/>
                          </a:solidFill>
                        </a:rPr>
                        <a:t>Withdrawal at the main meter, m³</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[Meter number]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[12 months before the start]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Monthly</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[Name]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749808">
                <a:tc>
                  <a:txBody>
                    <a:bodyPr/>
                    <a:lstStyle/>
                    <a:p>
                      <a:pPr algn="l" indent="0" marL="0">
                        <a:buNone/>
                      </a:pPr>
                      <a:r>
                        <a:rPr lang="en-US" sz="1200" dirty="0">
                          <a:solidFill>
                            <a:schemeClr val="tx1"/>
                          </a:solidFill>
                        </a:rPr>
                        <a:t>Water use of [process], m³</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[Sub-meter number]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[12 months before the start]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Monthly</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[Name]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r h="749808">
                <a:tc>
                  <a:txBody>
                    <a:bodyPr/>
                    <a:lstStyle/>
                    <a:p>
                      <a:pPr algn="l" indent="0" marL="0">
                        <a:buNone/>
                      </a:pPr>
                      <a:r>
                        <a:rPr lang="en-US" sz="1200" dirty="0">
                          <a:solidFill>
                            <a:schemeClr val="tx1"/>
                          </a:solidFill>
                        </a:rPr>
                        <a:t>Output of the line, 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[Production report]</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[Same period]</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Monthly</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[Name]</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1"/>
                    </a:solidFill>
                  </a:tcPr>
                </a:tc>
              </a:tr>
              <a:tr h="749808">
                <a:tc>
                  <a:txBody>
                    <a:bodyPr/>
                    <a:lstStyle/>
                    <a:p>
                      <a:pPr algn="l" indent="0" marL="0">
                        <a:buNone/>
                      </a:pPr>
                      <a:r>
                        <a:rPr lang="en-US" sz="1200" b="1" dirty="0">
                          <a:solidFill>
                            <a:schemeClr val="accent1"/>
                          </a:solidFill>
                        </a:rPr>
                        <a:t>Annual impact achieved, m³</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b="1" dirty="0">
                          <a:solidFill>
                            <a:schemeClr val="accent1"/>
                          </a:solidFill>
                        </a:rPr>
                        <a:t>Calculation as on slide 6</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b="1" dirty="0">
                          <a:solidFill>
                            <a:schemeClr val="accent1"/>
                          </a:solidFill>
                        </a:rPr>
                        <a:t>Annual impact as approved</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b="1" dirty="0">
                          <a:solidFill>
                            <a:schemeClr val="accent1"/>
                          </a:solidFill>
                        </a:rPr>
                        <a:t>Yearly</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c>
                  <a:txBody>
                    <a:bodyPr/>
                    <a:lstStyle/>
                    <a:p>
                      <a:pPr algn="l" indent="0" marL="0">
                        <a:buNone/>
                      </a:pPr>
                      <a:r>
                        <a:rPr lang="en-US" sz="1200" b="1" dirty="0">
                          <a:solidFill>
                            <a:schemeClr val="accent1"/>
                          </a:solidFill>
                        </a:rPr>
                        <a:t>[Owner]</a:t>
                      </a:r>
                      <a:endParaRPr lang="en-US" sz="1200" dirty="0"/>
                    </a:p>
                  </a:txBody>
                  <a:tcPr marL="73152" marR="73152" marT="0" marB="0" anchor="ctr">
                    <a:lnL w="0" cap="flat" cmpd="sng" algn="ctr">
                      <a:noFill/>
                    </a:lnL>
                    <a:lnR w="0" cap="flat" cmpd="sng" algn="ctr">
                      <a:noFill/>
                    </a:lnR>
                    <a:lnT w="0" cap="flat" cmpd="sng" algn="ctr">
                      <a:noFill/>
                    </a:lnT>
                    <a:lnB w="9525" cap="flat" cmpd="sng" algn="ctr">
                      <a:solidFill>
                        <a:srgbClr val="DDDBD3"/>
                      </a:solidFill>
                      <a:prstDash val="solid"/>
                      <a:round/>
                      <a:headEnd type="none" w="med" len="med"/>
                      <a:tailEnd type="none" w="med" len="med"/>
                    </a:lnB>
                    <a:solidFill>
                      <a:schemeClr val="bg2"/>
                    </a:solidFill>
                  </a:tcPr>
                </a:tc>
              </a:tr>
            </a:tbl>
          </a:graphicData>
        </a:graphic>
      </p:graphicFrame>
      <p:sp>
        <p:nvSpPr>
          <p:cNvPr id="6" name="After start card"/>
          <p:cNvSpPr/>
          <p:nvPr/>
        </p:nvSpPr>
        <p:spPr>
          <a:xfrm>
            <a:off x="8229600" y="2194560"/>
            <a:ext cx="3502152" cy="3364992"/>
          </a:xfrm>
          <a:prstGeom prst="rect">
            <a:avLst/>
          </a:prstGeom>
          <a:solidFill>
            <a:schemeClr val="bg1"/>
          </a:solidFill>
          <a:ln w="9525">
            <a:solidFill>
              <a:srgbClr val="DDDBD3"/>
            </a:solidFill>
            <a:prstDash val="solid"/>
          </a:ln>
        </p:spPr>
      </p:sp>
      <p:sp>
        <p:nvSpPr>
          <p:cNvPr id="7" name="After start eyebrow"/>
          <p:cNvSpPr txBox="1"/>
          <p:nvPr/>
        </p:nvSpPr>
        <p:spPr>
          <a:xfrm>
            <a:off x="8412480" y="2331720"/>
            <a:ext cx="3136392"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AFTER THE START</a:t>
            </a:r>
            <a:endParaRPr lang="en-US" sz="1100" dirty="0"/>
          </a:p>
        </p:txBody>
      </p:sp>
      <p:sp>
        <p:nvSpPr>
          <p:cNvPr id="8" name="After start text"/>
          <p:cNvSpPr txBox="1"/>
          <p:nvPr/>
        </p:nvSpPr>
        <p:spPr>
          <a:xfrm>
            <a:off x="8412480" y="2724912"/>
            <a:ext cx="3136392" cy="2011680"/>
          </a:xfrm>
          <a:prstGeom prst="rect">
            <a:avLst/>
          </a:prstGeom>
          <a:noFill/>
          <a:ln/>
        </p:spPr>
        <p:txBody>
          <a:bodyPr wrap="square" lIns="0" tIns="0" rIns="0" bIns="0" rtlCol="0" anchor="t"/>
          <a:lstStyle/>
          <a:p>
            <a:pPr indent="0" marL="0">
              <a:spcAft>
                <a:spcPts val="900"/>
              </a:spcAft>
              <a:buNone/>
            </a:pPr>
            <a:r>
              <a:rPr lang="en-US" sz="1250" b="1" dirty="0">
                <a:solidFill>
                  <a:schemeClr val="tx1"/>
                </a:solidFill>
              </a:rPr>
              <a:t>First review: </a:t>
            </a:r>
            <a:pPr indent="0" marL="0">
              <a:spcAft>
                <a:spcPts val="900"/>
              </a:spcAft>
              <a:buNone/>
            </a:pPr>
            <a:r>
              <a:rPr lang="en-US" sz="1250" dirty="0">
                <a:solidFill>
                  <a:schemeClr val="tx1"/>
                </a:solidFill>
              </a:rPr>
              <a:t>[month 20__], 12 months after the start</a:t>
            </a:r>
            <a:endParaRPr lang="en-US" sz="1250" dirty="0"/>
          </a:p>
          <a:p>
            <a:pPr indent="0" marL="0">
              <a:spcAft>
                <a:spcPts val="900"/>
              </a:spcAft>
              <a:buNone/>
            </a:pPr>
            <a:r>
              <a:rPr lang="en-US" sz="1250" b="1" dirty="0">
                <a:solidFill>
                  <a:schemeClr val="tx1"/>
                </a:solidFill>
              </a:rPr>
              <a:t>Evidence kept in: </a:t>
            </a:r>
            <a:pPr indent="0" marL="0">
              <a:spcAft>
                <a:spcPts val="900"/>
              </a:spcAft>
              <a:buNone/>
            </a:pPr>
            <a:r>
              <a:rPr lang="en-US" sz="1250" dirty="0">
                <a:solidFill>
                  <a:schemeClr val="tx1"/>
                </a:solidFill>
              </a:rPr>
              <a:t>[folder or system]</a:t>
            </a:r>
            <a:endParaRPr lang="en-US" sz="1250" dirty="0"/>
          </a:p>
          <a:p>
            <a:pPr indent="0" marL="0">
              <a:spcAft>
                <a:spcPts val="900"/>
              </a:spcAft>
              <a:buNone/>
            </a:pPr>
            <a:r>
              <a:rPr lang="en-US" sz="1250" b="1" dirty="0">
                <a:solidFill>
                  <a:schemeClr val="tx1"/>
                </a:solidFill>
              </a:rPr>
              <a:t>If the impact is below plan: </a:t>
            </a:r>
            <a:pPr indent="0" marL="0">
              <a:spcAft>
                <a:spcPts val="900"/>
              </a:spcAft>
              <a:buNone/>
            </a:pPr>
            <a:r>
              <a:rPr lang="en-US" sz="1250" dirty="0">
                <a:solidFill>
                  <a:schemeClr val="tx1"/>
                </a:solidFill>
              </a:rPr>
              <a:t>[what the site does, and who is told]</a:t>
            </a:r>
            <a:endParaRPr lang="en-US" sz="1250" dirty="0"/>
          </a:p>
        </p:txBody>
      </p:sp>
      <p:sp>
        <p:nvSpPr>
          <p:cNvPr id="9" name="Measurement note"/>
          <p:cNvSpPr txBox="1"/>
          <p:nvPr/>
        </p:nvSpPr>
        <p:spPr>
          <a:xfrm>
            <a:off x="457200" y="5715000"/>
            <a:ext cx="7589520" cy="384048"/>
          </a:xfrm>
          <a:prstGeom prst="rect">
            <a:avLst/>
          </a:prstGeom>
          <a:noFill/>
          <a:ln/>
        </p:spPr>
        <p:txBody>
          <a:bodyPr wrap="square" lIns="0" tIns="0" rIns="0" bIns="0" rtlCol="0" anchor="t"/>
          <a:lstStyle/>
          <a:p>
            <a:pPr indent="0" marL="0">
              <a:buNone/>
            </a:pPr>
            <a:r>
              <a:rPr lang="en-US" sz="1000" dirty="0">
                <a:solidFill>
                  <a:srgbClr val="6B6B6B"/>
                </a:solidFill>
              </a:rPr>
              <a:t>Compare like with like: the same output level, the same boundaries and the same factors as in the calculation on slide 6.</a:t>
            </a:r>
            <a:endParaRPr lang="en-US" sz="1000" dirty="0"/>
          </a:p>
        </p:txBody>
      </p:sp>
      <p:sp>
        <p:nvSpPr>
          <p:cNvPr id="25" name="Slide Number Placeholder 0"/>
          <p:cNvSpPr>
            <a:spLocks noGrp="1"/>
          </p:cNvSpPr>
          <p:nvPr>
            <p:ph type="sldNum" sz="quarter" idx="4294967295"/>
          </p:nvPr>
        </p:nvSpPr>
        <p:spPr>
          <a:xfrm>
            <a:off x="11402568" y="6400800"/>
            <a:ext cx="329184"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640080" y="2103120"/>
            <a:ext cx="10881360" cy="822960"/>
          </a:xfrm>
          <a:prstGeom prst="rect">
            <a:avLst/>
          </a:prstGeom>
          <a:noFill/>
          <a:ln/>
        </p:spPr>
        <p:txBody>
          <a:bodyPr wrap="square" lIns="0" tIns="0" rIns="0" bIns="0" rtlCol="0" anchor="ctr"/>
          <a:lstStyle/>
          <a:p>
            <a:pPr algn="l" indent="0" marL="0">
              <a:buNone/>
            </a:pPr>
            <a:r>
              <a:rPr lang="en-US" sz="4000" b="1" dirty="0">
                <a:solidFill>
                  <a:schemeClr val="bg1"/>
                </a:solidFill>
              </a:rPr>
              <a:t>Decision requested</a:t>
            </a:r>
            <a:endParaRPr lang="en-US" sz="4000" dirty="0"/>
          </a:p>
        </p:txBody>
      </p:sp>
      <p:sp>
        <p:nvSpPr>
          <p:cNvPr id="3" name="Decisions"/>
          <p:cNvSpPr txBox="1"/>
          <p:nvPr/>
        </p:nvSpPr>
        <p:spPr>
          <a:xfrm>
            <a:off x="640080" y="3063240"/>
            <a:ext cx="10881360" cy="1554480"/>
          </a:xfrm>
          <a:prstGeom prst="rect">
            <a:avLst/>
          </a:prstGeom>
          <a:noFill/>
          <a:ln/>
        </p:spPr>
        <p:txBody>
          <a:bodyPr wrap="square" lIns="0" tIns="0" rIns="0" bIns="0" rtlCol="0" anchor="t"/>
          <a:lstStyle/>
          <a:p>
            <a:pPr indent="0" marL="0">
              <a:spcAft>
                <a:spcPts val="800"/>
              </a:spcAft>
              <a:buNone/>
            </a:pPr>
            <a:r>
              <a:rPr lang="en-US" sz="1800" dirty="0">
                <a:solidFill>
                  <a:schemeClr val="bg1"/>
                </a:solidFill>
              </a:rPr>
              <a:t>1.  Approve [project title] with a capex of € [0,000,000] and start year [20__].</a:t>
            </a:r>
            <a:endParaRPr lang="en-US" sz="1800" dirty="0"/>
          </a:p>
          <a:p>
            <a:pPr indent="0" marL="0">
              <a:spcAft>
                <a:spcPts val="800"/>
              </a:spcAft>
              <a:buNone/>
            </a:pPr>
            <a:r>
              <a:rPr lang="en-US" sz="1800" dirty="0">
                <a:solidFill>
                  <a:schemeClr val="bg1"/>
                </a:solidFill>
              </a:rPr>
              <a:t>2.  [Condition or dependency, for example: subject to the funding decision in Q0 20__.]</a:t>
            </a:r>
            <a:endParaRPr lang="en-US" sz="1800" dirty="0"/>
          </a:p>
          <a:p>
            <a:pPr indent="0" marL="0">
              <a:buNone/>
            </a:pPr>
            <a:r>
              <a:rPr lang="en-US" sz="1800" dirty="0">
                <a:solidFill>
                  <a:schemeClr val="bg1"/>
                </a:solidFill>
              </a:rPr>
              <a:t>3.  [Next step if approved, with date and owner.]</a:t>
            </a:r>
            <a:endParaRPr lang="en-US" sz="1800" dirty="0"/>
          </a:p>
        </p:txBody>
      </p:sp>
      <p:sp>
        <p:nvSpPr>
          <p:cNvPr id="4" name="Rule"/>
          <p:cNvSpPr/>
          <p:nvPr/>
        </p:nvSpPr>
        <p:spPr>
          <a:xfrm>
            <a:off x="640080" y="4983480"/>
            <a:ext cx="1097280" cy="54864"/>
          </a:xfrm>
          <a:prstGeom prst="rect">
            <a:avLst/>
          </a:prstGeom>
          <a:solidFill>
            <a:schemeClr val="accent2"/>
          </a:solidFill>
          <a:ln/>
        </p:spPr>
      </p:sp>
      <p:sp>
        <p:nvSpPr>
          <p:cNvPr id="5" name="Sign-off"/>
          <p:cNvSpPr txBox="1"/>
          <p:nvPr/>
        </p:nvSpPr>
        <p:spPr>
          <a:xfrm>
            <a:off x="640080" y="5166360"/>
            <a:ext cx="10881360" cy="365760"/>
          </a:xfrm>
          <a:prstGeom prst="rect">
            <a:avLst/>
          </a:prstGeom>
          <a:noFill/>
          <a:ln/>
        </p:spPr>
        <p:txBody>
          <a:bodyPr wrap="square" lIns="0" tIns="0" rIns="0" bIns="0" rtlCol="0" anchor="ctr"/>
          <a:lstStyle/>
          <a:p>
            <a:pPr indent="0" marL="0">
              <a:buNone/>
            </a:pPr>
            <a:r>
              <a:rPr lang="en-US" sz="1400" dirty="0">
                <a:solidFill>
                  <a:schemeClr val="bg1"/>
                </a:solidFill>
              </a:rPr>
              <a:t>Prepared by [project owner]  |  Financials reviewed by [site controller]  |  Released by [site manager]  |  [Date]</a:t>
            </a:r>
            <a:endParaRPr lang="en-US" sz="1400" dirty="0"/>
          </a:p>
        </p:txBody>
      </p:sp>
    </p:spTree>
  </p:cSld>
  <p:clrMapOvr>
    <a:masterClrMapping/>
  </p:clrMapOvr>
</p:sld>
</file>

<file path=ppt/theme/theme1.xml><?xml version="1.0" encoding="utf-8"?>
<a:theme xmlns:a="http://schemas.openxmlformats.org/drawingml/2006/main" name="Ravensberg Consumer Brands">
  <a:themeElements>
    <a:clrScheme name="Ravensberg Consumer Brands">
      <a:dk1>
        <a:srgbClr val="333333"/>
      </a:dk1>
      <a:lt1>
        <a:srgbClr val="FFFFFF"/>
      </a:lt1>
      <a:dk2>
        <a:srgbClr val="0F6B3A"/>
      </a:dk2>
      <a:lt2>
        <a:srgbClr val="F5F4EF"/>
      </a:lt2>
      <a:accent1>
        <a:srgbClr val="0F6B3A"/>
      </a:accent1>
      <a:accent2>
        <a:srgbClr val="C9A27F"/>
      </a:accent2>
      <a:accent3>
        <a:srgbClr val="7FB069"/>
      </a:accent3>
      <a:accent4>
        <a:srgbClr val="2E8B57"/>
      </a:accent4>
      <a:accent5>
        <a:srgbClr val="D98E2B"/>
      </a:accent5>
      <a:accent6>
        <a:srgbClr val="C0392B"/>
      </a:accent6>
      <a:hlink>
        <a:srgbClr val="0F6B3A"/>
      </a:hlink>
      <a:folHlink>
        <a:srgbClr val="6B6B6B"/>
      </a:folHlink>
    </a:clrScheme>
    <a:fontScheme name="Ravensberg Consumer Brands">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ource Sans 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Ravensberg Consumer Brands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approval presentation, Water (template)</dc:title>
  <dc:subject>Template for the Ravensberg Project Tracker</dc:subject>
  <dc:creator>Group Sustainability</dc:creator>
  <cp:lastModifiedBy>Group Sustainability</cp:lastModifiedBy>
  <cp:revision>1</cp:revision>
  <dcterms:created xsi:type="dcterms:W3CDTF">2026-10-11T12:38:24Z</dcterms:created>
  <dcterms:modified xsi:type="dcterms:W3CDTF">2026-10-11T12:38:24Z</dcterms:modified>
</cp:coreProperties>
</file>