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and instructions" id="{a1e08f5b-bb5d-6701-e96b-02f319253c10}">
          <p14:sldIdLst>
            <p14:sldId id="256"/>
            <p14:sldId id="257"/>
          </p14:sldIdLst>
        </p14:section>
        <p14:section name="The case" id="{dc14ad31-f8f9-9f0c-e8a3-51e047c39741}">
          <p14:sldIdLst>
            <p14:sldId id="258"/>
            <p14:sldId id="259"/>
            <p14:sldId id="260"/>
            <p14:sldId id="261"/>
            <p14:sldId id="262"/>
            <p14:sldId id="263"/>
          </p14:sldIdLst>
        </p14:section>
        <p14:section name="Delivery and decision" id="{2c843395-f09f-aa72-d74f-8272348adf6b}">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Approved projects</c:v>
                </c:pt>
              </c:strCache>
            </c:strRef>
          </c:tx>
          <c:spPr>
            <a:solidFill>
              <a:srgbClr val="0F6B3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With this project</c:v>
                  </c:pt>
                  <c:pt idx="1">
                    <c:v>Today</c:v>
                  </c:pt>
                </c:lvl>
              </c:multiLvlStrCache>
            </c:multiLvlStrRef>
          </c:cat>
          <c:val>
            <c:numRef>
              <c:f>Sheet1!$B$2:$B$3</c:f>
              <c:numCache>
                <c:formatCode>General</c:formatCode>
                <c:ptCount val="2"/>
                <c:pt idx="0">
                  <c:v>2600</c:v>
                </c:pt>
                <c:pt idx="1">
                  <c:v>2600</c:v>
                </c:pt>
              </c:numCache>
            </c:numRef>
          </c:val>
        </c:ser>
        <c:ser>
          <c:idx val="1"/>
          <c:order val="1"/>
          <c:tx>
            <c:strRef>
              <c:f>Sheet1!$C$1</c:f>
              <c:strCache>
                <c:ptCount val="1"/>
                <c:pt idx="0">
                  <c:v>This project, if approved</c:v>
                </c:pt>
              </c:strCache>
            </c:strRef>
          </c:tx>
          <c:spPr>
            <a:solidFill>
              <a:srgbClr val="C9A27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With this project</c:v>
                  </c:pt>
                  <c:pt idx="1">
                    <c:v>Today</c:v>
                  </c:pt>
                </c:lvl>
              </c:multiLvlStrCache>
            </c:multiLvlStrRef>
          </c:cat>
          <c:val>
            <c:numRef>
              <c:f>Sheet1!$C$2:$C$3</c:f>
              <c:numCache>
                <c:formatCode>General</c:formatCode>
                <c:ptCount val="2"/>
                <c:pt idx="0">
                  <c:v>1700</c:v>
                </c:pt>
                <c:pt idx="1">
                  <c:v>0</c:v>
                </c:pt>
              </c:numCache>
            </c:numRef>
          </c:val>
        </c:ser>
        <c:ser>
          <c:idx val="2"/>
          <c:order val="2"/>
          <c:tx>
            <c:strRef>
              <c:f>Sheet1!$D$1</c:f>
              <c:strCache>
                <c:ptCount val="1"/>
                <c:pt idx="0">
                  <c:v>Remaining gap</c:v>
                </c:pt>
              </c:strCache>
            </c:strRef>
          </c:tx>
          <c:spPr>
            <a:solidFill>
              <a:srgbClr val="DDDBD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With this project</c:v>
                  </c:pt>
                  <c:pt idx="1">
                    <c:v>Today</c:v>
                  </c:pt>
                </c:lvl>
              </c:multiLvlStrCache>
            </c:multiLvlStrRef>
          </c:cat>
          <c:val>
            <c:numRef>
              <c:f>Sheet1!$D$2:$D$3</c:f>
              <c:numCache>
                <c:formatCode>General</c:formatCode>
                <c:ptCount val="2"/>
                <c:pt idx="0">
                  <c:v>1000</c:v>
                </c:pt>
                <c:pt idx="1">
                  <c:v>2700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3333"/>
                </a:solidFill>
                <a:latin typeface="+mn-lt"/>
              </a:defRPr>
            </a:pPr>
            <a:endParaRPr lang="en-US"/>
          </a:p>
        </c:txPr>
        <c:crossAx val="2094734552"/>
        <c:crosses val="autoZero"/>
        <c:auto val="1"/>
        <c:lblAlgn val="ctr"/>
        <c:noMultiLvlLbl val="1"/>
      </c:catAx>
      <c:valAx>
        <c:axId val="2094734552"/>
        <c:scaling>
          <c:orientation val="minMax"/>
          <c:min val="0"/>
        </c:scaling>
        <c:delete val="0"/>
        <c:axPos val="b"/>
        <c:majorGridlines>
          <c:spPr>
            <a:ln w="9525" cap="flat">
              <a:solidFill>
                <a:srgbClr val="DDDBD3"/>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333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Use the same project title as in the Project Tracker form, word for word. A first submission has no project ID yet: write "new". A resubmission keeps its PRJ number and takes the next version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INSTRUCTIONS. This slide is for the author only. Delete it before you upload the file. Every other slide has a note like this one that says what the committee looks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SUMMARY. The whole case on one slide. Write the title as the ask: what, how much, from when. Example: "Approve € 1.45 m for a heat pump that cuts 1,700 tCO₂e a year from 2027". The four figures are the same as in the tracker form. Delete the resubmission box for a first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All figures come from the Project Tracker: Reference data for the base year and the latest actual, the Overview of your site for the requirement, the approved projects and the gap. Do not recalculate them. Emissions are Scope 1 + 2, location-based, at the frozen FY2024 factor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Describe the change in plain words, not the supplier's brochure. The committee wants to see that you looked at other options, including doing nothing, and why this one wins on impact and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CALCULATION. Show every step so a colleague can repeat it. Before and after at the same output level. Use the FY2024 factor set, location-based: a green electricity contract changes nothing here. The two bold lines are the annual impact and the total impact you enter in the tracker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The requirement is 42 % of the site's FY2024 Scope 1 + 2. The chart holds example figures: right-click it, choose Edit Data and type your site's figures. Only approved projects count as covered; this project is shown as "if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FINANCIALS. Prepare this slide with your site controller. "Capex, total" and "Opex change per year" are the two figures in the tracker form; a saving is entered as a negative number. State the prices you assumed. Cost per tCO₂e lets the committee compare projects across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The start year in the tracker is the first year the full annual impact applies, with no ramp-up. A project that starts after 2030 adds nothing to the 2030 target. Be honest about delivery times and the shutdown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Four risks at most, the real ones. Recolour the dot: green is low, amber is medium, red is high. Then the side effects on the other two targets: a heat pump needs electricity and a refrigerant, a biomass boiler produces 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MEASUREMENT. An approved project counts toward the target from its start year, so the committee wants to know how the site will show the impact is real. Name the meter or the document, the baseline period and the person. If the equipment has no sub-meter, put one into the capex.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Three lines at most. Line 1 repeats the tracker figures. The sign-off line names the three people who stand behind the figures: the project owner, the site controller and the site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B Title">
    <p:bg>
      <p:bgPr>
        <a:solidFill>
          <a:schemeClr val="accent1"/>
        </a:solidFill>
      </p:bgPr>
    </p:bg>
    <p:spTree>
      <p:nvGrpSpPr>
        <p:cNvPr id="1" name=""/>
        <p:cNvGrpSpPr/>
        <p:nvPr/>
      </p:nvGrpSpPr>
      <p:grpSpPr>
        <a:xfrm>
          <a:off x="0" y="0"/>
          <a:ext cx="0" cy="0"/>
          <a:chOff x="0" y="0"/>
          <a:chExt cx="0" cy="0"/>
        </a:xfrm>
      </p:grpSpPr>
      <p:pic>
        <p:nvPicPr>
          <p:cNvPr id="2" name="Image 0" descr="/home/claude/zhatquai/ravensberg-consumer-brands-project-tracker/public/assets/ravensberg-logo-white.png">    </p:cNvPr>
          <p:cNvPicPr>
            <a:picLocks noChangeAspect="1"/>
          </p:cNvPicPr>
          <p:nvPr/>
        </p:nvPicPr>
        <p:blipFill>
          <a:blip r:embed="rId1"/>
          <a:stretch>
            <a:fillRect/>
          </a:stretch>
        </p:blipFill>
        <p:spPr>
          <a:xfrm>
            <a:off x="640080" y="548640"/>
            <a:ext cx="3246120" cy="914400"/>
          </a:xfrm>
          <a:prstGeom prst="rect">
            <a:avLst/>
          </a:prstGeom>
        </p:spPr>
      </p:pic>
      <p:sp>
        <p:nvSpPr>
          <p:cNvPr id="3" name="Shape 0"/>
          <p:cNvSpPr/>
          <p:nvPr/>
        </p:nvSpPr>
        <p:spPr>
          <a:xfrm>
            <a:off x="640080" y="4754880"/>
            <a:ext cx="1097280" cy="54864"/>
          </a:xfrm>
          <a:prstGeom prst="rect">
            <a:avLst/>
          </a:prstGeom>
          <a:solidFill>
            <a:schemeClr val="accent2"/>
          </a:solidFill>
          <a:ln/>
        </p:spPr>
      </p:sp>
      <p:sp>
        <p:nvSpPr>
          <p:cNvPr id="4" name="Text 1"/>
          <p:cNvSpPr/>
          <p:nvPr>
            <p:ph idx="102" type="body" hasCustomPrompt="1"/>
          </p:nvPr>
        </p:nvSpPr>
        <p:spPr>
          <a:xfrm>
            <a:off x="640080" y="1965960"/>
            <a:ext cx="10058400" cy="320040"/>
          </a:xfrm>
          <a:prstGeom prst="rect">
            <a:avLst/>
          </a:prstGeom>
          <a:noFill/>
          <a:ln/>
        </p:spPr>
        <p:txBody>
          <a:bodyPr wrap="square" rtlCol="0"/>
          <a:lstStyle>
            <a:lvl1pPr indent="0" marL="0">
              <a:buNone/>
              <a:defRPr lang="en-US" sz="1200" b="1" spc="150" kern="0" dirty="0">
                <a:solidFill>
                  <a:schemeClr val="accent2"/>
                </a:solidFill>
              </a:defRPr>
            </a:lvl1pPr>
          </a:lstStyle>
          <a:p>
            <a:pPr indent="0" marL="0">
              <a:buNone/>
            </a:pPr>
            <a:r>
              <a:rPr lang="en-US" sz="1200" b="1" spc="150" kern="0" dirty="0">
                <a:solidFill>
                  <a:schemeClr val="accent2"/>
                </a:solidFill>
              </a:rPr>
              <a:t>DOCUMENT TYPE</a:t>
            </a:r>
            <a:endParaRPr lang="en-US" sz="1200" dirty="0"/>
          </a:p>
        </p:txBody>
      </p:sp>
      <p:sp>
        <p:nvSpPr>
          <p:cNvPr id="5" name="Text 1"/>
          <p:cNvSpPr/>
          <p:nvPr>
            <p:ph idx="103" type="title" hasCustomPrompt="1"/>
          </p:nvPr>
        </p:nvSpPr>
        <p:spPr>
          <a:xfrm>
            <a:off x="640080" y="2331720"/>
            <a:ext cx="10881360" cy="14173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r>
              <a:rPr lang="en-US" sz="3800" b="1" dirty="0">
                <a:solidFill>
                  <a:schemeClr val="bg1"/>
                </a:solidFill>
              </a:rPr>
              <a:t>Project title</a:t>
            </a:r>
            <a:endParaRPr lang="en-US" sz="3800" dirty="0"/>
          </a:p>
        </p:txBody>
      </p:sp>
      <p:sp>
        <p:nvSpPr>
          <p:cNvPr id="6" name="Text 1"/>
          <p:cNvSpPr/>
          <p:nvPr>
            <p:ph idx="104" type="body" hasCustomPrompt="1"/>
          </p:nvPr>
        </p:nvSpPr>
        <p:spPr>
          <a:xfrm>
            <a:off x="640080" y="3886200"/>
            <a:ext cx="10881360" cy="548640"/>
          </a:xfrm>
          <a:prstGeom prst="rect">
            <a:avLst/>
          </a:prstGeom>
          <a:noFill/>
          <a:ln/>
        </p:spPr>
        <p:txBody>
          <a:bodyPr wrap="square" rtlCol="0"/>
          <a:lstStyle>
            <a:lvl1pPr indent="0" marL="0">
              <a:buNone/>
              <a:defRPr lang="en-US" sz="2000" dirty="0">
                <a:solidFill>
                  <a:schemeClr val="bg1"/>
                </a:solidFill>
              </a:defRPr>
            </a:lvl1pPr>
          </a:lstStyle>
          <a:p>
            <a:pPr indent="0" marL="0">
              <a:buNone/>
            </a:pPr>
            <a:r>
              <a:rPr lang="en-US" sz="2000" dirty="0">
                <a:solidFill>
                  <a:schemeClr val="bg1"/>
                </a:solidFill>
              </a:rPr>
              <a:t>Site and owner</a:t>
            </a:r>
            <a:endParaRPr lang="en-US" sz="2000" dirty="0"/>
          </a:p>
        </p:txBody>
      </p:sp>
      <p:sp>
        <p:nvSpPr>
          <p:cNvPr id="7" name="Text 1"/>
          <p:cNvSpPr/>
          <p:nvPr>
            <p:ph idx="105" type="body" hasCustomPrompt="1"/>
          </p:nvPr>
        </p:nvSpPr>
        <p:spPr>
          <a:xfrm>
            <a:off x="640080" y="4983480"/>
            <a:ext cx="10881360" cy="411480"/>
          </a:xfrm>
          <a:prstGeom prst="rect">
            <a:avLst/>
          </a:prstGeom>
          <a:noFill/>
          <a:ln/>
        </p:spPr>
        <p:txBody>
          <a:bodyPr wrap="square" rtlCol="0"/>
          <a:lstStyle>
            <a:lvl1pPr indent="0" marL="0">
              <a:buNone/>
              <a:defRPr lang="en-US" sz="1400" dirty="0">
                <a:solidFill>
                  <a:schemeClr val="bg1"/>
                </a:solidFill>
              </a:defRPr>
            </a:lvl1pPr>
          </a:lstStyle>
          <a:p>
            <a:pPr indent="0" marL="0">
              <a:buNone/>
            </a:pPr>
            <a:r>
              <a:rPr lang="en-US" sz="1400" dirty="0">
                <a:solidFill>
                  <a:schemeClr val="bg1"/>
                </a:solidFill>
              </a:rPr>
              <a:t>Project ID, version, date</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B Content">
    <p:bg>
      <p:bgPr>
        <a:solidFill>
          <a:schemeClr val="bg2"/>
        </a:solidFill>
      </p:bgPr>
    </p:bg>
    <p:spTree>
      <p:nvGrpSpPr>
        <p:cNvPr id="1" name=""/>
        <p:cNvGrpSpPr/>
        <p:nvPr/>
      </p:nvGrpSpPr>
      <p:grpSpPr>
        <a:xfrm>
          <a:off x="0" y="0"/>
          <a:ext cx="0" cy="0"/>
          <a:chOff x="0" y="0"/>
          <a:chExt cx="0" cy="0"/>
        </a:xfrm>
      </p:grpSpPr>
      <p:pic>
        <p:nvPicPr>
          <p:cNvPr id="2" name="Image 0" descr="/home/claude/zhatquai/ravensberg-consumer-brands-project-tracker/public/assets/ravensberg-logo.png">    </p:cNvPr>
          <p:cNvPicPr>
            <a:picLocks noChangeAspect="1"/>
          </p:cNvPicPr>
          <p:nvPr/>
        </p:nvPicPr>
        <p:blipFill>
          <a:blip r:embed="rId1"/>
          <a:stretch>
            <a:fillRect/>
          </a:stretch>
        </p:blipFill>
        <p:spPr>
          <a:xfrm>
            <a:off x="457200" y="320040"/>
            <a:ext cx="1783080" cy="502920"/>
          </a:xfrm>
          <a:prstGeom prst="rect">
            <a:avLst/>
          </a:prstGeom>
        </p:spPr>
      </p:pic>
      <p:sp>
        <p:nvSpPr>
          <p:cNvPr id="3" name="Shape 0"/>
          <p:cNvSpPr/>
          <p:nvPr/>
        </p:nvSpPr>
        <p:spPr>
          <a:xfrm>
            <a:off x="457200" y="1874520"/>
            <a:ext cx="822960" cy="45720"/>
          </a:xfrm>
          <a:prstGeom prst="rect">
            <a:avLst/>
          </a:prstGeom>
          <a:solidFill>
            <a:schemeClr val="accent3"/>
          </a:solidFill>
          <a:ln/>
        </p:spPr>
      </p:sp>
      <p:sp>
        <p:nvSpPr>
          <p:cNvPr id="4" name="Text 1"/>
          <p:cNvSpPr/>
          <p:nvPr/>
        </p:nvSpPr>
        <p:spPr>
          <a:xfrm>
            <a:off x="457200" y="6400800"/>
            <a:ext cx="7315200" cy="274320"/>
          </a:xfrm>
          <a:prstGeom prst="rect">
            <a:avLst/>
          </a:prstGeom>
          <a:noFill/>
          <a:ln/>
        </p:spPr>
        <p:txBody>
          <a:bodyPr wrap="square" lIns="0" tIns="0" rIns="0" bIns="0" rtlCol="0" anchor="ctr"/>
          <a:lstStyle/>
          <a:p>
            <a:pPr indent="0" marL="0">
              <a:buNone/>
            </a:pPr>
            <a:r>
              <a:rPr lang="en-US" sz="900" dirty="0">
                <a:solidFill>
                  <a:srgbClr val="6B6B6B"/>
                </a:solidFill>
              </a:rPr>
              <a:t>Ravensberg Consumer Brands  |  Group Sustainability  |  Internal</a:t>
            </a:r>
            <a:endParaRPr lang="en-US" sz="900" dirty="0"/>
          </a:p>
        </p:txBody>
      </p:sp>
      <p:sp>
        <p:nvSpPr>
          <p:cNvPr id="5" name="Text 2"/>
          <p:cNvSpPr/>
          <p:nvPr/>
        </p:nvSpPr>
        <p:spPr>
          <a:xfrm>
            <a:off x="10424160" y="6400800"/>
            <a:ext cx="932688" cy="274320"/>
          </a:xfrm>
          <a:prstGeom prst="rect">
            <a:avLst/>
          </a:prstGeom>
          <a:noFill/>
          <a:ln/>
        </p:spPr>
        <p:txBody>
          <a:bodyPr wrap="square" lIns="0" tIns="0" rIns="0" bIns="0" rtlCol="0" anchor="t"/>
          <a:lstStyle/>
          <a:p>
            <a:pPr algn="r" indent="0" marL="0">
              <a:buNone/>
            </a:pPr>
            <a:r>
              <a:rPr lang="en-US" sz="900" dirty="0">
                <a:solidFill>
                  <a:srgbClr val="6B6B6B"/>
                </a:solidFill>
              </a:rPr>
              <a:t>Page</a:t>
            </a:r>
            <a:endParaRPr lang="en-US" sz="900" dirty="0"/>
          </a:p>
        </p:txBody>
      </p:sp>
      <p:sp>
        <p:nvSpPr>
          <p:cNvPr id="6" name="Text 3"/>
          <p:cNvSpPr/>
          <p:nvPr>
            <p:ph idx="104" type="body" hasCustomPrompt="1"/>
          </p:nvPr>
        </p:nvSpPr>
        <p:spPr>
          <a:xfrm>
            <a:off x="457200" y="941832"/>
            <a:ext cx="11247120" cy="274320"/>
          </a:xfrm>
          <a:prstGeom prst="rect">
            <a:avLst/>
          </a:prstGeom>
          <a:noFill/>
          <a:ln/>
        </p:spPr>
        <p:txBody>
          <a:bodyPr wrap="square" rtlCol="0"/>
          <a:lstStyle>
            <a:lvl1pPr indent="0" marL="0">
              <a:buNone/>
              <a:defRPr lang="en-US" sz="1100" b="1" spc="100" kern="0" dirty="0">
                <a:solidFill>
                  <a:schemeClr val="accent1"/>
                </a:solidFill>
              </a:defRPr>
            </a:lvl1pPr>
          </a:lstStyle>
          <a:p>
            <a:pPr indent="0" marL="0">
              <a:buNone/>
            </a:pPr>
            <a:r>
              <a:rPr lang="en-US" sz="1100" b="1" spc="100" kern="0" dirty="0">
                <a:solidFill>
                  <a:schemeClr val="accent1"/>
                </a:solidFill>
              </a:rPr>
              <a:t>EYEBROW</a:t>
            </a:r>
            <a:endParaRPr lang="en-US" sz="1100" dirty="0"/>
          </a:p>
        </p:txBody>
      </p:sp>
      <p:sp>
        <p:nvSpPr>
          <p:cNvPr id="7" name="Text 3"/>
          <p:cNvSpPr/>
          <p:nvPr>
            <p:ph idx="105" type="title" hasCustomPrompt="1"/>
          </p:nvPr>
        </p:nvSpPr>
        <p:spPr>
          <a:xfrm>
            <a:off x="457200" y="1188720"/>
            <a:ext cx="11274552" cy="640080"/>
          </a:xfrm>
          <a:prstGeom prst="rect">
            <a:avLst/>
          </a:prstGeom>
          <a:noFill/>
          <a:ln/>
        </p:spPr>
        <p:txBody>
          <a:bodyPr wrap="square" rtlCol="0"/>
          <a:lstStyle>
            <a:lvl1pPr algn="l" indent="0" marL="0">
              <a:buNone/>
              <a:defRPr lang="en-US" sz="2800" b="1" dirty="0">
                <a:solidFill>
                  <a:schemeClr val="accent1"/>
                </a:solidFill>
              </a:defRPr>
            </a:lvl1pPr>
          </a:lstStyle>
          <a:p>
            <a:pPr algn="l" indent="0" marL="0">
              <a:buNone/>
            </a:pPr>
            <a:r>
              <a:rPr lang="en-US" sz="2800" b="1" dirty="0">
                <a:solidFill>
                  <a:schemeClr val="accent1"/>
                </a:solidFill>
              </a:rPr>
              <a:t>Slide title: the message in one line</a:t>
            </a:r>
            <a:endParaRPr lang="en-US" sz="280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RB Closing">
    <p:bg>
      <p:bgPr>
        <a:solidFill>
          <a:schemeClr val="accent1"/>
        </a:solidFill>
      </p:bgPr>
    </p:bg>
    <p:spTree>
      <p:nvGrpSpPr>
        <p:cNvPr id="1" name=""/>
        <p:cNvGrpSpPr/>
        <p:nvPr/>
      </p:nvGrpSpPr>
      <p:grpSpPr>
        <a:xfrm>
          <a:off x="0" y="0"/>
          <a:ext cx="0" cy="0"/>
          <a:chOff x="0" y="0"/>
          <a:chExt cx="0" cy="0"/>
        </a:xfrm>
      </p:grpSpPr>
      <p:pic>
        <p:nvPicPr>
          <p:cNvPr id="2" name="Image 0" descr="/tmp/claude-0/-home-claude/f955b6eb-6640-55e2-9f9b-f566993d5591/scratchpad/build/mark-white-on-green.png">    </p:cNvPr>
          <p:cNvPicPr>
            <a:picLocks noChangeAspect="1"/>
          </p:cNvPicPr>
          <p:nvPr/>
        </p:nvPicPr>
        <p:blipFill>
          <a:blip r:embed="rId1"/>
          <a:stretch>
            <a:fillRect/>
          </a:stretch>
        </p:blipFill>
        <p:spPr>
          <a:xfrm>
            <a:off x="640080" y="640080"/>
            <a:ext cx="1097280" cy="1097280"/>
          </a:xfrm>
          <a:prstGeom prst="rect">
            <a:avLst/>
          </a:prstGeom>
        </p:spPr>
      </p:pic>
      <p:sp>
        <p:nvSpPr>
          <p:cNvPr id="3" name="Text 0"/>
          <p:cNvSpPr/>
          <p:nvPr/>
        </p:nvSpPr>
        <p:spPr>
          <a:xfrm>
            <a:off x="640080" y="6126480"/>
            <a:ext cx="10058400" cy="365760"/>
          </a:xfrm>
          <a:prstGeom prst="rect">
            <a:avLst/>
          </a:prstGeom>
          <a:noFill/>
          <a:ln/>
        </p:spPr>
        <p:txBody>
          <a:bodyPr wrap="square" lIns="0" tIns="0" rIns="0" bIns="0" rtlCol="0" anchor="ctr"/>
          <a:lstStyle/>
          <a:p>
            <a:pPr indent="0" marL="0">
              <a:buNone/>
            </a:pPr>
            <a:r>
              <a:rPr lang="en-US" sz="1200" dirty="0">
                <a:solidFill>
                  <a:schemeClr val="accent2"/>
                </a:solidFill>
              </a:rPr>
              <a:t>Trusted brands. A more sustainable everyday.</a:t>
            </a:r>
            <a:endParaRPr lang="en-US" sz="1200" dirty="0"/>
          </a:p>
        </p:txBody>
      </p:sp>
      <p:sp>
        <p:nvSpPr>
          <p:cNvPr id="4" name="Text 1"/>
          <p:cNvSpPr/>
          <p:nvPr>
            <p:ph idx="102" type="title" hasCustomPrompt="1"/>
          </p:nvPr>
        </p:nvSpPr>
        <p:spPr>
          <a:xfrm>
            <a:off x="640080" y="2103120"/>
            <a:ext cx="10881360"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r>
              <a:rPr lang="en-US" sz="4000" b="1" dirty="0">
                <a:solidFill>
                  <a:schemeClr val="bg1"/>
                </a:solidFill>
              </a:rPr>
              <a:t>Decision requested</a:t>
            </a: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body" hasCustomPrompt="1"/>
          </p:nvPr>
        </p:nvSpPr>
        <p:spPr>
          <a:xfrm>
            <a:off x="640080" y="1965960"/>
            <a:ext cx="10058400" cy="320040"/>
          </a:xfrm>
          <a:prstGeom prst="rect">
            <a:avLst/>
          </a:prstGeom>
          <a:noFill/>
          <a:ln/>
        </p:spPr>
        <p:txBody>
          <a:bodyPr wrap="square" lIns="0" tIns="0" rIns="0" bIns="0" rtlCol="0" anchor="ctr"/>
          <a:lstStyle/>
          <a:p>
            <a:pPr indent="0" marL="0">
              <a:buNone/>
            </a:pPr>
            <a:r>
              <a:rPr lang="en-US" sz="1200" b="1" spc="150" kern="0" dirty="0">
                <a:solidFill>
                  <a:schemeClr val="accent2"/>
                </a:solidFill>
              </a:rPr>
              <a:t>PROJECT APPROVAL PRESENTATION  |  EMISSIONS</a:t>
            </a:r>
            <a:endParaRPr lang="en-US" sz="1200" dirty="0"/>
          </a:p>
        </p:txBody>
      </p:sp>
      <p:sp>
        <p:nvSpPr>
          <p:cNvPr id="3" name="Text 1"/>
          <p:cNvSpPr/>
          <p:nvPr>
            <p:ph idx="103" type="title" hasCustomPrompt="1"/>
          </p:nvPr>
        </p:nvSpPr>
        <p:spPr>
          <a:xfrm>
            <a:off x="640080" y="2331720"/>
            <a:ext cx="10881360" cy="1417320"/>
          </a:xfrm>
          <a:prstGeom prst="rect">
            <a:avLst/>
          </a:prstGeom>
          <a:noFill/>
          <a:ln/>
        </p:spPr>
        <p:txBody>
          <a:bodyPr wrap="square" lIns="0" tIns="0" rIns="0" bIns="0" rtlCol="0" anchor="b"/>
          <a:lstStyle/>
          <a:p>
            <a:pPr algn="l" indent="0" marL="0">
              <a:buNone/>
            </a:pPr>
            <a:r>
              <a:rPr lang="en-US" sz="3800" b="1" dirty="0">
                <a:solidFill>
                  <a:schemeClr val="bg1"/>
                </a:solidFill>
              </a:rPr>
              <a:t>[Project title, exactly as in the Project Tracker]</a:t>
            </a:r>
            <a:endParaRPr lang="en-US" sz="3800" dirty="0"/>
          </a:p>
        </p:txBody>
      </p:sp>
      <p:sp>
        <p:nvSpPr>
          <p:cNvPr id="4" name="Text 1"/>
          <p:cNvSpPr/>
          <p:nvPr>
            <p:ph idx="104" type="body" hasCustomPrompt="1"/>
          </p:nvPr>
        </p:nvSpPr>
        <p:spPr>
          <a:xfrm>
            <a:off x="640080" y="3886200"/>
            <a:ext cx="10881360" cy="548640"/>
          </a:xfrm>
          <a:prstGeom prst="rect">
            <a:avLst/>
          </a:prstGeom>
          <a:noFill/>
          <a:ln/>
        </p:spPr>
        <p:txBody>
          <a:bodyPr wrap="square" lIns="0" tIns="0" rIns="0" bIns="0" rtlCol="0" anchor="ctr"/>
          <a:lstStyle/>
          <a:p>
            <a:pPr indent="0" marL="0">
              <a:buNone/>
            </a:pPr>
            <a:r>
              <a:rPr lang="en-US" sz="2000" dirty="0">
                <a:solidFill>
                  <a:schemeClr val="bg1"/>
                </a:solidFill>
              </a:rPr>
              <a:t>[Site code and name]  |  Project owner: [name]</a:t>
            </a:r>
            <a:endParaRPr lang="en-US" sz="2000" dirty="0"/>
          </a:p>
        </p:txBody>
      </p:sp>
      <p:sp>
        <p:nvSpPr>
          <p:cNvPr id="5" name="Text 1"/>
          <p:cNvSpPr/>
          <p:nvPr>
            <p:ph idx="105" type="body" hasCustomPrompt="1"/>
          </p:nvPr>
        </p:nvSpPr>
        <p:spPr>
          <a:xfrm>
            <a:off x="640080" y="4983480"/>
            <a:ext cx="10881360" cy="411480"/>
          </a:xfrm>
          <a:prstGeom prst="rect">
            <a:avLst/>
          </a:prstGeom>
          <a:noFill/>
          <a:ln/>
        </p:spPr>
        <p:txBody>
          <a:bodyPr wrap="square" lIns="0" tIns="0" rIns="0" bIns="0" rtlCol="0" anchor="ctr"/>
          <a:lstStyle/>
          <a:p>
            <a:pPr indent="0" marL="0">
              <a:buNone/>
            </a:pPr>
            <a:r>
              <a:rPr lang="en-US" sz="1400" dirty="0">
                <a:solidFill>
                  <a:schemeClr val="bg1"/>
                </a:solidFill>
              </a:rPr>
              <a:t>Project ID: [PRJ-0000, or "new"]  |  Version [1]  |  [Date]  |  Scope 1 + 2, location-based, FY2024 factor set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INSTRUCTIONS  |  DELETE THIS SLIDE BEFORE YOU SUBMIT</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How to prepare this presentation</a:t>
            </a:r>
            <a:endParaRPr lang="en-US" sz="2800" dirty="0"/>
          </a:p>
        </p:txBody>
      </p:sp>
      <p:sp>
        <p:nvSpPr>
          <p:cNvPr id="5" name="Step 1 marker"/>
          <p:cNvSpPr/>
          <p:nvPr/>
        </p:nvSpPr>
        <p:spPr>
          <a:xfrm>
            <a:off x="457200" y="2231136"/>
            <a:ext cx="420624" cy="420624"/>
          </a:xfrm>
          <a:prstGeom prst="ellipse">
            <a:avLst/>
          </a:prstGeom>
          <a:solidFill>
            <a:schemeClr val="accent1"/>
          </a:solidFill>
          <a:ln/>
        </p:spPr>
      </p:sp>
      <p:sp>
        <p:nvSpPr>
          <p:cNvPr id="6" name="Step 1 number"/>
          <p:cNvSpPr txBox="1"/>
          <p:nvPr/>
        </p:nvSpPr>
        <p:spPr>
          <a:xfrm>
            <a:off x="457200" y="223113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7" name="Step 1 title"/>
          <p:cNvSpPr txBox="1"/>
          <p:nvPr/>
        </p:nvSpPr>
        <p:spPr>
          <a:xfrm>
            <a:off x="1051560" y="2212848"/>
            <a:ext cx="6172200" cy="274320"/>
          </a:xfrm>
          <a:prstGeom prst="rect">
            <a:avLst/>
          </a:prstGeom>
          <a:noFill/>
          <a:ln/>
        </p:spPr>
        <p:txBody>
          <a:bodyPr wrap="square" lIns="0" tIns="0" rIns="0" bIns="0" rtlCol="0" anchor="ctr"/>
          <a:lstStyle/>
          <a:p>
            <a:pPr indent="0" marL="0">
              <a:buNone/>
            </a:pPr>
            <a:r>
              <a:rPr lang="en-US" sz="1400" b="1" dirty="0">
                <a:solidFill>
                  <a:schemeClr val="accent1"/>
                </a:solidFill>
                <a:latin typeface="+mj-lt" pitchFamily="34" charset="0"/>
                <a:ea typeface="+mj-lt" pitchFamily="34" charset="-122"/>
                <a:cs typeface="+mj-lt" pitchFamily="34" charset="-120"/>
              </a:rPr>
              <a:t>Get your site's figures</a:t>
            </a:r>
            <a:endParaRPr lang="en-US" sz="1400" dirty="0"/>
          </a:p>
        </p:txBody>
      </p:sp>
      <p:sp>
        <p:nvSpPr>
          <p:cNvPr id="8" name="Step 1 text"/>
          <p:cNvSpPr txBox="1"/>
          <p:nvPr/>
        </p:nvSpPr>
        <p:spPr>
          <a:xfrm>
            <a:off x="1051560" y="2496312"/>
            <a:ext cx="6172200" cy="457200"/>
          </a:xfrm>
          <a:prstGeom prst="rect">
            <a:avLst/>
          </a:prstGeom>
          <a:noFill/>
          <a:ln/>
        </p:spPr>
        <p:txBody>
          <a:bodyPr wrap="square" lIns="0" tIns="0" rIns="0" bIns="0" rtlCol="0" anchor="t"/>
          <a:lstStyle/>
          <a:p>
            <a:pPr indent="0" marL="0">
              <a:buNone/>
            </a:pPr>
            <a:r>
              <a:rPr lang="en-US" sz="1250" dirty="0">
                <a:solidFill>
                  <a:schemeClr val="tx1"/>
                </a:solidFill>
              </a:rPr>
              <a:t>In the Project Tracker: FY2024 Scope 1 + 2 and the latest actual under Reference data; the 2030 requirement, approved projects and gap on your site's Overview.</a:t>
            </a:r>
            <a:endParaRPr lang="en-US" sz="1250" dirty="0"/>
          </a:p>
        </p:txBody>
      </p:sp>
      <p:sp>
        <p:nvSpPr>
          <p:cNvPr id="9" name="Step 2 marker"/>
          <p:cNvSpPr/>
          <p:nvPr/>
        </p:nvSpPr>
        <p:spPr>
          <a:xfrm>
            <a:off x="457200" y="3026664"/>
            <a:ext cx="420624" cy="420624"/>
          </a:xfrm>
          <a:prstGeom prst="ellipse">
            <a:avLst/>
          </a:prstGeom>
          <a:solidFill>
            <a:schemeClr val="accent1"/>
          </a:solidFill>
          <a:ln/>
        </p:spPr>
      </p:sp>
      <p:sp>
        <p:nvSpPr>
          <p:cNvPr id="10" name="Step 2 number"/>
          <p:cNvSpPr txBox="1"/>
          <p:nvPr/>
        </p:nvSpPr>
        <p:spPr>
          <a:xfrm>
            <a:off x="457200" y="302666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1" name="Step 2 title"/>
          <p:cNvSpPr txBox="1"/>
          <p:nvPr/>
        </p:nvSpPr>
        <p:spPr>
          <a:xfrm>
            <a:off x="1051560" y="3008376"/>
            <a:ext cx="6172200" cy="274320"/>
          </a:xfrm>
          <a:prstGeom prst="rect">
            <a:avLst/>
          </a:prstGeom>
          <a:noFill/>
          <a:ln/>
        </p:spPr>
        <p:txBody>
          <a:bodyPr wrap="square" lIns="0" tIns="0" rIns="0" bIns="0" rtlCol="0" anchor="ctr"/>
          <a:lstStyle/>
          <a:p>
            <a:pPr indent="0" marL="0">
              <a:buNone/>
            </a:pPr>
            <a:r>
              <a:rPr lang="en-US" sz="1400" b="1" dirty="0">
                <a:solidFill>
                  <a:schemeClr val="accent1"/>
                </a:solidFill>
                <a:latin typeface="+mj-lt" pitchFamily="34" charset="0"/>
                <a:ea typeface="+mj-lt" pitchFamily="34" charset="-122"/>
                <a:cs typeface="+mj-lt" pitchFamily="34" charset="-120"/>
              </a:rPr>
              <a:t>Calculate the impact</a:t>
            </a:r>
            <a:endParaRPr lang="en-US" sz="1400" dirty="0"/>
          </a:p>
        </p:txBody>
      </p:sp>
      <p:sp>
        <p:nvSpPr>
          <p:cNvPr id="12" name="Step 2 text"/>
          <p:cNvSpPr txBox="1"/>
          <p:nvPr/>
        </p:nvSpPr>
        <p:spPr>
          <a:xfrm>
            <a:off x="1051560" y="3291840"/>
            <a:ext cx="6172200" cy="457200"/>
          </a:xfrm>
          <a:prstGeom prst="rect">
            <a:avLst/>
          </a:prstGeom>
          <a:noFill/>
          <a:ln/>
        </p:spPr>
        <p:txBody>
          <a:bodyPr wrap="square" lIns="0" tIns="0" rIns="0" bIns="0" rtlCol="0" anchor="t"/>
          <a:lstStyle/>
          <a:p>
            <a:pPr indent="0" marL="0">
              <a:buNone/>
            </a:pPr>
            <a:r>
              <a:rPr lang="en-US" sz="1250" dirty="0">
                <a:solidFill>
                  <a:schemeClr val="tx1"/>
                </a:solidFill>
              </a:rPr>
              <a:t>Slide 6. Energy before and after, times the FY2024 factors. Show every step and its source. Measured data first; label every estimate.</a:t>
            </a:r>
            <a:endParaRPr lang="en-US" sz="1250" dirty="0"/>
          </a:p>
        </p:txBody>
      </p:sp>
      <p:sp>
        <p:nvSpPr>
          <p:cNvPr id="13" name="Step 3 marker"/>
          <p:cNvSpPr/>
          <p:nvPr/>
        </p:nvSpPr>
        <p:spPr>
          <a:xfrm>
            <a:off x="457200" y="3822192"/>
            <a:ext cx="420624" cy="420624"/>
          </a:xfrm>
          <a:prstGeom prst="ellipse">
            <a:avLst/>
          </a:prstGeom>
          <a:solidFill>
            <a:schemeClr val="accent1"/>
          </a:solidFill>
          <a:ln/>
        </p:spPr>
      </p:sp>
      <p:sp>
        <p:nvSpPr>
          <p:cNvPr id="14" name="Step 3 number"/>
          <p:cNvSpPr txBox="1"/>
          <p:nvPr/>
        </p:nvSpPr>
        <p:spPr>
          <a:xfrm>
            <a:off x="457200" y="382219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15" name="Step 3 title"/>
          <p:cNvSpPr txBox="1"/>
          <p:nvPr/>
        </p:nvSpPr>
        <p:spPr>
          <a:xfrm>
            <a:off x="1051560" y="3803904"/>
            <a:ext cx="6172200" cy="274320"/>
          </a:xfrm>
          <a:prstGeom prst="rect">
            <a:avLst/>
          </a:prstGeom>
          <a:noFill/>
          <a:ln/>
        </p:spPr>
        <p:txBody>
          <a:bodyPr wrap="square" lIns="0" tIns="0" rIns="0" bIns="0" rtlCol="0" anchor="ctr"/>
          <a:lstStyle/>
          <a:p>
            <a:pPr indent="0" marL="0">
              <a:buNone/>
            </a:pPr>
            <a:r>
              <a:rPr lang="en-US" sz="1400" b="1" dirty="0">
                <a:solidFill>
                  <a:schemeClr val="accent1"/>
                </a:solidFill>
                <a:latin typeface="+mj-lt" pitchFamily="34" charset="0"/>
                <a:ea typeface="+mj-lt" pitchFamily="34" charset="-122"/>
                <a:cs typeface="+mj-lt" pitchFamily="34" charset="-120"/>
              </a:rPr>
              <a:t>Build the financial case</a:t>
            </a:r>
            <a:endParaRPr lang="en-US" sz="1400" dirty="0"/>
          </a:p>
        </p:txBody>
      </p:sp>
      <p:sp>
        <p:nvSpPr>
          <p:cNvPr id="16" name="Step 3 text"/>
          <p:cNvSpPr txBox="1"/>
          <p:nvPr/>
        </p:nvSpPr>
        <p:spPr>
          <a:xfrm>
            <a:off x="1051560" y="4087368"/>
            <a:ext cx="6172200" cy="457200"/>
          </a:xfrm>
          <a:prstGeom prst="rect">
            <a:avLst/>
          </a:prstGeom>
          <a:noFill/>
          <a:ln/>
        </p:spPr>
        <p:txBody>
          <a:bodyPr wrap="square" lIns="0" tIns="0" rIns="0" bIns="0" rtlCol="0" anchor="t"/>
          <a:lstStyle/>
          <a:p>
            <a:pPr indent="0" marL="0">
              <a:buNone/>
            </a:pPr>
            <a:r>
              <a:rPr lang="en-US" sz="1250" dirty="0">
                <a:solidFill>
                  <a:schemeClr val="tx1"/>
                </a:solidFill>
              </a:rPr>
              <a:t>Slide 8, with your site controller: capex, opex change, funding, payback and cost per tCO₂e.</a:t>
            </a:r>
            <a:endParaRPr lang="en-US" sz="1250" dirty="0"/>
          </a:p>
        </p:txBody>
      </p:sp>
      <p:sp>
        <p:nvSpPr>
          <p:cNvPr id="17" name="Step 4 marker"/>
          <p:cNvSpPr/>
          <p:nvPr/>
        </p:nvSpPr>
        <p:spPr>
          <a:xfrm>
            <a:off x="457200" y="4617720"/>
            <a:ext cx="420624" cy="420624"/>
          </a:xfrm>
          <a:prstGeom prst="ellipse">
            <a:avLst/>
          </a:prstGeom>
          <a:solidFill>
            <a:schemeClr val="accent1"/>
          </a:solidFill>
          <a:ln/>
        </p:spPr>
      </p:sp>
      <p:sp>
        <p:nvSpPr>
          <p:cNvPr id="18" name="Step 4 number"/>
          <p:cNvSpPr txBox="1"/>
          <p:nvPr/>
        </p:nvSpPr>
        <p:spPr>
          <a:xfrm>
            <a:off x="457200" y="461772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19" name="Step 4 title"/>
          <p:cNvSpPr txBox="1"/>
          <p:nvPr/>
        </p:nvSpPr>
        <p:spPr>
          <a:xfrm>
            <a:off x="1051560" y="4599432"/>
            <a:ext cx="6172200" cy="274320"/>
          </a:xfrm>
          <a:prstGeom prst="rect">
            <a:avLst/>
          </a:prstGeom>
          <a:noFill/>
          <a:ln/>
        </p:spPr>
        <p:txBody>
          <a:bodyPr wrap="square" lIns="0" tIns="0" rIns="0" bIns="0" rtlCol="0" anchor="ctr"/>
          <a:lstStyle/>
          <a:p>
            <a:pPr indent="0" marL="0">
              <a:buNone/>
            </a:pPr>
            <a:r>
              <a:rPr lang="en-US" sz="1400" b="1" dirty="0">
                <a:solidFill>
                  <a:schemeClr val="accent1"/>
                </a:solidFill>
                <a:latin typeface="+mj-lt" pitchFamily="34" charset="0"/>
                <a:ea typeface="+mj-lt" pitchFamily="34" charset="-122"/>
                <a:cs typeface="+mj-lt" pitchFamily="34" charset="-120"/>
              </a:rPr>
              <a:t>Fill slides 3 to 12</a:t>
            </a:r>
            <a:endParaRPr lang="en-US" sz="1400" dirty="0"/>
          </a:p>
        </p:txBody>
      </p:sp>
      <p:sp>
        <p:nvSpPr>
          <p:cNvPr id="20" name="Step 4 text"/>
          <p:cNvSpPr txBox="1"/>
          <p:nvPr/>
        </p:nvSpPr>
        <p:spPr>
          <a:xfrm>
            <a:off x="1051560" y="4882896"/>
            <a:ext cx="6172200" cy="457200"/>
          </a:xfrm>
          <a:prstGeom prst="rect">
            <a:avLst/>
          </a:prstGeom>
          <a:noFill/>
          <a:ln/>
        </p:spPr>
        <p:txBody>
          <a:bodyPr wrap="square" lIns="0" tIns="0" rIns="0" bIns="0" rtlCol="0" anchor="t"/>
          <a:lstStyle/>
          <a:p>
            <a:pPr indent="0" marL="0">
              <a:buNone/>
            </a:pPr>
            <a:r>
              <a:rPr lang="en-US" sz="1250" dirty="0">
                <a:solidFill>
                  <a:schemeClr val="tx1"/>
                </a:solidFill>
              </a:rPr>
              <a:t>Replace every [bracket]. Keep the order and the layouts. One message per slide, in the title. Plan for ten minutes, then questions.</a:t>
            </a:r>
            <a:endParaRPr lang="en-US" sz="1250" dirty="0"/>
          </a:p>
        </p:txBody>
      </p:sp>
      <p:sp>
        <p:nvSpPr>
          <p:cNvPr id="21" name="Step 5 marker"/>
          <p:cNvSpPr/>
          <p:nvPr/>
        </p:nvSpPr>
        <p:spPr>
          <a:xfrm>
            <a:off x="457200" y="5413248"/>
            <a:ext cx="420624" cy="420624"/>
          </a:xfrm>
          <a:prstGeom prst="ellipse">
            <a:avLst/>
          </a:prstGeom>
          <a:solidFill>
            <a:schemeClr val="accent1"/>
          </a:solidFill>
          <a:ln/>
        </p:spPr>
      </p:sp>
      <p:sp>
        <p:nvSpPr>
          <p:cNvPr id="22" name="Step 5 number"/>
          <p:cNvSpPr txBox="1"/>
          <p:nvPr/>
        </p:nvSpPr>
        <p:spPr>
          <a:xfrm>
            <a:off x="457200" y="541324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5</a:t>
            </a:r>
            <a:endParaRPr lang="en-US" sz="1400" dirty="0"/>
          </a:p>
        </p:txBody>
      </p:sp>
      <p:sp>
        <p:nvSpPr>
          <p:cNvPr id="23" name="Step 5 title"/>
          <p:cNvSpPr txBox="1"/>
          <p:nvPr/>
        </p:nvSpPr>
        <p:spPr>
          <a:xfrm>
            <a:off x="1051560" y="5394960"/>
            <a:ext cx="6172200" cy="274320"/>
          </a:xfrm>
          <a:prstGeom prst="rect">
            <a:avLst/>
          </a:prstGeom>
          <a:noFill/>
          <a:ln/>
        </p:spPr>
        <p:txBody>
          <a:bodyPr wrap="square" lIns="0" tIns="0" rIns="0" bIns="0" rtlCol="0" anchor="ctr"/>
          <a:lstStyle/>
          <a:p>
            <a:pPr indent="0" marL="0">
              <a:buNone/>
            </a:pPr>
            <a:r>
              <a:rPr lang="en-US" sz="1400" b="1" dirty="0">
                <a:solidFill>
                  <a:schemeClr val="accent1"/>
                </a:solidFill>
                <a:latin typeface="+mj-lt" pitchFamily="34" charset="0"/>
                <a:ea typeface="+mj-lt" pitchFamily="34" charset="-122"/>
                <a:cs typeface="+mj-lt" pitchFamily="34" charset="-120"/>
              </a:rPr>
              <a:t>Check, save, upload</a:t>
            </a:r>
            <a:endParaRPr lang="en-US" sz="1400" dirty="0"/>
          </a:p>
        </p:txBody>
      </p:sp>
      <p:sp>
        <p:nvSpPr>
          <p:cNvPr id="24" name="Step 5 text"/>
          <p:cNvSpPr txBox="1"/>
          <p:nvPr/>
        </p:nvSpPr>
        <p:spPr>
          <a:xfrm>
            <a:off x="1051560" y="5678424"/>
            <a:ext cx="6172200" cy="457200"/>
          </a:xfrm>
          <a:prstGeom prst="rect">
            <a:avLst/>
          </a:prstGeom>
          <a:noFill/>
          <a:ln/>
        </p:spPr>
        <p:txBody>
          <a:bodyPr wrap="square" lIns="0" tIns="0" rIns="0" bIns="0" rtlCol="0" anchor="t"/>
          <a:lstStyle/>
          <a:p>
            <a:pPr indent="0" marL="0">
              <a:buNone/>
            </a:pPr>
            <a:r>
              <a:rPr lang="en-US" sz="1250" dirty="0">
                <a:solidFill>
                  <a:schemeClr val="tx1"/>
                </a:solidFill>
              </a:rPr>
              <a:t>Title, annual impact, total impact, start year, capex, opex and owner match the tracker form. Delete this slide, save the PowerPoint file and attach it to your submission.</a:t>
            </a:r>
            <a:endParaRPr lang="en-US" sz="1250" dirty="0"/>
          </a:p>
        </p:txBody>
      </p:sp>
      <p:sp>
        <p:nvSpPr>
          <p:cNvPr id="25" name="Checks card"/>
          <p:cNvSpPr/>
          <p:nvPr/>
        </p:nvSpPr>
        <p:spPr>
          <a:xfrm>
            <a:off x="7635240" y="2194560"/>
            <a:ext cx="4096512" cy="3931920"/>
          </a:xfrm>
          <a:prstGeom prst="rect">
            <a:avLst/>
          </a:prstGeom>
          <a:solidFill>
            <a:schemeClr val="bg1"/>
          </a:solidFill>
          <a:ln w="9525">
            <a:solidFill>
              <a:srgbClr val="DDDBD3"/>
            </a:solidFill>
            <a:prstDash val="solid"/>
          </a:ln>
        </p:spPr>
      </p:sp>
      <p:sp>
        <p:nvSpPr>
          <p:cNvPr id="26" name="Checks eyebrow"/>
          <p:cNvSpPr txBox="1"/>
          <p:nvPr/>
        </p:nvSpPr>
        <p:spPr>
          <a:xfrm>
            <a:off x="7863840" y="2331720"/>
            <a:ext cx="36576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WHAT THE COMMITTEE CHECKS</a:t>
            </a:r>
            <a:endParaRPr lang="en-US" sz="1100" dirty="0"/>
          </a:p>
        </p:txBody>
      </p:sp>
      <p:sp>
        <p:nvSpPr>
          <p:cNvPr id="27" name="Checks list"/>
          <p:cNvSpPr txBox="1"/>
          <p:nvPr/>
        </p:nvSpPr>
        <p:spPr>
          <a:xfrm>
            <a:off x="7863840" y="2697480"/>
            <a:ext cx="3657600" cy="25146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chemeClr val="tx1"/>
                </a:solidFill>
              </a:rPr>
              <a:t>One set of numbers: the tracker form and this deck match to the digit.</a:t>
            </a:r>
            <a:endParaRPr lang="en-US" sz="1250" dirty="0"/>
          </a:p>
          <a:p>
            <a:pPr marL="177800" indent="-177800">
              <a:spcAft>
                <a:spcPts val="700"/>
              </a:spcAft>
              <a:buSzPct val="100000"/>
              <a:buChar char="•"/>
            </a:pPr>
            <a:r>
              <a:rPr lang="en-US" sz="1250" dirty="0">
                <a:solidFill>
                  <a:schemeClr val="tx1"/>
                </a:solidFill>
              </a:rPr>
              <a:t>Scope 1 + 2 only, location-based, FY2024 factor set. A green electricity contract does not count.</a:t>
            </a:r>
            <a:endParaRPr lang="en-US" sz="1250" dirty="0"/>
          </a:p>
          <a:p>
            <a:pPr marL="177800" indent="-177800">
              <a:spcAft>
                <a:spcPts val="700"/>
              </a:spcAft>
              <a:buSzPct val="100000"/>
              <a:buChar char="•"/>
            </a:pPr>
            <a:r>
              <a:rPr lang="en-US" sz="1250" dirty="0">
                <a:solidFill>
                  <a:schemeClr val="tx1"/>
                </a:solidFill>
              </a:rPr>
              <a:t>Annual impact is the full run rate. It counts from the start year, with no ramp-up.</a:t>
            </a:r>
            <a:endParaRPr lang="en-US" sz="1250" dirty="0"/>
          </a:p>
          <a:p>
            <a:pPr marL="177800" indent="-177800">
              <a:spcAft>
                <a:spcPts val="700"/>
              </a:spcAft>
              <a:buSzPct val="100000"/>
              <a:buChar char="•"/>
            </a:pPr>
            <a:r>
              <a:rPr lang="en-US" sz="1250" dirty="0">
                <a:solidFill>
                  <a:schemeClr val="tx1"/>
                </a:solidFill>
              </a:rPr>
              <a:t>Net effect: if gas goes down and electricity goes up, show both.</a:t>
            </a:r>
            <a:endParaRPr lang="en-US" sz="1250" dirty="0"/>
          </a:p>
          <a:p>
            <a:pPr marL="177800" indent="-177800">
              <a:spcAft>
                <a:spcPts val="700"/>
              </a:spcAft>
              <a:buSzPct val="100000"/>
              <a:buChar char="•"/>
            </a:pPr>
            <a:r>
              <a:rPr lang="en-US" sz="1250" dirty="0">
                <a:solidFill>
                  <a:schemeClr val="tx1"/>
                </a:solidFill>
              </a:rPr>
              <a:t>Every estimate is labelled "estimate" and has a source.</a:t>
            </a:r>
            <a:endParaRPr lang="en-US" sz="1250" dirty="0"/>
          </a:p>
        </p:txBody>
      </p:sp>
      <p:sp>
        <p:nvSpPr>
          <p:cNvPr id="28" name="Checks divider"/>
          <p:cNvSpPr/>
          <p:nvPr/>
        </p:nvSpPr>
        <p:spPr>
          <a:xfrm>
            <a:off x="7863840" y="5193792"/>
            <a:ext cx="3657600" cy="0"/>
          </a:xfrm>
          <a:prstGeom prst="line">
            <a:avLst/>
          </a:prstGeom>
          <a:noFill/>
          <a:ln w="9525">
            <a:solidFill>
              <a:srgbClr val="DDDBD3"/>
            </a:solidFill>
            <a:prstDash val="solid"/>
          </a:ln>
        </p:spPr>
      </p:sp>
      <p:sp>
        <p:nvSpPr>
          <p:cNvPr id="29" name="File eyebrow"/>
          <p:cNvSpPr txBox="1"/>
          <p:nvPr/>
        </p:nvSpPr>
        <p:spPr>
          <a:xfrm>
            <a:off x="7863840" y="5266944"/>
            <a:ext cx="36576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THE FILE YOU UPLOAD</a:t>
            </a:r>
            <a:endParaRPr lang="en-US" sz="1100" dirty="0"/>
          </a:p>
        </p:txBody>
      </p:sp>
      <p:sp>
        <p:nvSpPr>
          <p:cNvPr id="30" name="File text"/>
          <p:cNvSpPr txBox="1"/>
          <p:nvPr/>
        </p:nvSpPr>
        <p:spPr>
          <a:xfrm>
            <a:off x="7863840" y="5559552"/>
            <a:ext cx="3657600" cy="457200"/>
          </a:xfrm>
          <a:prstGeom prst="rect">
            <a:avLst/>
          </a:prstGeom>
          <a:noFill/>
          <a:ln/>
        </p:spPr>
        <p:txBody>
          <a:bodyPr wrap="square" lIns="0" tIns="0" rIns="0" bIns="0" rtlCol="0" anchor="t"/>
          <a:lstStyle/>
          <a:p>
            <a:pPr indent="0" marL="0">
              <a:spcAft>
                <a:spcPts val="100"/>
              </a:spcAft>
              <a:buNone/>
            </a:pPr>
            <a:r>
              <a:rPr lang="en-US" sz="1250" dirty="0">
                <a:solidFill>
                  <a:schemeClr val="tx1"/>
                </a:solidFill>
              </a:rPr>
              <a:t>PowerPoint file (.pptx), named</a:t>
            </a:r>
            <a:endParaRPr lang="en-US" sz="1250" dirty="0"/>
          </a:p>
          <a:p>
            <a:pPr indent="0" marL="0">
              <a:spcAft>
                <a:spcPts val="100"/>
              </a:spcAft>
              <a:buNone/>
            </a:pPr>
            <a:r>
              <a:rPr lang="en-US" sz="1250" dirty="0">
                <a:solidFill>
                  <a:schemeClr val="tx1"/>
                </a:solidFill>
              </a:rPr>
              <a:t>[site code]_[short title]_v[version].pptx</a:t>
            </a:r>
            <a:endParaRPr lang="en-US" sz="125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DECISION SUMMARY</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[The decision you ask for, in one line]</a:t>
            </a:r>
            <a:endParaRPr lang="en-US" sz="2800" dirty="0"/>
          </a:p>
        </p:txBody>
      </p:sp>
      <p:sp>
        <p:nvSpPr>
          <p:cNvPr id="5" name="Tile 1"/>
          <p:cNvSpPr/>
          <p:nvPr/>
        </p:nvSpPr>
        <p:spPr>
          <a:xfrm>
            <a:off x="457200" y="2194560"/>
            <a:ext cx="2697480" cy="1920240"/>
          </a:xfrm>
          <a:prstGeom prst="rect">
            <a:avLst/>
          </a:prstGeom>
          <a:solidFill>
            <a:schemeClr val="bg1"/>
          </a:solidFill>
          <a:ln w="9525">
            <a:solidFill>
              <a:srgbClr val="DDDBD3"/>
            </a:solidFill>
            <a:prstDash val="solid"/>
          </a:ln>
        </p:spPr>
      </p:sp>
      <p:sp>
        <p:nvSpPr>
          <p:cNvPr id="6" name="Tile 1 bar"/>
          <p:cNvSpPr/>
          <p:nvPr/>
        </p:nvSpPr>
        <p:spPr>
          <a:xfrm>
            <a:off x="457200" y="2194560"/>
            <a:ext cx="2697480" cy="73152"/>
          </a:xfrm>
          <a:prstGeom prst="rect">
            <a:avLst/>
          </a:prstGeom>
          <a:solidFill>
            <a:schemeClr val="accent1"/>
          </a:solidFill>
          <a:ln/>
        </p:spPr>
      </p:sp>
      <p:sp>
        <p:nvSpPr>
          <p:cNvPr id="7" name="Tile 1 label"/>
          <p:cNvSpPr txBox="1"/>
          <p:nvPr/>
        </p:nvSpPr>
        <p:spPr>
          <a:xfrm>
            <a:off x="640080" y="2377440"/>
            <a:ext cx="2377440" cy="274320"/>
          </a:xfrm>
          <a:prstGeom prst="rect">
            <a:avLst/>
          </a:prstGeom>
          <a:noFill/>
          <a:ln/>
        </p:spPr>
        <p:txBody>
          <a:bodyPr wrap="square" lIns="0" tIns="0" rIns="0" bIns="0" rtlCol="0" anchor="ctr"/>
          <a:lstStyle/>
          <a:p>
            <a:pPr indent="0" marL="0">
              <a:buNone/>
            </a:pPr>
            <a:r>
              <a:rPr lang="en-US" sz="1100" b="1" spc="100" kern="0" dirty="0">
                <a:solidFill>
                  <a:srgbClr val="6B6B6B"/>
                </a:solidFill>
              </a:rPr>
              <a:t>ANNUAL IMPACT</a:t>
            </a:r>
            <a:endParaRPr lang="en-US" sz="1100" dirty="0"/>
          </a:p>
        </p:txBody>
      </p:sp>
      <p:sp>
        <p:nvSpPr>
          <p:cNvPr id="8" name="Tile 1 value"/>
          <p:cNvSpPr txBox="1"/>
          <p:nvPr/>
        </p:nvSpPr>
        <p:spPr>
          <a:xfrm>
            <a:off x="640080" y="2697480"/>
            <a:ext cx="2377440" cy="73152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[0,000] t</a:t>
            </a:r>
            <a:endParaRPr lang="en-US" sz="2800" dirty="0"/>
          </a:p>
        </p:txBody>
      </p:sp>
      <p:sp>
        <p:nvSpPr>
          <p:cNvPr id="9" name="Tile 1 note"/>
          <p:cNvSpPr txBox="1"/>
          <p:nvPr/>
        </p:nvSpPr>
        <p:spPr>
          <a:xfrm>
            <a:off x="640080" y="3456432"/>
            <a:ext cx="2377440" cy="502920"/>
          </a:xfrm>
          <a:prstGeom prst="rect">
            <a:avLst/>
          </a:prstGeom>
          <a:noFill/>
          <a:ln/>
        </p:spPr>
        <p:txBody>
          <a:bodyPr wrap="square" lIns="0" tIns="0" rIns="0" bIns="0" rtlCol="0" anchor="t"/>
          <a:lstStyle/>
          <a:p>
            <a:pPr indent="0" marL="0">
              <a:buNone/>
            </a:pPr>
            <a:r>
              <a:rPr lang="en-US" sz="1200" dirty="0">
                <a:solidFill>
                  <a:schemeClr val="tx1"/>
                </a:solidFill>
              </a:rPr>
              <a:t>tCO₂e per year, from [start year]</a:t>
            </a:r>
            <a:endParaRPr lang="en-US" sz="1200" dirty="0"/>
          </a:p>
        </p:txBody>
      </p:sp>
      <p:sp>
        <p:nvSpPr>
          <p:cNvPr id="10" name="Tile 2"/>
          <p:cNvSpPr/>
          <p:nvPr/>
        </p:nvSpPr>
        <p:spPr>
          <a:xfrm>
            <a:off x="3337560" y="2194560"/>
            <a:ext cx="2697480" cy="1920240"/>
          </a:xfrm>
          <a:prstGeom prst="rect">
            <a:avLst/>
          </a:prstGeom>
          <a:solidFill>
            <a:schemeClr val="bg1"/>
          </a:solidFill>
          <a:ln w="9525">
            <a:solidFill>
              <a:srgbClr val="DDDBD3"/>
            </a:solidFill>
            <a:prstDash val="solid"/>
          </a:ln>
        </p:spPr>
      </p:sp>
      <p:sp>
        <p:nvSpPr>
          <p:cNvPr id="11" name="Tile 2 bar"/>
          <p:cNvSpPr/>
          <p:nvPr/>
        </p:nvSpPr>
        <p:spPr>
          <a:xfrm>
            <a:off x="3337560" y="2194560"/>
            <a:ext cx="2697480" cy="73152"/>
          </a:xfrm>
          <a:prstGeom prst="rect">
            <a:avLst/>
          </a:prstGeom>
          <a:solidFill>
            <a:schemeClr val="accent1"/>
          </a:solidFill>
          <a:ln/>
        </p:spPr>
      </p:sp>
      <p:sp>
        <p:nvSpPr>
          <p:cNvPr id="12" name="Tile 2 label"/>
          <p:cNvSpPr txBox="1"/>
          <p:nvPr/>
        </p:nvSpPr>
        <p:spPr>
          <a:xfrm>
            <a:off x="3520440" y="2377440"/>
            <a:ext cx="2377440" cy="274320"/>
          </a:xfrm>
          <a:prstGeom prst="rect">
            <a:avLst/>
          </a:prstGeom>
          <a:noFill/>
          <a:ln/>
        </p:spPr>
        <p:txBody>
          <a:bodyPr wrap="square" lIns="0" tIns="0" rIns="0" bIns="0" rtlCol="0" anchor="ctr"/>
          <a:lstStyle/>
          <a:p>
            <a:pPr indent="0" marL="0">
              <a:buNone/>
            </a:pPr>
            <a:r>
              <a:rPr lang="en-US" sz="1100" b="1" spc="100" kern="0" dirty="0">
                <a:solidFill>
                  <a:srgbClr val="6B6B6B"/>
                </a:solidFill>
              </a:rPr>
              <a:t>SHARE OF SITE TARGET</a:t>
            </a:r>
            <a:endParaRPr lang="en-US" sz="1100" dirty="0"/>
          </a:p>
        </p:txBody>
      </p:sp>
      <p:sp>
        <p:nvSpPr>
          <p:cNvPr id="13" name="Tile 2 value"/>
          <p:cNvSpPr txBox="1"/>
          <p:nvPr/>
        </p:nvSpPr>
        <p:spPr>
          <a:xfrm>
            <a:off x="3520440" y="2697480"/>
            <a:ext cx="2377440" cy="73152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[00] %</a:t>
            </a:r>
            <a:endParaRPr lang="en-US" sz="2800" dirty="0"/>
          </a:p>
        </p:txBody>
      </p:sp>
      <p:sp>
        <p:nvSpPr>
          <p:cNvPr id="14" name="Tile 2 note"/>
          <p:cNvSpPr txBox="1"/>
          <p:nvPr/>
        </p:nvSpPr>
        <p:spPr>
          <a:xfrm>
            <a:off x="3520440" y="3456432"/>
            <a:ext cx="2377440" cy="502920"/>
          </a:xfrm>
          <a:prstGeom prst="rect">
            <a:avLst/>
          </a:prstGeom>
          <a:noFill/>
          <a:ln/>
        </p:spPr>
        <p:txBody>
          <a:bodyPr wrap="square" lIns="0" tIns="0" rIns="0" bIns="0" rtlCol="0" anchor="t"/>
          <a:lstStyle/>
          <a:p>
            <a:pPr indent="0" marL="0">
              <a:buNone/>
            </a:pPr>
            <a:r>
              <a:rPr lang="en-US" sz="1200" dirty="0">
                <a:solidFill>
                  <a:schemeClr val="tx1"/>
                </a:solidFill>
              </a:rPr>
              <a:t>of the reduction the site needs by 2030</a:t>
            </a:r>
            <a:endParaRPr lang="en-US" sz="1200" dirty="0"/>
          </a:p>
        </p:txBody>
      </p:sp>
      <p:sp>
        <p:nvSpPr>
          <p:cNvPr id="15" name="Tile 3"/>
          <p:cNvSpPr/>
          <p:nvPr/>
        </p:nvSpPr>
        <p:spPr>
          <a:xfrm>
            <a:off x="6217920" y="2194560"/>
            <a:ext cx="2697480" cy="1920240"/>
          </a:xfrm>
          <a:prstGeom prst="rect">
            <a:avLst/>
          </a:prstGeom>
          <a:solidFill>
            <a:schemeClr val="bg1"/>
          </a:solidFill>
          <a:ln w="9525">
            <a:solidFill>
              <a:srgbClr val="DDDBD3"/>
            </a:solidFill>
            <a:prstDash val="solid"/>
          </a:ln>
        </p:spPr>
      </p:sp>
      <p:sp>
        <p:nvSpPr>
          <p:cNvPr id="16" name="Tile 3 bar"/>
          <p:cNvSpPr/>
          <p:nvPr/>
        </p:nvSpPr>
        <p:spPr>
          <a:xfrm>
            <a:off x="6217920" y="2194560"/>
            <a:ext cx="2697480" cy="73152"/>
          </a:xfrm>
          <a:prstGeom prst="rect">
            <a:avLst/>
          </a:prstGeom>
          <a:solidFill>
            <a:schemeClr val="accent1"/>
          </a:solidFill>
          <a:ln/>
        </p:spPr>
      </p:sp>
      <p:sp>
        <p:nvSpPr>
          <p:cNvPr id="17" name="Tile 3 label"/>
          <p:cNvSpPr txBox="1"/>
          <p:nvPr/>
        </p:nvSpPr>
        <p:spPr>
          <a:xfrm>
            <a:off x="6400800" y="2377440"/>
            <a:ext cx="2377440" cy="274320"/>
          </a:xfrm>
          <a:prstGeom prst="rect">
            <a:avLst/>
          </a:prstGeom>
          <a:noFill/>
          <a:ln/>
        </p:spPr>
        <p:txBody>
          <a:bodyPr wrap="square" lIns="0" tIns="0" rIns="0" bIns="0" rtlCol="0" anchor="ctr"/>
          <a:lstStyle/>
          <a:p>
            <a:pPr indent="0" marL="0">
              <a:buNone/>
            </a:pPr>
            <a:r>
              <a:rPr lang="en-US" sz="1100" b="1" spc="100" kern="0" dirty="0">
                <a:solidFill>
                  <a:srgbClr val="6B6B6B"/>
                </a:solidFill>
              </a:rPr>
              <a:t>CAPEX</a:t>
            </a:r>
            <a:endParaRPr lang="en-US" sz="1100" dirty="0"/>
          </a:p>
        </p:txBody>
      </p:sp>
      <p:sp>
        <p:nvSpPr>
          <p:cNvPr id="18" name="Tile 3 value"/>
          <p:cNvSpPr txBox="1"/>
          <p:nvPr/>
        </p:nvSpPr>
        <p:spPr>
          <a:xfrm>
            <a:off x="6400800" y="2697480"/>
            <a:ext cx="2377440" cy="73152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 [0.00] m</a:t>
            </a:r>
            <a:endParaRPr lang="en-US" sz="2800" dirty="0"/>
          </a:p>
        </p:txBody>
      </p:sp>
      <p:sp>
        <p:nvSpPr>
          <p:cNvPr id="19" name="Tile 3 note"/>
          <p:cNvSpPr txBox="1"/>
          <p:nvPr/>
        </p:nvSpPr>
        <p:spPr>
          <a:xfrm>
            <a:off x="6400800" y="3456432"/>
            <a:ext cx="2377440" cy="502920"/>
          </a:xfrm>
          <a:prstGeom prst="rect">
            <a:avLst/>
          </a:prstGeom>
          <a:noFill/>
          <a:ln/>
        </p:spPr>
        <p:txBody>
          <a:bodyPr wrap="square" lIns="0" tIns="0" rIns="0" bIns="0" rtlCol="0" anchor="t"/>
          <a:lstStyle/>
          <a:p>
            <a:pPr indent="0" marL="0">
              <a:buNone/>
            </a:pPr>
            <a:r>
              <a:rPr lang="en-US" sz="1200" dirty="0">
                <a:solidFill>
                  <a:schemeClr val="tx1"/>
                </a:solidFill>
              </a:rPr>
              <a:t>Opex change: € [−000,000] per year</a:t>
            </a:r>
            <a:endParaRPr lang="en-US" sz="1200" dirty="0"/>
          </a:p>
        </p:txBody>
      </p:sp>
      <p:sp>
        <p:nvSpPr>
          <p:cNvPr id="20" name="Tile 4"/>
          <p:cNvSpPr/>
          <p:nvPr/>
        </p:nvSpPr>
        <p:spPr>
          <a:xfrm>
            <a:off x="9098280" y="2194560"/>
            <a:ext cx="2697480" cy="1920240"/>
          </a:xfrm>
          <a:prstGeom prst="rect">
            <a:avLst/>
          </a:prstGeom>
          <a:solidFill>
            <a:schemeClr val="bg1"/>
          </a:solidFill>
          <a:ln w="9525">
            <a:solidFill>
              <a:srgbClr val="DDDBD3"/>
            </a:solidFill>
            <a:prstDash val="solid"/>
          </a:ln>
        </p:spPr>
      </p:sp>
      <p:sp>
        <p:nvSpPr>
          <p:cNvPr id="21" name="Tile 4 bar"/>
          <p:cNvSpPr/>
          <p:nvPr/>
        </p:nvSpPr>
        <p:spPr>
          <a:xfrm>
            <a:off x="9098280" y="2194560"/>
            <a:ext cx="2697480" cy="73152"/>
          </a:xfrm>
          <a:prstGeom prst="rect">
            <a:avLst/>
          </a:prstGeom>
          <a:solidFill>
            <a:schemeClr val="accent1"/>
          </a:solidFill>
          <a:ln/>
        </p:spPr>
      </p:sp>
      <p:sp>
        <p:nvSpPr>
          <p:cNvPr id="22" name="Tile 4 label"/>
          <p:cNvSpPr txBox="1"/>
          <p:nvPr/>
        </p:nvSpPr>
        <p:spPr>
          <a:xfrm>
            <a:off x="9281160" y="2377440"/>
            <a:ext cx="2377440" cy="274320"/>
          </a:xfrm>
          <a:prstGeom prst="rect">
            <a:avLst/>
          </a:prstGeom>
          <a:noFill/>
          <a:ln/>
        </p:spPr>
        <p:txBody>
          <a:bodyPr wrap="square" lIns="0" tIns="0" rIns="0" bIns="0" rtlCol="0" anchor="ctr"/>
          <a:lstStyle/>
          <a:p>
            <a:pPr indent="0" marL="0">
              <a:buNone/>
            </a:pPr>
            <a:r>
              <a:rPr lang="en-US" sz="1100" b="1" spc="100" kern="0" dirty="0">
                <a:solidFill>
                  <a:srgbClr val="6B6B6B"/>
                </a:solidFill>
              </a:rPr>
              <a:t>PAYBACK</a:t>
            </a:r>
            <a:endParaRPr lang="en-US" sz="1100" dirty="0"/>
          </a:p>
        </p:txBody>
      </p:sp>
      <p:sp>
        <p:nvSpPr>
          <p:cNvPr id="23" name="Tile 4 value"/>
          <p:cNvSpPr txBox="1"/>
          <p:nvPr/>
        </p:nvSpPr>
        <p:spPr>
          <a:xfrm>
            <a:off x="9281160" y="2697480"/>
            <a:ext cx="2377440" cy="73152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[0.0] years</a:t>
            </a:r>
            <a:endParaRPr lang="en-US" sz="2800" dirty="0"/>
          </a:p>
        </p:txBody>
      </p:sp>
      <p:sp>
        <p:nvSpPr>
          <p:cNvPr id="24" name="Tile 4 note"/>
          <p:cNvSpPr txBox="1"/>
          <p:nvPr/>
        </p:nvSpPr>
        <p:spPr>
          <a:xfrm>
            <a:off x="9281160" y="3456432"/>
            <a:ext cx="2377440" cy="502920"/>
          </a:xfrm>
          <a:prstGeom prst="rect">
            <a:avLst/>
          </a:prstGeom>
          <a:noFill/>
          <a:ln/>
        </p:spPr>
        <p:txBody>
          <a:bodyPr wrap="square" lIns="0" tIns="0" rIns="0" bIns="0" rtlCol="0" anchor="t"/>
          <a:lstStyle/>
          <a:p>
            <a:pPr indent="0" marL="0">
              <a:buNone/>
            </a:pPr>
            <a:r>
              <a:rPr lang="en-US" sz="1200" dirty="0">
                <a:solidFill>
                  <a:schemeClr val="tx1"/>
                </a:solidFill>
              </a:rPr>
              <a:t>Simple payback, after funding</a:t>
            </a:r>
            <a:endParaRPr lang="en-US" sz="1200" dirty="0"/>
          </a:p>
        </p:txBody>
      </p:sp>
      <p:sp>
        <p:nvSpPr>
          <p:cNvPr id="25" name="Project card"/>
          <p:cNvSpPr/>
          <p:nvPr/>
        </p:nvSpPr>
        <p:spPr>
          <a:xfrm>
            <a:off x="457200" y="4389120"/>
            <a:ext cx="7223760" cy="1737360"/>
          </a:xfrm>
          <a:prstGeom prst="rect">
            <a:avLst/>
          </a:prstGeom>
          <a:solidFill>
            <a:schemeClr val="bg1"/>
          </a:solidFill>
          <a:ln w="9525">
            <a:solidFill>
              <a:srgbClr val="DDDBD3"/>
            </a:solidFill>
            <a:prstDash val="solid"/>
          </a:ln>
        </p:spPr>
      </p:sp>
      <p:sp>
        <p:nvSpPr>
          <p:cNvPr id="26" name="Project eyebrow"/>
          <p:cNvSpPr txBox="1"/>
          <p:nvPr/>
        </p:nvSpPr>
        <p:spPr>
          <a:xfrm>
            <a:off x="640080" y="4498848"/>
            <a:ext cx="68580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THE PROJECT IN THREE LINES</a:t>
            </a:r>
            <a:endParaRPr lang="en-US" sz="1100" dirty="0"/>
          </a:p>
        </p:txBody>
      </p:sp>
      <p:sp>
        <p:nvSpPr>
          <p:cNvPr id="27" name="Project lines"/>
          <p:cNvSpPr txBox="1"/>
          <p:nvPr/>
        </p:nvSpPr>
        <p:spPr>
          <a:xfrm>
            <a:off x="640080" y="4846320"/>
            <a:ext cx="6858000" cy="1188720"/>
          </a:xfrm>
          <a:prstGeom prst="rect">
            <a:avLst/>
          </a:prstGeom>
          <a:noFill/>
          <a:ln/>
        </p:spPr>
        <p:txBody>
          <a:bodyPr wrap="square" lIns="0" tIns="0" rIns="0" bIns="0" rtlCol="0" anchor="t"/>
          <a:lstStyle/>
          <a:p>
            <a:pPr indent="0" marL="0">
              <a:spcAft>
                <a:spcPts val="700"/>
              </a:spcAft>
              <a:buNone/>
            </a:pPr>
            <a:r>
              <a:rPr lang="en-US" sz="1300" b="1" dirty="0">
                <a:solidFill>
                  <a:schemeClr val="tx1"/>
                </a:solidFill>
              </a:rPr>
              <a:t>What we do: </a:t>
            </a:r>
            <a:pPr indent="0" marL="0">
              <a:spcAft>
                <a:spcPts val="700"/>
              </a:spcAft>
              <a:buNone/>
            </a:pPr>
            <a:r>
              <a:rPr lang="en-US" sz="1300" dirty="0">
                <a:solidFill>
                  <a:schemeClr val="tx1"/>
                </a:solidFill>
              </a:rPr>
              <a:t>[one sentence]</a:t>
            </a:r>
            <a:endParaRPr lang="en-US" sz="1300" dirty="0"/>
          </a:p>
          <a:p>
            <a:pPr indent="0" marL="0">
              <a:spcAft>
                <a:spcPts val="700"/>
              </a:spcAft>
              <a:buNone/>
            </a:pPr>
            <a:r>
              <a:rPr lang="en-US" sz="1300" b="1" dirty="0">
                <a:solidFill>
                  <a:schemeClr val="tx1"/>
                </a:solidFill>
              </a:rPr>
              <a:t>Why now: </a:t>
            </a:r>
            <a:pPr indent="0" marL="0">
              <a:spcAft>
                <a:spcPts val="700"/>
              </a:spcAft>
              <a:buNone/>
            </a:pPr>
            <a:r>
              <a:rPr lang="en-US" sz="1300" dirty="0">
                <a:solidFill>
                  <a:schemeClr val="tx1"/>
                </a:solidFill>
              </a:rPr>
              <a:t>[the trigger: end of life, gap to the target, funding window]</a:t>
            </a:r>
            <a:endParaRPr lang="en-US" sz="1300" dirty="0"/>
          </a:p>
          <a:p>
            <a:pPr indent="0" marL="0">
              <a:spcAft>
                <a:spcPts val="700"/>
              </a:spcAft>
              <a:buNone/>
            </a:pPr>
            <a:r>
              <a:rPr lang="en-US" sz="1300" b="1" dirty="0">
                <a:solidFill>
                  <a:schemeClr val="tx1"/>
                </a:solidFill>
              </a:rPr>
              <a:t>If we do nothing: </a:t>
            </a:r>
            <a:pPr indent="0" marL="0">
              <a:spcAft>
                <a:spcPts val="700"/>
              </a:spcAft>
              <a:buNone/>
            </a:pPr>
            <a:r>
              <a:rPr lang="en-US" sz="1300" dirty="0">
                <a:solidFill>
                  <a:schemeClr val="tx1"/>
                </a:solidFill>
              </a:rPr>
              <a:t>[what stays as it is, and what that costs]</a:t>
            </a:r>
            <a:endParaRPr lang="en-US" sz="1300" dirty="0"/>
          </a:p>
        </p:txBody>
      </p:sp>
      <p:sp>
        <p:nvSpPr>
          <p:cNvPr id="28" name="Resubmission card"/>
          <p:cNvSpPr/>
          <p:nvPr/>
        </p:nvSpPr>
        <p:spPr>
          <a:xfrm>
            <a:off x="7863840" y="4389120"/>
            <a:ext cx="3867912" cy="1737360"/>
          </a:xfrm>
          <a:prstGeom prst="rect">
            <a:avLst/>
          </a:prstGeom>
          <a:solidFill>
            <a:schemeClr val="bg1"/>
          </a:solidFill>
          <a:ln w="9525">
            <a:solidFill>
              <a:srgbClr val="DDDBD3"/>
            </a:solidFill>
            <a:prstDash val="solid"/>
          </a:ln>
        </p:spPr>
      </p:sp>
      <p:sp>
        <p:nvSpPr>
          <p:cNvPr id="29" name="Resubmission eyebrow"/>
          <p:cNvSpPr txBox="1"/>
          <p:nvPr/>
        </p:nvSpPr>
        <p:spPr>
          <a:xfrm>
            <a:off x="8046720" y="4498848"/>
            <a:ext cx="34747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RESUBMISSION ONLY</a:t>
            </a:r>
            <a:endParaRPr lang="en-US" sz="1100" dirty="0"/>
          </a:p>
        </p:txBody>
      </p:sp>
      <p:sp>
        <p:nvSpPr>
          <p:cNvPr id="30" name="Resubmission text"/>
          <p:cNvSpPr txBox="1"/>
          <p:nvPr/>
        </p:nvSpPr>
        <p:spPr>
          <a:xfrm>
            <a:off x="8046720" y="4846320"/>
            <a:ext cx="3502152" cy="118872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[What changed since the declined version, and how it answers the committee's reason.]</a:t>
            </a:r>
            <a:endParaRPr lang="en-US" sz="1300" dirty="0"/>
          </a:p>
          <a:p>
            <a:pPr indent="0" marL="0">
              <a:spcAft>
                <a:spcPts val="600"/>
              </a:spcAft>
              <a:buNone/>
            </a:pPr>
            <a:r>
              <a:rPr lang="en-US" sz="1100" dirty="0">
                <a:solidFill>
                  <a:srgbClr val="6B6B6B"/>
                </a:solidFill>
              </a:rPr>
              <a:t>First submission: delete this box.</a:t>
            </a:r>
            <a:endParaRPr lang="en-US" sz="130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BASELINE AND PROBLEM</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Where the site stands against its target</a:t>
            </a:r>
            <a:endParaRPr lang="en-US" sz="2800" dirty="0"/>
          </a:p>
        </p:txBody>
      </p:sp>
      <p:graphicFrame>
        <p:nvGraphicFramePr>
          <p:cNvPr id="5" name="Baseline table"/>
          <p:cNvGraphicFramePr>
            <a:graphicFrameLocks noGrp="1"/>
          </p:cNvGraphicFramePr>
          <p:nvPr>
            <p:extLst>
              <p:ext uri="{D42A27DB-BD31-4B8C-83A1-F6EECF244321}">
                <p14:modId xmlns:p14="http://schemas.microsoft.com/office/powerpoint/2010/main" val="1579011935"/>
              </p:ext>
            </p:extLst>
          </p:nvPr>
        </p:nvGraphicFramePr>
        <p:xfrm>
          <a:off x="457200" y="2194560"/>
          <a:ext cx="7223760" cy="914400"/>
        </p:xfrm>
        <a:graphic>
          <a:graphicData uri="http://schemas.openxmlformats.org/drawingml/2006/table">
            <a:tbl>
              <a:tblPr/>
              <a:tblGrid>
                <a:gridCol w="3840480"/>
                <a:gridCol w="1737360"/>
                <a:gridCol w="1645920"/>
              </a:tblGrid>
              <a:tr h="365760">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Figure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latin typeface="+mj-lt" pitchFamily="34" charset="0"/>
                          <a:ea typeface="+mj-lt" pitchFamily="34" charset="-122"/>
                          <a:cs typeface="+mj-lt" pitchFamily="34" charset="-120"/>
                        </a:rPr>
                        <a:t>Value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Where to find it</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r>
              <a:tr h="457200">
                <a:tc>
                  <a:txBody>
                    <a:bodyPr/>
                    <a:lstStyle/>
                    <a:p>
                      <a:pPr algn="l" indent="0" marL="0">
                        <a:buNone/>
                      </a:pPr>
                      <a:r>
                        <a:rPr lang="en-US" sz="1200" dirty="0">
                          <a:solidFill>
                            <a:schemeClr val="tx1"/>
                          </a:solidFill>
                        </a:rPr>
                        <a:t>Scope 1 + 2, FY2024 (base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[00,000] tCO₂e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Reference data</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457200">
                <a:tc>
                  <a:txBody>
                    <a:bodyPr/>
                    <a:lstStyle/>
                    <a:p>
                      <a:pPr algn="l" indent="0" marL="0">
                        <a:buNone/>
                      </a:pPr>
                      <a:r>
                        <a:rPr lang="en-US" sz="1200" dirty="0">
                          <a:solidFill>
                            <a:schemeClr val="tx1"/>
                          </a:solidFill>
                        </a:rPr>
                        <a:t>Scope 1 + 2, latest actual FY[20__]</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 tCO₂e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Reference data</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457200">
                <a:tc>
                  <a:txBody>
                    <a:bodyPr/>
                    <a:lstStyle/>
                    <a:p>
                      <a:pPr algn="l" indent="0" marL="0">
                        <a:buNone/>
                      </a:pPr>
                      <a:r>
                        <a:rPr lang="en-US" sz="1200" dirty="0">
                          <a:solidFill>
                            <a:schemeClr val="tx1"/>
                          </a:solidFill>
                        </a:rPr>
                        <a:t>Required reduction by 2030 (42 %)</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 tCO₂e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Overview</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457200">
                <a:tc>
                  <a:txBody>
                    <a:bodyPr/>
                    <a:lstStyle/>
                    <a:p>
                      <a:pPr algn="l" indent="0" marL="0">
                        <a:buNone/>
                      </a:pPr>
                      <a:r>
                        <a:rPr lang="en-US" sz="1200" dirty="0">
                          <a:solidFill>
                            <a:schemeClr val="tx1"/>
                          </a:solidFill>
                        </a:rPr>
                        <a:t>Covered by approved projects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 tCO₂e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Overview</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457200">
                <a:tc>
                  <a:txBody>
                    <a:bodyPr/>
                    <a:lstStyle/>
                    <a:p>
                      <a:pPr algn="l" indent="0" marL="0">
                        <a:buNone/>
                      </a:pPr>
                      <a:r>
                        <a:rPr lang="en-US" sz="1200" b="1" dirty="0">
                          <a:solidFill>
                            <a:schemeClr val="accent1"/>
                          </a:solidFill>
                        </a:rPr>
                        <a:t>Gap before this project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accent1"/>
                          </a:solidFill>
                        </a:rPr>
                        <a:t>[0,000] tCO₂e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1"/>
                          </a:solidFill>
                        </a:rPr>
                        <a:t>Overview</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457200">
                <a:tc>
                  <a:txBody>
                    <a:bodyPr/>
                    <a:lstStyle/>
                    <a:p>
                      <a:pPr algn="l" indent="0" marL="0">
                        <a:buNone/>
                      </a:pPr>
                      <a:r>
                        <a:rPr lang="en-US" sz="1200" dirty="0">
                          <a:solidFill>
                            <a:schemeClr val="tx1"/>
                          </a:solidFill>
                        </a:rPr>
                        <a:t>Emissions of the source this project addresses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 tCO₂e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[Meter, invoices]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bl>
          </a:graphicData>
        </a:graphic>
      </p:graphicFrame>
      <p:sp>
        <p:nvSpPr>
          <p:cNvPr id="6" name="Baseline note"/>
          <p:cNvSpPr txBox="1"/>
          <p:nvPr/>
        </p:nvSpPr>
        <p:spPr>
          <a:xfrm>
            <a:off x="457200" y="5715000"/>
            <a:ext cx="7223760" cy="365760"/>
          </a:xfrm>
          <a:prstGeom prst="rect">
            <a:avLst/>
          </a:prstGeom>
          <a:noFill/>
          <a:ln/>
        </p:spPr>
        <p:txBody>
          <a:bodyPr wrap="square" lIns="0" tIns="0" rIns="0" bIns="0" rtlCol="0" anchor="t"/>
          <a:lstStyle/>
          <a:p>
            <a:pPr indent="0" marL="0">
              <a:buNone/>
            </a:pPr>
            <a:r>
              <a:rPr lang="en-US" sz="1000" dirty="0">
                <a:solidFill>
                  <a:srgbClr val="6B6B6B"/>
                </a:solidFill>
              </a:rPr>
              <a:t>Scope 1 + 2, location-based, FY2024 factor set (frozen). Figures as shown in the Project Tracker on [date].</a:t>
            </a:r>
            <a:endParaRPr lang="en-US" sz="1000" dirty="0"/>
          </a:p>
        </p:txBody>
      </p:sp>
      <p:sp>
        <p:nvSpPr>
          <p:cNvPr id="7" name="Problem card"/>
          <p:cNvSpPr/>
          <p:nvPr/>
        </p:nvSpPr>
        <p:spPr>
          <a:xfrm>
            <a:off x="7863840" y="2194560"/>
            <a:ext cx="3867912" cy="3383280"/>
          </a:xfrm>
          <a:prstGeom prst="rect">
            <a:avLst/>
          </a:prstGeom>
          <a:solidFill>
            <a:schemeClr val="bg1"/>
          </a:solidFill>
          <a:ln w="9525">
            <a:solidFill>
              <a:srgbClr val="DDDBD3"/>
            </a:solidFill>
            <a:prstDash val="solid"/>
          </a:ln>
        </p:spPr>
      </p:sp>
      <p:sp>
        <p:nvSpPr>
          <p:cNvPr id="8" name="Problem eyebrow"/>
          <p:cNvSpPr txBox="1"/>
          <p:nvPr/>
        </p:nvSpPr>
        <p:spPr>
          <a:xfrm>
            <a:off x="8046720" y="2331720"/>
            <a:ext cx="3502152"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THE PROBLEM THIS PROJECT SOLVES</a:t>
            </a:r>
            <a:endParaRPr lang="en-US" sz="1100" dirty="0"/>
          </a:p>
        </p:txBody>
      </p:sp>
      <p:sp>
        <p:nvSpPr>
          <p:cNvPr id="9" name="Problem text"/>
          <p:cNvSpPr txBox="1"/>
          <p:nvPr/>
        </p:nvSpPr>
        <p:spPr>
          <a:xfrm>
            <a:off x="8046720" y="2724912"/>
            <a:ext cx="3502152" cy="2743200"/>
          </a:xfrm>
          <a:prstGeom prst="rect">
            <a:avLst/>
          </a:prstGeom>
          <a:noFill/>
          <a:ln/>
        </p:spPr>
        <p:txBody>
          <a:bodyPr wrap="square" lIns="0" tIns="0" rIns="0" bIns="0" rtlCol="0" anchor="t"/>
          <a:lstStyle/>
          <a:p>
            <a:pPr indent="0" marL="0">
              <a:spcAft>
                <a:spcPts val="1000"/>
              </a:spcAft>
              <a:buNone/>
            </a:pPr>
            <a:r>
              <a:rPr lang="en-US" sz="1300" dirty="0">
                <a:solidFill>
                  <a:schemeClr val="tx1"/>
                </a:solidFill>
              </a:rPr>
              <a:t>[Which equipment or process, which energy carrier, how many MWh a year]</a:t>
            </a:r>
            <a:endParaRPr lang="en-US" sz="1300" dirty="0"/>
          </a:p>
          <a:p>
            <a:pPr indent="0" marL="0">
              <a:spcAft>
                <a:spcPts val="1000"/>
              </a:spcAft>
              <a:buNone/>
            </a:pPr>
            <a:r>
              <a:rPr lang="en-US" sz="1300" dirty="0">
                <a:solidFill>
                  <a:schemeClr val="tx1"/>
                </a:solidFill>
              </a:rPr>
              <a:t>[Its share of the site's Scope 1 + 2: 00 %]</a:t>
            </a:r>
            <a:endParaRPr lang="en-US" sz="1300" dirty="0"/>
          </a:p>
          <a:p>
            <a:pPr indent="0" marL="0">
              <a:spcAft>
                <a:spcPts val="1000"/>
              </a:spcAft>
              <a:buNone/>
            </a:pPr>
            <a:r>
              <a:rPr lang="en-US" sz="1300" dirty="0">
                <a:solidFill>
                  <a:schemeClr val="tx1"/>
                </a:solidFill>
              </a:rPr>
              <a:t>[Why running it better is not enough: age, efficiency, technology]</a:t>
            </a:r>
            <a:endParaRPr lang="en-US" sz="130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SOLUTION AND OPTIONS</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What we will do, and why this option</a:t>
            </a:r>
            <a:endParaRPr lang="en-US" sz="2800" dirty="0"/>
          </a:p>
        </p:txBody>
      </p:sp>
      <p:sp>
        <p:nvSpPr>
          <p:cNvPr id="5" name="Solution card 1"/>
          <p:cNvSpPr/>
          <p:nvPr/>
        </p:nvSpPr>
        <p:spPr>
          <a:xfrm>
            <a:off x="457200" y="2194560"/>
            <a:ext cx="4480560" cy="1188720"/>
          </a:xfrm>
          <a:prstGeom prst="rect">
            <a:avLst/>
          </a:prstGeom>
          <a:solidFill>
            <a:schemeClr val="bg1"/>
          </a:solidFill>
          <a:ln w="9525">
            <a:solidFill>
              <a:srgbClr val="DDDBD3"/>
            </a:solidFill>
            <a:prstDash val="solid"/>
          </a:ln>
        </p:spPr>
      </p:sp>
      <p:sp>
        <p:nvSpPr>
          <p:cNvPr id="6" name="Solution eyebrow 1"/>
          <p:cNvSpPr txBox="1"/>
          <p:nvPr/>
        </p:nvSpPr>
        <p:spPr>
          <a:xfrm>
            <a:off x="640080" y="2286000"/>
            <a:ext cx="41148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WHAT CHANGES</a:t>
            </a:r>
            <a:endParaRPr lang="en-US" sz="1100" dirty="0"/>
          </a:p>
        </p:txBody>
      </p:sp>
      <p:sp>
        <p:nvSpPr>
          <p:cNvPr id="7" name="Solution text 1"/>
          <p:cNvSpPr txBox="1"/>
          <p:nvPr/>
        </p:nvSpPr>
        <p:spPr>
          <a:xfrm>
            <a:off x="640080" y="2606040"/>
            <a:ext cx="4114800" cy="73152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[What is installed or changed, where, and with which capacity]</a:t>
            </a:r>
            <a:endParaRPr lang="en-US" sz="1300" dirty="0"/>
          </a:p>
        </p:txBody>
      </p:sp>
      <p:sp>
        <p:nvSpPr>
          <p:cNvPr id="8" name="Solution card 2"/>
          <p:cNvSpPr/>
          <p:nvPr/>
        </p:nvSpPr>
        <p:spPr>
          <a:xfrm>
            <a:off x="457200" y="3520440"/>
            <a:ext cx="4480560" cy="1188720"/>
          </a:xfrm>
          <a:prstGeom prst="rect">
            <a:avLst/>
          </a:prstGeom>
          <a:solidFill>
            <a:schemeClr val="bg1"/>
          </a:solidFill>
          <a:ln w="9525">
            <a:solidFill>
              <a:srgbClr val="DDDBD3"/>
            </a:solidFill>
            <a:prstDash val="solid"/>
          </a:ln>
        </p:spPr>
      </p:sp>
      <p:sp>
        <p:nvSpPr>
          <p:cNvPr id="9" name="Solution eyebrow 2"/>
          <p:cNvSpPr txBox="1"/>
          <p:nvPr/>
        </p:nvSpPr>
        <p:spPr>
          <a:xfrm>
            <a:off x="640080" y="3611880"/>
            <a:ext cx="41148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PROVEN WHERE</a:t>
            </a:r>
            <a:endParaRPr lang="en-US" sz="1100" dirty="0"/>
          </a:p>
        </p:txBody>
      </p:sp>
      <p:sp>
        <p:nvSpPr>
          <p:cNvPr id="10" name="Solution text 2"/>
          <p:cNvSpPr txBox="1"/>
          <p:nvPr/>
        </p:nvSpPr>
        <p:spPr>
          <a:xfrm>
            <a:off x="640080" y="3931920"/>
            <a:ext cx="4114800" cy="73152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[Reference at another site or at the supplier's customers]</a:t>
            </a:r>
            <a:endParaRPr lang="en-US" sz="1300" dirty="0"/>
          </a:p>
        </p:txBody>
      </p:sp>
      <p:sp>
        <p:nvSpPr>
          <p:cNvPr id="11" name="Solution card 3"/>
          <p:cNvSpPr/>
          <p:nvPr/>
        </p:nvSpPr>
        <p:spPr>
          <a:xfrm>
            <a:off x="457200" y="4846320"/>
            <a:ext cx="4480560" cy="1188720"/>
          </a:xfrm>
          <a:prstGeom prst="rect">
            <a:avLst/>
          </a:prstGeom>
          <a:solidFill>
            <a:schemeClr val="bg1"/>
          </a:solidFill>
          <a:ln w="9525">
            <a:solidFill>
              <a:srgbClr val="DDDBD3"/>
            </a:solidFill>
            <a:prstDash val="solid"/>
          </a:ln>
        </p:spPr>
      </p:sp>
      <p:sp>
        <p:nvSpPr>
          <p:cNvPr id="12" name="Solution eyebrow 3"/>
          <p:cNvSpPr txBox="1"/>
          <p:nvPr/>
        </p:nvSpPr>
        <p:spPr>
          <a:xfrm>
            <a:off x="640080" y="4937760"/>
            <a:ext cx="41148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OUT OF SCOPE</a:t>
            </a:r>
            <a:endParaRPr lang="en-US" sz="1100" dirty="0"/>
          </a:p>
        </p:txBody>
      </p:sp>
      <p:sp>
        <p:nvSpPr>
          <p:cNvPr id="13" name="Solution text 3"/>
          <p:cNvSpPr txBox="1"/>
          <p:nvPr/>
        </p:nvSpPr>
        <p:spPr>
          <a:xfrm>
            <a:off x="640080" y="5257800"/>
            <a:ext cx="4114800" cy="73152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[What stays as it is and is not part of this project]</a:t>
            </a:r>
            <a:endParaRPr lang="en-US" sz="1300" dirty="0"/>
          </a:p>
        </p:txBody>
      </p:sp>
      <p:graphicFrame>
        <p:nvGraphicFramePr>
          <p:cNvPr id="6" name="Options table"/>
          <p:cNvGraphicFramePr>
            <a:graphicFrameLocks noGrp="1"/>
          </p:cNvGraphicFramePr>
          <p:nvPr>
            <p:extLst>
              <p:ext uri="{D42A27DB-BD31-4B8C-83A1-F6EECF244321}">
                <p14:modId xmlns:p14="http://schemas.microsoft.com/office/powerpoint/2010/main" val="1579011935"/>
              </p:ext>
            </p:extLst>
          </p:nvPr>
        </p:nvGraphicFramePr>
        <p:xfrm>
          <a:off x="5212080" y="2194560"/>
          <a:ext cx="6519672" cy="914400"/>
        </p:xfrm>
        <a:graphic>
          <a:graphicData uri="http://schemas.openxmlformats.org/drawingml/2006/table">
            <a:tbl>
              <a:tblPr/>
              <a:tblGrid>
                <a:gridCol w="1737360"/>
                <a:gridCol w="1234440"/>
                <a:gridCol w="1143000"/>
                <a:gridCol w="2404872"/>
              </a:tblGrid>
              <a:tr h="365760">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Option</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latin typeface="+mj-lt" pitchFamily="34" charset="0"/>
                          <a:ea typeface="+mj-lt" pitchFamily="34" charset="-122"/>
                          <a:cs typeface="+mj-lt" pitchFamily="34" charset="-120"/>
                        </a:rPr>
                        <a:t>tCO₂e a year</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latin typeface="+mj-lt" pitchFamily="34" charset="0"/>
                          <a:ea typeface="+mj-lt" pitchFamily="34" charset="-122"/>
                          <a:cs typeface="+mj-lt" pitchFamily="34" charset="-120"/>
                        </a:rPr>
                        <a:t>Capex</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Why chosen, or why not</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r>
              <a:tr h="713232">
                <a:tc>
                  <a:txBody>
                    <a:bodyPr/>
                    <a:lstStyle/>
                    <a:p>
                      <a:pPr algn="l" indent="0" marL="0">
                        <a:buNone/>
                      </a:pPr>
                      <a:r>
                        <a:rPr lang="en-US" sz="1200" dirty="0">
                          <a:solidFill>
                            <a:schemeClr val="tx1"/>
                          </a:solidFill>
                        </a:rPr>
                        <a:t>Do nothing</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€ 0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[What it costs: energy, CO₂ price, the gap to the target stays]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713232">
                <a:tc>
                  <a:txBody>
                    <a:bodyPr/>
                    <a:lstStyle/>
                    <a:p>
                      <a:pPr algn="l" indent="0" marL="0">
                        <a:buNone/>
                      </a:pPr>
                      <a:r>
                        <a:rPr lang="en-US" sz="1200" dirty="0">
                          <a:solidFill>
                            <a:schemeClr val="tx1"/>
                          </a:solidFill>
                        </a:rPr>
                        <a:t>[Alternative A]</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 [0.00] m</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[Why not: impact, cost, risk, timing]</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713232">
                <a:tc>
                  <a:txBody>
                    <a:bodyPr/>
                    <a:lstStyle/>
                    <a:p>
                      <a:pPr algn="l" indent="0" marL="0">
                        <a:buNone/>
                      </a:pPr>
                      <a:r>
                        <a:rPr lang="en-US" sz="1200" dirty="0">
                          <a:solidFill>
                            <a:schemeClr val="tx1"/>
                          </a:solidFill>
                        </a:rPr>
                        <a:t>[Alternative B]</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 [0.00] m</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[Why not: impact, cost, risk, timing]</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713232">
                <a:tc>
                  <a:txBody>
                    <a:bodyPr/>
                    <a:lstStyle/>
                    <a:p>
                      <a:pPr algn="l" indent="0" marL="0">
                        <a:buNone/>
                      </a:pPr>
                      <a:r>
                        <a:rPr lang="en-US" sz="1200" b="1" dirty="0">
                          <a:solidFill>
                            <a:schemeClr val="accent1"/>
                          </a:solidFill>
                        </a:rPr>
                        <a:t>[This project]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accent1"/>
                          </a:solidFill>
                        </a:rPr>
                        <a:t>[0,000]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accent1"/>
                          </a:solidFill>
                        </a:rPr>
                        <a:t>€ [0.00] m</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rPr>
                        <a:t>Chosen: [the reason in one line]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bl>
          </a:graphicData>
        </a:graphic>
      </p:graphicFrame>
      <p:sp>
        <p:nvSpPr>
          <p:cNvPr id="15" name="Options note"/>
          <p:cNvSpPr txBox="1"/>
          <p:nvPr/>
        </p:nvSpPr>
        <p:spPr>
          <a:xfrm>
            <a:off x="5212080" y="5532120"/>
            <a:ext cx="6519672" cy="365760"/>
          </a:xfrm>
          <a:prstGeom prst="rect">
            <a:avLst/>
          </a:prstGeom>
          <a:noFill/>
          <a:ln/>
        </p:spPr>
        <p:txBody>
          <a:bodyPr wrap="square" lIns="0" tIns="0" rIns="0" bIns="0" rtlCol="0" anchor="t"/>
          <a:lstStyle/>
          <a:p>
            <a:pPr indent="0" marL="0">
              <a:buNone/>
            </a:pPr>
            <a:r>
              <a:rPr lang="en-US" sz="1000" dirty="0">
                <a:solidFill>
                  <a:srgbClr val="6B6B6B"/>
                </a:solidFill>
              </a:rPr>
              <a:t>Keep four rows at most. An option the site never seriously looked at does not belong here.</a:t>
            </a:r>
            <a:endParaRPr lang="en-US" sz="100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IMPACT CALCULATION</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How the [0,000] tCO₂e a year are calculated</a:t>
            </a:r>
            <a:endParaRPr lang="en-US" sz="2800" dirty="0"/>
          </a:p>
        </p:txBody>
      </p:sp>
      <p:graphicFrame>
        <p:nvGraphicFramePr>
          <p:cNvPr id="7" name="Calculation table"/>
          <p:cNvGraphicFramePr>
            <a:graphicFrameLocks noGrp="1"/>
          </p:cNvGraphicFramePr>
          <p:nvPr>
            <p:extLst>
              <p:ext uri="{D42A27DB-BD31-4B8C-83A1-F6EECF244321}">
                <p14:modId xmlns:p14="http://schemas.microsoft.com/office/powerpoint/2010/main" val="1579011935"/>
              </p:ext>
            </p:extLst>
          </p:nvPr>
        </p:nvGraphicFramePr>
        <p:xfrm>
          <a:off x="457200" y="2194560"/>
          <a:ext cx="7498080" cy="914400"/>
        </p:xfrm>
        <a:graphic>
          <a:graphicData uri="http://schemas.openxmlformats.org/drawingml/2006/table">
            <a:tbl>
              <a:tblPr/>
              <a:tblGrid>
                <a:gridCol w="3246120"/>
                <a:gridCol w="960120"/>
                <a:gridCol w="960120"/>
                <a:gridCol w="960120"/>
                <a:gridCol w="1371600"/>
              </a:tblGrid>
              <a:tr h="365760">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Line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latin typeface="+mj-lt" pitchFamily="34" charset="0"/>
                          <a:ea typeface="+mj-lt" pitchFamily="34" charset="-122"/>
                          <a:cs typeface="+mj-lt" pitchFamily="34" charset="-120"/>
                        </a:rPr>
                        <a:t>Before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latin typeface="+mj-lt" pitchFamily="34" charset="0"/>
                          <a:ea typeface="+mj-lt" pitchFamily="34" charset="-122"/>
                          <a:cs typeface="+mj-lt" pitchFamily="34" charset="-120"/>
                        </a:rPr>
                        <a:t>After</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latin typeface="+mj-lt" pitchFamily="34" charset="0"/>
                          <a:ea typeface="+mj-lt" pitchFamily="34" charset="-122"/>
                          <a:cs typeface="+mj-lt" pitchFamily="34" charset="-120"/>
                        </a:rPr>
                        <a:t>Change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Source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r>
              <a:tr h="429768">
                <a:tc>
                  <a:txBody>
                    <a:bodyPr/>
                    <a:lstStyle/>
                    <a:p>
                      <a:pPr algn="l" indent="0" marL="0">
                        <a:buNone/>
                      </a:pPr>
                      <a:r>
                        <a:rPr lang="en-US" sz="1200" dirty="0">
                          <a:solidFill>
                            <a:schemeClr val="tx1"/>
                          </a:solidFill>
                        </a:rPr>
                        <a:t>Natural gas, MWh a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[Meter, invoices]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429768">
                <a:tc>
                  <a:txBody>
                    <a:bodyPr/>
                    <a:lstStyle/>
                    <a:p>
                      <a:pPr algn="l" indent="0" marL="0">
                        <a:buNone/>
                      </a:pPr>
                      <a:r>
                        <a:rPr lang="en-US" sz="1200" dirty="0">
                          <a:solidFill>
                            <a:schemeClr val="tx1"/>
                          </a:solidFill>
                        </a:rPr>
                        <a:t>Electricity, MWh a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[Meter, invoices]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429768">
                <a:tc>
                  <a:txBody>
                    <a:bodyPr/>
                    <a:lstStyle/>
                    <a:p>
                      <a:pPr algn="l" indent="0" marL="0">
                        <a:buNone/>
                      </a:pPr>
                      <a:r>
                        <a:rPr lang="en-US" sz="1200" dirty="0">
                          <a:solidFill>
                            <a:schemeClr val="tx1"/>
                          </a:solidFill>
                        </a:rPr>
                        <a:t>[Other fuel], MWh a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[Meter, invoices]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429768">
                <a:tc>
                  <a:txBody>
                    <a:bodyPr/>
                    <a:lstStyle/>
                    <a:p>
                      <a:pPr algn="l" indent="0" marL="0">
                        <a:buNone/>
                      </a:pPr>
                      <a:r>
                        <a:rPr lang="en-US" sz="1200" dirty="0">
                          <a:solidFill>
                            <a:schemeClr val="tx1"/>
                          </a:solidFill>
                        </a:rPr>
                        <a:t>Scope 1, tCO₂e a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 [0.000] t/MWh</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429768">
                <a:tc>
                  <a:txBody>
                    <a:bodyPr/>
                    <a:lstStyle/>
                    <a:p>
                      <a:pPr algn="l" indent="0" marL="0">
                        <a:buNone/>
                      </a:pPr>
                      <a:r>
                        <a:rPr lang="en-US" sz="1200" dirty="0">
                          <a:solidFill>
                            <a:schemeClr val="tx1"/>
                          </a:solidFill>
                        </a:rPr>
                        <a:t>Scope 2, location-based, tCO₂e a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 [0.000] t/MWh</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429768">
                <a:tc>
                  <a:txBody>
                    <a:bodyPr/>
                    <a:lstStyle/>
                    <a:p>
                      <a:pPr algn="l" indent="0" marL="0">
                        <a:buNone/>
                      </a:pPr>
                      <a:r>
                        <a:rPr lang="en-US" sz="1200" b="1" dirty="0">
                          <a:solidFill>
                            <a:schemeClr val="accent1"/>
                          </a:solidFill>
                        </a:rPr>
                        <a:t>Annual impact, tCO₂e a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accent1"/>
                          </a:solidFill>
                        </a:rPr>
                        <a:t>[0,000]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rPr>
                        <a:t>= tracker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429768">
                <a:tc>
                  <a:txBody>
                    <a:bodyPr/>
                    <a:lstStyle/>
                    <a:p>
                      <a:pPr algn="l" indent="0" marL="0">
                        <a:buNone/>
                      </a:pPr>
                      <a:r>
                        <a:rPr lang="en-US" sz="1200" b="1" dirty="0">
                          <a:solidFill>
                            <a:schemeClr val="accent1"/>
                          </a:solidFill>
                        </a:rPr>
                        <a:t>Total impact over [00] years, tCO₂e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accent1"/>
                          </a:solidFill>
                        </a:rPr>
                        <a:t>[00,000]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1"/>
                          </a:solidFill>
                        </a:rPr>
                        <a:t>= tracker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bl>
          </a:graphicData>
        </a:graphic>
      </p:graphicFrame>
      <p:sp>
        <p:nvSpPr>
          <p:cNvPr id="6" name="Calculation note"/>
          <p:cNvSpPr txBox="1"/>
          <p:nvPr/>
        </p:nvSpPr>
        <p:spPr>
          <a:xfrm>
            <a:off x="457200" y="5715000"/>
            <a:ext cx="7498080" cy="384048"/>
          </a:xfrm>
          <a:prstGeom prst="rect">
            <a:avLst/>
          </a:prstGeom>
          <a:noFill/>
          <a:ln/>
        </p:spPr>
        <p:txBody>
          <a:bodyPr wrap="square" lIns="0" tIns="0" rIns="0" bIns="0" rtlCol="0" anchor="t"/>
          <a:lstStyle/>
          <a:p>
            <a:pPr indent="0" marL="0">
              <a:buNone/>
            </a:pPr>
            <a:r>
              <a:rPr lang="en-US" sz="1000" dirty="0">
                <a:solidFill>
                  <a:srgbClr val="6B6B6B"/>
                </a:solidFill>
              </a:rPr>
              <a:t>Factors come from the FY2024 factor set, frozen; ask Group Sustainability for the values. If gas goes down and electricity goes up, the annual impact is the net figure.</a:t>
            </a:r>
            <a:endParaRPr lang="en-US" sz="1000" dirty="0"/>
          </a:p>
        </p:txBody>
      </p:sp>
      <p:sp>
        <p:nvSpPr>
          <p:cNvPr id="7" name="Assumptions card"/>
          <p:cNvSpPr/>
          <p:nvPr/>
        </p:nvSpPr>
        <p:spPr>
          <a:xfrm>
            <a:off x="8229600" y="2194560"/>
            <a:ext cx="3502152" cy="3374136"/>
          </a:xfrm>
          <a:prstGeom prst="rect">
            <a:avLst/>
          </a:prstGeom>
          <a:solidFill>
            <a:schemeClr val="bg1"/>
          </a:solidFill>
          <a:ln w="9525">
            <a:solidFill>
              <a:srgbClr val="DDDBD3"/>
            </a:solidFill>
            <a:prstDash val="solid"/>
          </a:ln>
        </p:spPr>
      </p:sp>
      <p:sp>
        <p:nvSpPr>
          <p:cNvPr id="8" name="Assumptions eyebrow"/>
          <p:cNvSpPr txBox="1"/>
          <p:nvPr/>
        </p:nvSpPr>
        <p:spPr>
          <a:xfrm>
            <a:off x="8412480" y="2331720"/>
            <a:ext cx="3136392"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ASSUMPTIONS</a:t>
            </a:r>
            <a:endParaRPr lang="en-US" sz="1100" dirty="0"/>
          </a:p>
        </p:txBody>
      </p:sp>
      <p:sp>
        <p:nvSpPr>
          <p:cNvPr id="9" name="Assumptions list"/>
          <p:cNvSpPr txBox="1"/>
          <p:nvPr/>
        </p:nvSpPr>
        <p:spPr>
          <a:xfrm>
            <a:off x="8412480" y="2724912"/>
            <a:ext cx="3136392" cy="2743200"/>
          </a:xfrm>
          <a:prstGeom prst="rect">
            <a:avLst/>
          </a:prstGeom>
          <a:noFill/>
          <a:ln/>
        </p:spPr>
        <p:txBody>
          <a:bodyPr wrap="square" lIns="0" tIns="0" rIns="0" bIns="0" rtlCol="0" anchor="t"/>
          <a:lstStyle/>
          <a:p>
            <a:pPr indent="0" marL="0">
              <a:spcAft>
                <a:spcPts val="800"/>
              </a:spcAft>
              <a:buNone/>
            </a:pPr>
            <a:r>
              <a:rPr lang="en-US" sz="1250" b="1" dirty="0">
                <a:solidFill>
                  <a:schemeClr val="tx1"/>
                </a:solidFill>
              </a:rPr>
              <a:t>Operating hours: </a:t>
            </a:r>
            <a:pPr indent="0" marL="0">
              <a:spcAft>
                <a:spcPts val="800"/>
              </a:spcAft>
              <a:buNone/>
            </a:pPr>
            <a:r>
              <a:rPr lang="en-US" sz="1250" dirty="0">
                <a:solidFill>
                  <a:schemeClr val="tx1"/>
                </a:solidFill>
              </a:rPr>
              <a:t>[0,000] h a year</a:t>
            </a:r>
            <a:endParaRPr lang="en-US" sz="1250" dirty="0"/>
          </a:p>
          <a:p>
            <a:pPr indent="0" marL="0">
              <a:spcAft>
                <a:spcPts val="800"/>
              </a:spcAft>
              <a:buNone/>
            </a:pPr>
            <a:r>
              <a:rPr lang="en-US" sz="1250" b="1" dirty="0">
                <a:solidFill>
                  <a:schemeClr val="tx1"/>
                </a:solidFill>
              </a:rPr>
              <a:t>Output level: </a:t>
            </a:r>
            <a:pPr indent="0" marL="0">
              <a:spcAft>
                <a:spcPts val="800"/>
              </a:spcAft>
              <a:buNone/>
            </a:pPr>
            <a:r>
              <a:rPr lang="en-US" sz="1250" dirty="0">
                <a:solidFill>
                  <a:schemeClr val="tx1"/>
                </a:solidFill>
              </a:rPr>
              <a:t>[000,000] t a year, same before and after</a:t>
            </a:r>
            <a:endParaRPr lang="en-US" sz="1250" dirty="0"/>
          </a:p>
          <a:p>
            <a:pPr indent="0" marL="0">
              <a:spcAft>
                <a:spcPts val="800"/>
              </a:spcAft>
              <a:buNone/>
            </a:pPr>
            <a:r>
              <a:rPr lang="en-US" sz="1250" b="1" dirty="0">
                <a:solidFill>
                  <a:schemeClr val="tx1"/>
                </a:solidFill>
              </a:rPr>
              <a:t>Efficiency: </a:t>
            </a:r>
            <a:pPr indent="0" marL="0">
              <a:spcAft>
                <a:spcPts val="800"/>
              </a:spcAft>
              <a:buNone/>
            </a:pPr>
            <a:r>
              <a:rPr lang="en-US" sz="1250" dirty="0">
                <a:solidFill>
                  <a:schemeClr val="tx1"/>
                </a:solidFill>
              </a:rPr>
              <a:t>[for example COP 3.5, or boiler at 92 %]</a:t>
            </a:r>
            <a:endParaRPr lang="en-US" sz="1250" dirty="0"/>
          </a:p>
          <a:p>
            <a:pPr indent="0" marL="0">
              <a:spcAft>
                <a:spcPts val="800"/>
              </a:spcAft>
              <a:buNone/>
            </a:pPr>
            <a:r>
              <a:rPr lang="en-US" sz="1250" b="1" dirty="0">
                <a:solidFill>
                  <a:schemeClr val="tx1"/>
                </a:solidFill>
              </a:rPr>
              <a:t>Life of the project: </a:t>
            </a:r>
            <a:pPr indent="0" marL="0">
              <a:spcAft>
                <a:spcPts val="800"/>
              </a:spcAft>
              <a:buNone/>
            </a:pPr>
            <a:r>
              <a:rPr lang="en-US" sz="1250" dirty="0">
                <a:solidFill>
                  <a:schemeClr val="tx1"/>
                </a:solidFill>
              </a:rPr>
              <a:t>[00] years</a:t>
            </a:r>
            <a:endParaRPr lang="en-US" sz="1250" dirty="0"/>
          </a:p>
          <a:p>
            <a:pPr indent="0" marL="0">
              <a:spcAft>
                <a:spcPts val="800"/>
              </a:spcAft>
              <a:buNone/>
            </a:pPr>
            <a:r>
              <a:rPr lang="en-US" sz="1250" b="1" dirty="0">
                <a:solidFill>
                  <a:schemeClr val="tx1"/>
                </a:solidFill>
              </a:rPr>
              <a:t>Basis: </a:t>
            </a:r>
            <a:pPr indent="0" marL="0">
              <a:spcAft>
                <a:spcPts val="800"/>
              </a:spcAft>
              <a:buNone/>
            </a:pPr>
            <a:r>
              <a:rPr lang="en-US" sz="1250" dirty="0">
                <a:solidFill>
                  <a:schemeClr val="tx1"/>
                </a:solidFill>
              </a:rPr>
              <a:t>[measured over 12 months, supplier guarantee or estimate]</a:t>
            </a:r>
            <a:endParaRPr lang="en-US" sz="125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CONTRIBUTION TO THE 2030 TARGET</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This project closes [00] % of the site's gap</a:t>
            </a:r>
            <a:endParaRPr lang="en-US" sz="2800" dirty="0"/>
          </a:p>
        </p:txBody>
      </p:sp>
      <p:sp>
        <p:nvSpPr>
          <p:cNvPr id="5" name="Chart card"/>
          <p:cNvSpPr/>
          <p:nvPr/>
        </p:nvSpPr>
        <p:spPr>
          <a:xfrm>
            <a:off x="457200" y="2194560"/>
            <a:ext cx="7315200" cy="3611880"/>
          </a:xfrm>
          <a:prstGeom prst="rect">
            <a:avLst/>
          </a:prstGeom>
          <a:solidFill>
            <a:schemeClr val="bg1"/>
          </a:solidFill>
          <a:ln w="9525">
            <a:solidFill>
              <a:srgbClr val="DDDBD3"/>
            </a:solidFill>
            <a:prstDash val="solid"/>
          </a:ln>
        </p:spPr>
      </p:sp>
      <p:graphicFrame>
        <p:nvGraphicFramePr>
          <p:cNvPr id="6" name="Target chart" descr=""/>
          <p:cNvGraphicFramePr/>
          <p:nvPr/>
        </p:nvGraphicFramePr>
        <p:xfrm>
          <a:off x="594360" y="2286000"/>
          <a:ext cx="7040880" cy="3429000"/>
        </p:xfrm>
        <a:graphic xmlns:a="http://schemas.openxmlformats.org/drawingml/2006/main">
          <a:graphicData uri="http://schemas.openxmlformats.org/drawingml/2006/chart">
            <c:chart xmlns:c="http://schemas.openxmlformats.org/drawingml/2006/chart" r:id="rId1"/>
          </a:graphicData>
        </a:graphic>
      </p:graphicFrame>
      <p:sp>
        <p:nvSpPr>
          <p:cNvPr id="7" name="Chart note"/>
          <p:cNvSpPr txBox="1"/>
          <p:nvPr/>
        </p:nvSpPr>
        <p:spPr>
          <a:xfrm>
            <a:off x="457200" y="5897880"/>
            <a:ext cx="7315200" cy="384048"/>
          </a:xfrm>
          <a:prstGeom prst="rect">
            <a:avLst/>
          </a:prstGeom>
          <a:noFill/>
          <a:ln/>
        </p:spPr>
        <p:txBody>
          <a:bodyPr wrap="square" lIns="0" tIns="0" rIns="0" bIns="0" rtlCol="0" anchor="t"/>
          <a:lstStyle/>
          <a:p>
            <a:pPr indent="0" marL="0">
              <a:buNone/>
            </a:pPr>
            <a:r>
              <a:rPr lang="en-US" sz="1000" dirty="0">
                <a:solidFill>
                  <a:srgbClr val="6B6B6B"/>
                </a:solidFill>
              </a:rPr>
              <a:t>Example figures: right-click the chart, choose Edit Data and enter your site's figures. tCO₂e per year in 2030, Scope 1 + 2, location-based, FY2024 factor set.</a:t>
            </a:r>
            <a:endParaRPr lang="en-US" sz="1000" dirty="0"/>
          </a:p>
        </p:txBody>
      </p:sp>
      <p:sp>
        <p:nvSpPr>
          <p:cNvPr id="8" name="Figures card"/>
          <p:cNvSpPr/>
          <p:nvPr/>
        </p:nvSpPr>
        <p:spPr>
          <a:xfrm>
            <a:off x="7955280" y="2194560"/>
            <a:ext cx="3776472" cy="3611880"/>
          </a:xfrm>
          <a:prstGeom prst="rect">
            <a:avLst/>
          </a:prstGeom>
          <a:solidFill>
            <a:schemeClr val="bg1"/>
          </a:solidFill>
          <a:ln w="9525">
            <a:solidFill>
              <a:srgbClr val="DDDBD3"/>
            </a:solidFill>
            <a:prstDash val="solid"/>
          </a:ln>
        </p:spPr>
      </p:sp>
      <p:sp>
        <p:nvSpPr>
          <p:cNvPr id="9" name="Target label 1"/>
          <p:cNvSpPr txBox="1"/>
          <p:nvPr/>
        </p:nvSpPr>
        <p:spPr>
          <a:xfrm>
            <a:off x="8138160" y="2359152"/>
            <a:ext cx="3410712" cy="219456"/>
          </a:xfrm>
          <a:prstGeom prst="rect">
            <a:avLst/>
          </a:prstGeom>
          <a:noFill/>
          <a:ln/>
        </p:spPr>
        <p:txBody>
          <a:bodyPr wrap="square" lIns="0" tIns="0" rIns="0" bIns="0" rtlCol="0" anchor="ctr"/>
          <a:lstStyle/>
          <a:p>
            <a:pPr indent="0" marL="0">
              <a:buNone/>
            </a:pPr>
            <a:r>
              <a:rPr lang="en-US" sz="1050" b="1" spc="100" kern="0" dirty="0">
                <a:solidFill>
                  <a:srgbClr val="6B6B6B"/>
                </a:solidFill>
              </a:rPr>
              <a:t>REQUIRED BY 2030</a:t>
            </a:r>
            <a:endParaRPr lang="en-US" sz="1050" dirty="0"/>
          </a:p>
        </p:txBody>
      </p:sp>
      <p:sp>
        <p:nvSpPr>
          <p:cNvPr id="10" name="Target value 1"/>
          <p:cNvSpPr txBox="1"/>
          <p:nvPr/>
        </p:nvSpPr>
        <p:spPr>
          <a:xfrm>
            <a:off x="8138160" y="2587752"/>
            <a:ext cx="3410712" cy="329184"/>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[0,000] tCO₂e</a:t>
            </a:r>
            <a:endParaRPr lang="en-US" sz="1800" dirty="0"/>
          </a:p>
        </p:txBody>
      </p:sp>
      <p:sp>
        <p:nvSpPr>
          <p:cNvPr id="11" name="Target note 1"/>
          <p:cNvSpPr txBox="1"/>
          <p:nvPr/>
        </p:nvSpPr>
        <p:spPr>
          <a:xfrm>
            <a:off x="8138160" y="2916936"/>
            <a:ext cx="3410712" cy="201168"/>
          </a:xfrm>
          <a:prstGeom prst="rect">
            <a:avLst/>
          </a:prstGeom>
          <a:noFill/>
          <a:ln/>
        </p:spPr>
        <p:txBody>
          <a:bodyPr wrap="square" lIns="0" tIns="0" rIns="0" bIns="0" rtlCol="0" anchor="ctr"/>
          <a:lstStyle/>
          <a:p>
            <a:pPr indent="0" marL="0">
              <a:buNone/>
            </a:pPr>
            <a:r>
              <a:rPr lang="en-US" sz="1050" dirty="0">
                <a:solidFill>
                  <a:srgbClr val="6B6B6B"/>
                </a:solidFill>
              </a:rPr>
              <a:t>42 % of FY2024 Scope 1 + 2</a:t>
            </a:r>
            <a:endParaRPr lang="en-US" sz="1050" dirty="0"/>
          </a:p>
        </p:txBody>
      </p:sp>
      <p:sp>
        <p:nvSpPr>
          <p:cNvPr id="12" name="Target label 2"/>
          <p:cNvSpPr txBox="1"/>
          <p:nvPr/>
        </p:nvSpPr>
        <p:spPr>
          <a:xfrm>
            <a:off x="8138160" y="3218688"/>
            <a:ext cx="3410712" cy="219456"/>
          </a:xfrm>
          <a:prstGeom prst="rect">
            <a:avLst/>
          </a:prstGeom>
          <a:noFill/>
          <a:ln/>
        </p:spPr>
        <p:txBody>
          <a:bodyPr wrap="square" lIns="0" tIns="0" rIns="0" bIns="0" rtlCol="0" anchor="ctr"/>
          <a:lstStyle/>
          <a:p>
            <a:pPr indent="0" marL="0">
              <a:buNone/>
            </a:pPr>
            <a:r>
              <a:rPr lang="en-US" sz="1050" b="1" spc="100" kern="0" dirty="0">
                <a:solidFill>
                  <a:srgbClr val="6B6B6B"/>
                </a:solidFill>
              </a:rPr>
              <a:t>APPROVED PROJECTS</a:t>
            </a:r>
            <a:endParaRPr lang="en-US" sz="1050" dirty="0"/>
          </a:p>
        </p:txBody>
      </p:sp>
      <p:sp>
        <p:nvSpPr>
          <p:cNvPr id="13" name="Target value 2"/>
          <p:cNvSpPr txBox="1"/>
          <p:nvPr/>
        </p:nvSpPr>
        <p:spPr>
          <a:xfrm>
            <a:off x="8138160" y="3447288"/>
            <a:ext cx="3410712" cy="329184"/>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[0,000] tCO₂e</a:t>
            </a:r>
            <a:endParaRPr lang="en-US" sz="1800" dirty="0"/>
          </a:p>
        </p:txBody>
      </p:sp>
      <p:sp>
        <p:nvSpPr>
          <p:cNvPr id="14" name="Target note 2"/>
          <p:cNvSpPr txBox="1"/>
          <p:nvPr/>
        </p:nvSpPr>
        <p:spPr>
          <a:xfrm>
            <a:off x="8138160" y="3776472"/>
            <a:ext cx="3410712" cy="201168"/>
          </a:xfrm>
          <a:prstGeom prst="rect">
            <a:avLst/>
          </a:prstGeom>
          <a:noFill/>
          <a:ln/>
        </p:spPr>
        <p:txBody>
          <a:bodyPr wrap="square" lIns="0" tIns="0" rIns="0" bIns="0" rtlCol="0" anchor="ctr"/>
          <a:lstStyle/>
          <a:p>
            <a:pPr indent="0" marL="0">
              <a:buNone/>
            </a:pPr>
            <a:r>
              <a:rPr lang="en-US" sz="1050" dirty="0">
                <a:solidFill>
                  <a:srgbClr val="6B6B6B"/>
                </a:solidFill>
              </a:rPr>
              <a:t>active in 2030</a:t>
            </a:r>
            <a:endParaRPr lang="en-US" sz="1050" dirty="0"/>
          </a:p>
        </p:txBody>
      </p:sp>
      <p:sp>
        <p:nvSpPr>
          <p:cNvPr id="15" name="Target label 3"/>
          <p:cNvSpPr txBox="1"/>
          <p:nvPr/>
        </p:nvSpPr>
        <p:spPr>
          <a:xfrm>
            <a:off x="8138160" y="4078224"/>
            <a:ext cx="3410712" cy="219456"/>
          </a:xfrm>
          <a:prstGeom prst="rect">
            <a:avLst/>
          </a:prstGeom>
          <a:noFill/>
          <a:ln/>
        </p:spPr>
        <p:txBody>
          <a:bodyPr wrap="square" lIns="0" tIns="0" rIns="0" bIns="0" rtlCol="0" anchor="ctr"/>
          <a:lstStyle/>
          <a:p>
            <a:pPr indent="0" marL="0">
              <a:buNone/>
            </a:pPr>
            <a:r>
              <a:rPr lang="en-US" sz="1050" b="1" spc="100" kern="0" dirty="0">
                <a:solidFill>
                  <a:srgbClr val="6B6B6B"/>
                </a:solidFill>
              </a:rPr>
              <a:t>THIS PROJECT</a:t>
            </a:r>
            <a:endParaRPr lang="en-US" sz="1050" dirty="0"/>
          </a:p>
        </p:txBody>
      </p:sp>
      <p:sp>
        <p:nvSpPr>
          <p:cNvPr id="16" name="Target value 3"/>
          <p:cNvSpPr txBox="1"/>
          <p:nvPr/>
        </p:nvSpPr>
        <p:spPr>
          <a:xfrm>
            <a:off x="8138160" y="4306824"/>
            <a:ext cx="3410712" cy="329184"/>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[0,000] tCO₂e</a:t>
            </a:r>
            <a:endParaRPr lang="en-US" sz="1800" dirty="0"/>
          </a:p>
        </p:txBody>
      </p:sp>
      <p:sp>
        <p:nvSpPr>
          <p:cNvPr id="17" name="Target note 3"/>
          <p:cNvSpPr txBox="1"/>
          <p:nvPr/>
        </p:nvSpPr>
        <p:spPr>
          <a:xfrm>
            <a:off x="8138160" y="4636008"/>
            <a:ext cx="3410712" cy="201168"/>
          </a:xfrm>
          <a:prstGeom prst="rect">
            <a:avLst/>
          </a:prstGeom>
          <a:noFill/>
          <a:ln/>
        </p:spPr>
        <p:txBody>
          <a:bodyPr wrap="square" lIns="0" tIns="0" rIns="0" bIns="0" rtlCol="0" anchor="ctr"/>
          <a:lstStyle/>
          <a:p>
            <a:pPr indent="0" marL="0">
              <a:buNone/>
            </a:pPr>
            <a:r>
              <a:rPr lang="en-US" sz="1050" dirty="0">
                <a:solidFill>
                  <a:srgbClr val="6B6B6B"/>
                </a:solidFill>
              </a:rPr>
              <a:t>[00] % of the requirement</a:t>
            </a:r>
            <a:endParaRPr lang="en-US" sz="1050" dirty="0"/>
          </a:p>
        </p:txBody>
      </p:sp>
      <p:sp>
        <p:nvSpPr>
          <p:cNvPr id="18" name="Target label 4"/>
          <p:cNvSpPr txBox="1"/>
          <p:nvPr/>
        </p:nvSpPr>
        <p:spPr>
          <a:xfrm>
            <a:off x="8138160" y="4937760"/>
            <a:ext cx="3410712" cy="219456"/>
          </a:xfrm>
          <a:prstGeom prst="rect">
            <a:avLst/>
          </a:prstGeom>
          <a:noFill/>
          <a:ln/>
        </p:spPr>
        <p:txBody>
          <a:bodyPr wrap="square" lIns="0" tIns="0" rIns="0" bIns="0" rtlCol="0" anchor="ctr"/>
          <a:lstStyle/>
          <a:p>
            <a:pPr indent="0" marL="0">
              <a:buNone/>
            </a:pPr>
            <a:r>
              <a:rPr lang="en-US" sz="1050" b="1" spc="100" kern="0" dirty="0">
                <a:solidFill>
                  <a:srgbClr val="6B6B6B"/>
                </a:solidFill>
              </a:rPr>
              <a:t>REMAINING GAP</a:t>
            </a:r>
            <a:endParaRPr lang="en-US" sz="1050" dirty="0"/>
          </a:p>
        </p:txBody>
      </p:sp>
      <p:sp>
        <p:nvSpPr>
          <p:cNvPr id="19" name="Target value 4"/>
          <p:cNvSpPr txBox="1"/>
          <p:nvPr/>
        </p:nvSpPr>
        <p:spPr>
          <a:xfrm>
            <a:off x="8138160" y="5166360"/>
            <a:ext cx="3410712" cy="329184"/>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[0,000] tCO₂e</a:t>
            </a:r>
            <a:endParaRPr lang="en-US" sz="1800" dirty="0"/>
          </a:p>
        </p:txBody>
      </p:sp>
      <p:sp>
        <p:nvSpPr>
          <p:cNvPr id="20" name="Target note 4"/>
          <p:cNvSpPr txBox="1"/>
          <p:nvPr/>
        </p:nvSpPr>
        <p:spPr>
          <a:xfrm>
            <a:off x="8138160" y="5495544"/>
            <a:ext cx="3410712" cy="201168"/>
          </a:xfrm>
          <a:prstGeom prst="rect">
            <a:avLst/>
          </a:prstGeom>
          <a:noFill/>
          <a:ln/>
        </p:spPr>
        <p:txBody>
          <a:bodyPr wrap="square" lIns="0" tIns="0" rIns="0" bIns="0" rtlCol="0" anchor="ctr"/>
          <a:lstStyle/>
          <a:p>
            <a:pPr indent="0" marL="0">
              <a:buNone/>
            </a:pPr>
            <a:r>
              <a:rPr lang="en-US" sz="1050" dirty="0">
                <a:solidFill>
                  <a:srgbClr val="6B6B6B"/>
                </a:solidFill>
              </a:rPr>
              <a:t>after this project</a:t>
            </a:r>
            <a:endParaRPr lang="en-US" sz="105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FINANCIAL CASE</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 [0.00] m capex, paid back in [0.0] years</a:t>
            </a:r>
            <a:endParaRPr lang="en-US" sz="2800" dirty="0"/>
          </a:p>
        </p:txBody>
      </p:sp>
      <p:graphicFrame>
        <p:nvGraphicFramePr>
          <p:cNvPr id="9" name="Financial table"/>
          <p:cNvGraphicFramePr>
            <a:graphicFrameLocks noGrp="1"/>
          </p:cNvGraphicFramePr>
          <p:nvPr>
            <p:extLst>
              <p:ext uri="{D42A27DB-BD31-4B8C-83A1-F6EECF244321}">
                <p14:modId xmlns:p14="http://schemas.microsoft.com/office/powerpoint/2010/main" val="1579011935"/>
              </p:ext>
            </p:extLst>
          </p:nvPr>
        </p:nvGraphicFramePr>
        <p:xfrm>
          <a:off x="457200" y="2194560"/>
          <a:ext cx="7406640" cy="914400"/>
        </p:xfrm>
        <a:graphic>
          <a:graphicData uri="http://schemas.openxmlformats.org/drawingml/2006/table">
            <a:tbl>
              <a:tblPr/>
              <a:tblGrid>
                <a:gridCol w="3200400"/>
                <a:gridCol w="1280160"/>
                <a:gridCol w="2926080"/>
              </a:tblGrid>
              <a:tr h="347472">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Item</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latin typeface="+mj-lt" pitchFamily="34" charset="0"/>
                          <a:ea typeface="+mj-lt" pitchFamily="34" charset="-122"/>
                          <a:cs typeface="+mj-lt" pitchFamily="34" charset="-120"/>
                        </a:rPr>
                        <a:t>EUR</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Basis</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r>
              <a:tr h="315468">
                <a:tc>
                  <a:txBody>
                    <a:bodyPr/>
                    <a:lstStyle/>
                    <a:p>
                      <a:pPr algn="l" indent="0" marL="0">
                        <a:buNone/>
                      </a:pPr>
                      <a:r>
                        <a:rPr lang="en-US" sz="1200" b="1" dirty="0">
                          <a:solidFill>
                            <a:schemeClr val="accent1"/>
                          </a:solidFill>
                        </a:rPr>
                        <a:t>Capex, total</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accent1"/>
                          </a:solidFill>
                        </a:rPr>
                        <a:t>[0,000,000]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1"/>
                          </a:solidFill>
                        </a:rPr>
                        <a:t>= capex in the tracker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315468">
                <a:tc>
                  <a:txBody>
                    <a:bodyPr/>
                    <a:lstStyle/>
                    <a:p>
                      <a:pPr algn="l" indent="0" marL="0">
                        <a:buNone/>
                      </a:pPr>
                      <a:r>
                        <a:rPr lang="en-US" sz="1200" dirty="0">
                          <a:solidFill>
                            <a:schemeClr val="tx1"/>
                          </a:solidFill>
                        </a:rPr>
                        <a:t>     Equipment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[Supplier quote, date]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315468">
                <a:tc>
                  <a:txBody>
                    <a:bodyPr/>
                    <a:lstStyle/>
                    <a:p>
                      <a:pPr algn="l" indent="0" marL="0">
                        <a:buNone/>
                      </a:pPr>
                      <a:r>
                        <a:rPr lang="en-US" sz="1200" dirty="0">
                          <a:solidFill>
                            <a:schemeClr val="tx1"/>
                          </a:solidFill>
                        </a:rPr>
                        <a:t>     Installation, engineering, permits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[Quote or estimate]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315468">
                <a:tc>
                  <a:txBody>
                    <a:bodyPr/>
                    <a:lstStyle/>
                    <a:p>
                      <a:pPr algn="l" indent="0" marL="0">
                        <a:buNone/>
                      </a:pPr>
                      <a:r>
                        <a:rPr lang="en-US" sz="1200" dirty="0">
                          <a:solidFill>
                            <a:schemeClr val="tx1"/>
                          </a:solidFill>
                        </a:rPr>
                        <a:t>     Contingency</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[00] % of capex</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315468">
                <a:tc>
                  <a:txBody>
                    <a:bodyPr/>
                    <a:lstStyle/>
                    <a:p>
                      <a:pPr algn="l" indent="0" marL="0">
                        <a:buNone/>
                      </a:pPr>
                      <a:r>
                        <a:rPr lang="en-US" sz="1200" dirty="0">
                          <a:solidFill>
                            <a:schemeClr val="tx1"/>
                          </a:solidFill>
                        </a:rPr>
                        <a:t>Public funding applied for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[Programme, status]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315468">
                <a:tc>
                  <a:txBody>
                    <a:bodyPr/>
                    <a:lstStyle/>
                    <a:p>
                      <a:pPr algn="l" indent="0" marL="0">
                        <a:buNone/>
                      </a:pPr>
                      <a:r>
                        <a:rPr lang="en-US" sz="1200" b="1" dirty="0">
                          <a:solidFill>
                            <a:schemeClr val="accent1"/>
                          </a:solidFill>
                        </a:rPr>
                        <a:t>Net capex after funding</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accent1"/>
                          </a:solidFill>
                        </a:rPr>
                        <a:t>[0,000,000]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rPr>
                        <a:t>Capex minus funding</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315468">
                <a:tc>
                  <a:txBody>
                    <a:bodyPr/>
                    <a:lstStyle/>
                    <a:p>
                      <a:pPr algn="l" indent="0" marL="0">
                        <a:buNone/>
                      </a:pPr>
                      <a:r>
                        <a:rPr lang="en-US" sz="1200" b="1" dirty="0">
                          <a:solidFill>
                            <a:schemeClr val="accent1"/>
                          </a:solidFill>
                        </a:rPr>
                        <a:t>Opex change per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accent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1"/>
                          </a:solidFill>
                        </a:rPr>
                        <a:t>= opex in the tracker; minus is a saving</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315468">
                <a:tc>
                  <a:txBody>
                    <a:bodyPr/>
                    <a:lstStyle/>
                    <a:p>
                      <a:pPr algn="l" indent="0" marL="0">
                        <a:buNone/>
                      </a:pPr>
                      <a:r>
                        <a:rPr lang="en-US" sz="1200" dirty="0">
                          <a:solidFill>
                            <a:schemeClr val="tx1"/>
                          </a:solidFill>
                        </a:rPr>
                        <a:t>     Energy cost: gas, electricity</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[Prices assumed, € per MWh]</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315468">
                <a:tc>
                  <a:txBody>
                    <a:bodyPr/>
                    <a:lstStyle/>
                    <a:p>
                      <a:pPr algn="l" indent="0" marL="0">
                        <a:buNone/>
                      </a:pPr>
                      <a:r>
                        <a:rPr lang="en-US" sz="1200" dirty="0">
                          <a:solidFill>
                            <a:schemeClr val="tx1"/>
                          </a:solidFill>
                        </a:rPr>
                        <a:t>     CO₂ cost on fuels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[Price assumed, € per tCO₂]</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315468">
                <a:tc>
                  <a:txBody>
                    <a:bodyPr/>
                    <a:lstStyle/>
                    <a:p>
                      <a:pPr algn="l" indent="0" marL="0">
                        <a:buNone/>
                      </a:pPr>
                      <a:r>
                        <a:rPr lang="en-US" sz="1200" dirty="0">
                          <a:solidFill>
                            <a:schemeClr val="tx1"/>
                          </a:solidFill>
                        </a:rPr>
                        <a:t>     Maintenance, consumables, staff</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[Contract or estimate]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bl>
          </a:graphicData>
        </a:graphic>
      </p:graphicFrame>
      <p:sp>
        <p:nvSpPr>
          <p:cNvPr id="6" name="Formula note"/>
          <p:cNvSpPr txBox="1"/>
          <p:nvPr/>
        </p:nvSpPr>
        <p:spPr>
          <a:xfrm>
            <a:off x="457200" y="5833872"/>
            <a:ext cx="7406640" cy="365760"/>
          </a:xfrm>
          <a:prstGeom prst="rect">
            <a:avLst/>
          </a:prstGeom>
          <a:noFill/>
          <a:ln/>
        </p:spPr>
        <p:txBody>
          <a:bodyPr wrap="square" lIns="0" tIns="0" rIns="0" bIns="0" rtlCol="0" anchor="t"/>
          <a:lstStyle/>
          <a:p>
            <a:pPr indent="0" marL="0">
              <a:buNone/>
            </a:pPr>
            <a:r>
              <a:rPr lang="en-US" sz="1000" dirty="0">
                <a:solidFill>
                  <a:srgbClr val="6B6B6B"/>
                </a:solidFill>
              </a:rPr>
              <a:t>Payback = net capex ÷ yearly net saving.  Cost per tCO₂e = (net capex + opex change × years of life) ÷ total impact.  NPV at the Group Finance rate.</a:t>
            </a:r>
            <a:endParaRPr lang="en-US" sz="1000" dirty="0"/>
          </a:p>
        </p:txBody>
      </p:sp>
      <p:sp>
        <p:nvSpPr>
          <p:cNvPr id="7" name="Finance figures card"/>
          <p:cNvSpPr/>
          <p:nvPr/>
        </p:nvSpPr>
        <p:spPr>
          <a:xfrm>
            <a:off x="8046720" y="2194560"/>
            <a:ext cx="3685032" cy="3502152"/>
          </a:xfrm>
          <a:prstGeom prst="rect">
            <a:avLst/>
          </a:prstGeom>
          <a:solidFill>
            <a:schemeClr val="bg1"/>
          </a:solidFill>
          <a:ln w="9525">
            <a:solidFill>
              <a:srgbClr val="DDDBD3"/>
            </a:solidFill>
            <a:prstDash val="solid"/>
          </a:ln>
        </p:spPr>
      </p:sp>
      <p:sp>
        <p:nvSpPr>
          <p:cNvPr id="8" name="Finance label 1"/>
          <p:cNvSpPr txBox="1"/>
          <p:nvPr/>
        </p:nvSpPr>
        <p:spPr>
          <a:xfrm>
            <a:off x="8229600" y="2359152"/>
            <a:ext cx="3319272" cy="219456"/>
          </a:xfrm>
          <a:prstGeom prst="rect">
            <a:avLst/>
          </a:prstGeom>
          <a:noFill/>
          <a:ln/>
        </p:spPr>
        <p:txBody>
          <a:bodyPr wrap="square" lIns="0" tIns="0" rIns="0" bIns="0" rtlCol="0" anchor="ctr"/>
          <a:lstStyle/>
          <a:p>
            <a:pPr indent="0" marL="0">
              <a:buNone/>
            </a:pPr>
            <a:r>
              <a:rPr lang="en-US" sz="1050" b="1" spc="100" kern="0" dirty="0">
                <a:solidFill>
                  <a:srgbClr val="6B6B6B"/>
                </a:solidFill>
              </a:rPr>
              <a:t>SIMPLE PAYBACK</a:t>
            </a:r>
            <a:endParaRPr lang="en-US" sz="1050" dirty="0"/>
          </a:p>
        </p:txBody>
      </p:sp>
      <p:sp>
        <p:nvSpPr>
          <p:cNvPr id="9" name="Finance value 1"/>
          <p:cNvSpPr txBox="1"/>
          <p:nvPr/>
        </p:nvSpPr>
        <p:spPr>
          <a:xfrm>
            <a:off x="8229600" y="2587752"/>
            <a:ext cx="3319272" cy="329184"/>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[0.0] years</a:t>
            </a:r>
            <a:endParaRPr lang="en-US" sz="1800" dirty="0"/>
          </a:p>
        </p:txBody>
      </p:sp>
      <p:sp>
        <p:nvSpPr>
          <p:cNvPr id="10" name="Finance note 1"/>
          <p:cNvSpPr txBox="1"/>
          <p:nvPr/>
        </p:nvSpPr>
        <p:spPr>
          <a:xfrm>
            <a:off x="8229600" y="2916936"/>
            <a:ext cx="3319272" cy="201168"/>
          </a:xfrm>
          <a:prstGeom prst="rect">
            <a:avLst/>
          </a:prstGeom>
          <a:noFill/>
          <a:ln/>
        </p:spPr>
        <p:txBody>
          <a:bodyPr wrap="square" lIns="0" tIns="0" rIns="0" bIns="0" rtlCol="0" anchor="ctr"/>
          <a:lstStyle/>
          <a:p>
            <a:pPr indent="0" marL="0">
              <a:buNone/>
            </a:pPr>
            <a:r>
              <a:rPr lang="en-US" sz="1050" dirty="0">
                <a:solidFill>
                  <a:srgbClr val="6B6B6B"/>
                </a:solidFill>
              </a:rPr>
              <a:t>after funding</a:t>
            </a:r>
            <a:endParaRPr lang="en-US" sz="1050" dirty="0"/>
          </a:p>
        </p:txBody>
      </p:sp>
      <p:sp>
        <p:nvSpPr>
          <p:cNvPr id="11" name="Finance label 2"/>
          <p:cNvSpPr txBox="1"/>
          <p:nvPr/>
        </p:nvSpPr>
        <p:spPr>
          <a:xfrm>
            <a:off x="8229600" y="3255264"/>
            <a:ext cx="3319272" cy="219456"/>
          </a:xfrm>
          <a:prstGeom prst="rect">
            <a:avLst/>
          </a:prstGeom>
          <a:noFill/>
          <a:ln/>
        </p:spPr>
        <p:txBody>
          <a:bodyPr wrap="square" lIns="0" tIns="0" rIns="0" bIns="0" rtlCol="0" anchor="ctr"/>
          <a:lstStyle/>
          <a:p>
            <a:pPr indent="0" marL="0">
              <a:buNone/>
            </a:pPr>
            <a:r>
              <a:rPr lang="en-US" sz="1050" b="1" spc="100" kern="0" dirty="0">
                <a:solidFill>
                  <a:srgbClr val="6B6B6B"/>
                </a:solidFill>
              </a:rPr>
              <a:t>NET PRESENT VALUE</a:t>
            </a:r>
            <a:endParaRPr lang="en-US" sz="1050" dirty="0"/>
          </a:p>
        </p:txBody>
      </p:sp>
      <p:sp>
        <p:nvSpPr>
          <p:cNvPr id="12" name="Finance value 2"/>
          <p:cNvSpPr txBox="1"/>
          <p:nvPr/>
        </p:nvSpPr>
        <p:spPr>
          <a:xfrm>
            <a:off x="8229600" y="3483864"/>
            <a:ext cx="3319272" cy="329184"/>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 [0.00] m</a:t>
            </a:r>
            <a:endParaRPr lang="en-US" sz="1800" dirty="0"/>
          </a:p>
        </p:txBody>
      </p:sp>
      <p:sp>
        <p:nvSpPr>
          <p:cNvPr id="13" name="Finance note 2"/>
          <p:cNvSpPr txBox="1"/>
          <p:nvPr/>
        </p:nvSpPr>
        <p:spPr>
          <a:xfrm>
            <a:off x="8229600" y="3813048"/>
            <a:ext cx="3319272" cy="201168"/>
          </a:xfrm>
          <a:prstGeom prst="rect">
            <a:avLst/>
          </a:prstGeom>
          <a:noFill/>
          <a:ln/>
        </p:spPr>
        <p:txBody>
          <a:bodyPr wrap="square" lIns="0" tIns="0" rIns="0" bIns="0" rtlCol="0" anchor="ctr"/>
          <a:lstStyle/>
          <a:p>
            <a:pPr indent="0" marL="0">
              <a:buNone/>
            </a:pPr>
            <a:r>
              <a:rPr lang="en-US" sz="1050" dirty="0">
                <a:solidFill>
                  <a:srgbClr val="6B6B6B"/>
                </a:solidFill>
              </a:rPr>
              <a:t>at [0.0] % over [00] years</a:t>
            </a:r>
            <a:endParaRPr lang="en-US" sz="1050" dirty="0"/>
          </a:p>
        </p:txBody>
      </p:sp>
      <p:sp>
        <p:nvSpPr>
          <p:cNvPr id="14" name="Finance label 3"/>
          <p:cNvSpPr txBox="1"/>
          <p:nvPr/>
        </p:nvSpPr>
        <p:spPr>
          <a:xfrm>
            <a:off x="8229600" y="4151376"/>
            <a:ext cx="3319272" cy="219456"/>
          </a:xfrm>
          <a:prstGeom prst="rect">
            <a:avLst/>
          </a:prstGeom>
          <a:noFill/>
          <a:ln/>
        </p:spPr>
        <p:txBody>
          <a:bodyPr wrap="square" lIns="0" tIns="0" rIns="0" bIns="0" rtlCol="0" anchor="ctr"/>
          <a:lstStyle/>
          <a:p>
            <a:pPr indent="0" marL="0">
              <a:buNone/>
            </a:pPr>
            <a:r>
              <a:rPr lang="en-US" sz="1050" b="1" spc="100" kern="0" dirty="0">
                <a:solidFill>
                  <a:srgbClr val="6B6B6B"/>
                </a:solidFill>
              </a:rPr>
              <a:t>COST PER tCO₂e</a:t>
            </a:r>
            <a:endParaRPr lang="en-US" sz="1050" dirty="0"/>
          </a:p>
        </p:txBody>
      </p:sp>
      <p:sp>
        <p:nvSpPr>
          <p:cNvPr id="15" name="Finance value 3"/>
          <p:cNvSpPr txBox="1"/>
          <p:nvPr/>
        </p:nvSpPr>
        <p:spPr>
          <a:xfrm>
            <a:off x="8229600" y="4379976"/>
            <a:ext cx="3319272" cy="329184"/>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 [000]</a:t>
            </a:r>
            <a:endParaRPr lang="en-US" sz="1800" dirty="0"/>
          </a:p>
        </p:txBody>
      </p:sp>
      <p:sp>
        <p:nvSpPr>
          <p:cNvPr id="16" name="Finance note 3"/>
          <p:cNvSpPr txBox="1"/>
          <p:nvPr/>
        </p:nvSpPr>
        <p:spPr>
          <a:xfrm>
            <a:off x="8229600" y="4709160"/>
            <a:ext cx="3319272" cy="201168"/>
          </a:xfrm>
          <a:prstGeom prst="rect">
            <a:avLst/>
          </a:prstGeom>
          <a:noFill/>
          <a:ln/>
        </p:spPr>
        <p:txBody>
          <a:bodyPr wrap="square" lIns="0" tIns="0" rIns="0" bIns="0" rtlCol="0" anchor="ctr"/>
          <a:lstStyle/>
          <a:p>
            <a:pPr indent="0" marL="0">
              <a:buNone/>
            </a:pPr>
            <a:r>
              <a:rPr lang="en-US" sz="1050" dirty="0">
                <a:solidFill>
                  <a:srgbClr val="6B6B6B"/>
                </a:solidFill>
              </a:rPr>
              <a:t>over the life of the project</a:t>
            </a:r>
            <a:endParaRPr lang="en-US" sz="1050" dirty="0"/>
          </a:p>
        </p:txBody>
      </p:sp>
      <p:sp>
        <p:nvSpPr>
          <p:cNvPr id="17" name="Finance sign-off"/>
          <p:cNvSpPr txBox="1"/>
          <p:nvPr/>
        </p:nvSpPr>
        <p:spPr>
          <a:xfrm>
            <a:off x="8229600" y="5047488"/>
            <a:ext cx="3319272" cy="566928"/>
          </a:xfrm>
          <a:prstGeom prst="rect">
            <a:avLst/>
          </a:prstGeom>
          <a:noFill/>
          <a:ln/>
        </p:spPr>
        <p:txBody>
          <a:bodyPr wrap="square" lIns="0" tIns="0" rIns="0" bIns="0" rtlCol="0" anchor="t"/>
          <a:lstStyle/>
          <a:p>
            <a:pPr indent="0" marL="0">
              <a:buNone/>
            </a:pPr>
            <a:r>
              <a:rPr lang="en-US" sz="1250" b="1" dirty="0">
                <a:solidFill>
                  <a:schemeClr val="tx1"/>
                </a:solidFill>
              </a:rPr>
              <a:t>In the budget: </a:t>
            </a:r>
            <a:pPr indent="0" marL="0">
              <a:buNone/>
            </a:pPr>
            <a:r>
              <a:rPr lang="en-US" sz="1250" dirty="0">
                <a:solidFill>
                  <a:schemeClr val="tx1"/>
                </a:solidFill>
              </a:rPr>
              <a:t>[yes, 20__ / no]</a:t>
            </a:r>
            <a:endParaRPr lang="en-US" sz="1250" dirty="0"/>
          </a:p>
          <a:p>
            <a:pPr indent="0" marL="0">
              <a:buNone/>
            </a:pPr>
            <a:r>
              <a:rPr lang="en-US" sz="1250" b="1" dirty="0">
                <a:solidFill>
                  <a:schemeClr val="tx1"/>
                </a:solidFill>
              </a:rPr>
              <a:t>Reviewed by: </a:t>
            </a:r>
            <a:pPr indent="0" marL="0">
              <a:buNone/>
            </a:pPr>
            <a:r>
              <a:rPr lang="en-US" sz="1250" dirty="0">
                <a:solidFill>
                  <a:schemeClr val="tx1"/>
                </a:solidFill>
              </a:rPr>
              <a:t>[site controller]</a:t>
            </a:r>
            <a:endParaRPr lang="en-US" sz="125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IMPLEMENTATION PLAN</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Full impact from [start year]</a:t>
            </a:r>
            <a:endParaRPr lang="en-US" sz="2800" dirty="0"/>
          </a:p>
        </p:txBody>
      </p:sp>
      <p:sp>
        <p:nvSpPr>
          <p:cNvPr id="5" name="Phase 1 card"/>
          <p:cNvSpPr/>
          <p:nvPr/>
        </p:nvSpPr>
        <p:spPr>
          <a:xfrm>
            <a:off x="457200" y="2194560"/>
            <a:ext cx="2103120" cy="1417320"/>
          </a:xfrm>
          <a:prstGeom prst="rect">
            <a:avLst/>
          </a:prstGeom>
          <a:solidFill>
            <a:schemeClr val="bg1"/>
          </a:solidFill>
          <a:ln w="9525">
            <a:solidFill>
              <a:srgbClr val="DDDBD3"/>
            </a:solidFill>
            <a:prstDash val="solid"/>
          </a:ln>
        </p:spPr>
      </p:sp>
      <p:sp>
        <p:nvSpPr>
          <p:cNvPr id="6" name="Phase 1 label"/>
          <p:cNvSpPr txBox="1"/>
          <p:nvPr/>
        </p:nvSpPr>
        <p:spPr>
          <a:xfrm>
            <a:off x="621792" y="2286000"/>
            <a:ext cx="18288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1  DECISION</a:t>
            </a:r>
            <a:endParaRPr lang="en-US" sz="1100" dirty="0"/>
          </a:p>
        </p:txBody>
      </p:sp>
      <p:sp>
        <p:nvSpPr>
          <p:cNvPr id="7" name="Phase 1 date"/>
          <p:cNvSpPr txBox="1"/>
          <p:nvPr/>
        </p:nvSpPr>
        <p:spPr>
          <a:xfrm>
            <a:off x="621792" y="2578608"/>
            <a:ext cx="1828800" cy="411480"/>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[Month 20__]</a:t>
            </a:r>
            <a:endParaRPr lang="en-US" sz="1800" dirty="0"/>
          </a:p>
        </p:txBody>
      </p:sp>
      <p:sp>
        <p:nvSpPr>
          <p:cNvPr id="8" name="Phase 1 text"/>
          <p:cNvSpPr txBox="1"/>
          <p:nvPr/>
        </p:nvSpPr>
        <p:spPr>
          <a:xfrm>
            <a:off x="621792" y="3017520"/>
            <a:ext cx="1828800" cy="502920"/>
          </a:xfrm>
          <a:prstGeom prst="rect">
            <a:avLst/>
          </a:prstGeom>
          <a:noFill/>
          <a:ln/>
        </p:spPr>
        <p:txBody>
          <a:bodyPr wrap="square" lIns="0" tIns="0" rIns="0" bIns="0" rtlCol="0" anchor="t"/>
          <a:lstStyle/>
          <a:p>
            <a:pPr indent="0" marL="0">
              <a:buNone/>
            </a:pPr>
            <a:r>
              <a:rPr lang="en-US" sz="1200" dirty="0">
                <a:solidFill>
                  <a:schemeClr val="tx1"/>
                </a:solidFill>
              </a:rPr>
              <a:t>Committee approval</a:t>
            </a:r>
            <a:endParaRPr lang="en-US" sz="1200" dirty="0"/>
          </a:p>
        </p:txBody>
      </p:sp>
      <p:sp>
        <p:nvSpPr>
          <p:cNvPr id="9" name="Phase 2 card"/>
          <p:cNvSpPr/>
          <p:nvPr/>
        </p:nvSpPr>
        <p:spPr>
          <a:xfrm>
            <a:off x="2743200" y="2194560"/>
            <a:ext cx="2103120" cy="1417320"/>
          </a:xfrm>
          <a:prstGeom prst="rect">
            <a:avLst/>
          </a:prstGeom>
          <a:solidFill>
            <a:schemeClr val="bg1"/>
          </a:solidFill>
          <a:ln w="9525">
            <a:solidFill>
              <a:srgbClr val="DDDBD3"/>
            </a:solidFill>
            <a:prstDash val="solid"/>
          </a:ln>
        </p:spPr>
      </p:sp>
      <p:sp>
        <p:nvSpPr>
          <p:cNvPr id="10" name="Phase 2 label"/>
          <p:cNvSpPr txBox="1"/>
          <p:nvPr/>
        </p:nvSpPr>
        <p:spPr>
          <a:xfrm>
            <a:off x="2907792" y="2286000"/>
            <a:ext cx="18288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2  ENGINEERING</a:t>
            </a:r>
            <a:endParaRPr lang="en-US" sz="1100" dirty="0"/>
          </a:p>
        </p:txBody>
      </p:sp>
      <p:sp>
        <p:nvSpPr>
          <p:cNvPr id="11" name="Phase 2 date"/>
          <p:cNvSpPr txBox="1"/>
          <p:nvPr/>
        </p:nvSpPr>
        <p:spPr>
          <a:xfrm>
            <a:off x="2907792" y="2578608"/>
            <a:ext cx="1828800" cy="411480"/>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[Q0 20__]</a:t>
            </a:r>
            <a:endParaRPr lang="en-US" sz="1800" dirty="0"/>
          </a:p>
        </p:txBody>
      </p:sp>
      <p:sp>
        <p:nvSpPr>
          <p:cNvPr id="12" name="Phase 2 text"/>
          <p:cNvSpPr txBox="1"/>
          <p:nvPr/>
        </p:nvSpPr>
        <p:spPr>
          <a:xfrm>
            <a:off x="2907792" y="3017520"/>
            <a:ext cx="1828800" cy="502920"/>
          </a:xfrm>
          <a:prstGeom prst="rect">
            <a:avLst/>
          </a:prstGeom>
          <a:noFill/>
          <a:ln/>
        </p:spPr>
        <p:txBody>
          <a:bodyPr wrap="square" lIns="0" tIns="0" rIns="0" bIns="0" rtlCol="0" anchor="t"/>
          <a:lstStyle/>
          <a:p>
            <a:pPr indent="0" marL="0">
              <a:buNone/>
            </a:pPr>
            <a:r>
              <a:rPr lang="en-US" sz="1200" dirty="0">
                <a:solidFill>
                  <a:schemeClr val="tx1"/>
                </a:solidFill>
              </a:rPr>
              <a:t>Design and permits</a:t>
            </a:r>
            <a:endParaRPr lang="en-US" sz="1200" dirty="0"/>
          </a:p>
        </p:txBody>
      </p:sp>
      <p:sp>
        <p:nvSpPr>
          <p:cNvPr id="13" name="Phase 3 card"/>
          <p:cNvSpPr/>
          <p:nvPr/>
        </p:nvSpPr>
        <p:spPr>
          <a:xfrm>
            <a:off x="5029200" y="2194560"/>
            <a:ext cx="2103120" cy="1417320"/>
          </a:xfrm>
          <a:prstGeom prst="rect">
            <a:avLst/>
          </a:prstGeom>
          <a:solidFill>
            <a:schemeClr val="bg1"/>
          </a:solidFill>
          <a:ln w="9525">
            <a:solidFill>
              <a:srgbClr val="DDDBD3"/>
            </a:solidFill>
            <a:prstDash val="solid"/>
          </a:ln>
        </p:spPr>
      </p:sp>
      <p:sp>
        <p:nvSpPr>
          <p:cNvPr id="14" name="Phase 3 label"/>
          <p:cNvSpPr txBox="1"/>
          <p:nvPr/>
        </p:nvSpPr>
        <p:spPr>
          <a:xfrm>
            <a:off x="5193792" y="2286000"/>
            <a:ext cx="18288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3  PROCUREMENT</a:t>
            </a:r>
            <a:endParaRPr lang="en-US" sz="1100" dirty="0"/>
          </a:p>
        </p:txBody>
      </p:sp>
      <p:sp>
        <p:nvSpPr>
          <p:cNvPr id="15" name="Phase 3 date"/>
          <p:cNvSpPr txBox="1"/>
          <p:nvPr/>
        </p:nvSpPr>
        <p:spPr>
          <a:xfrm>
            <a:off x="5193792" y="2578608"/>
            <a:ext cx="1828800" cy="411480"/>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[Q0 20__]</a:t>
            </a:r>
            <a:endParaRPr lang="en-US" sz="1800" dirty="0"/>
          </a:p>
        </p:txBody>
      </p:sp>
      <p:sp>
        <p:nvSpPr>
          <p:cNvPr id="16" name="Phase 3 text"/>
          <p:cNvSpPr txBox="1"/>
          <p:nvPr/>
        </p:nvSpPr>
        <p:spPr>
          <a:xfrm>
            <a:off x="5193792" y="3017520"/>
            <a:ext cx="1828800" cy="502920"/>
          </a:xfrm>
          <a:prstGeom prst="rect">
            <a:avLst/>
          </a:prstGeom>
          <a:noFill/>
          <a:ln/>
        </p:spPr>
        <p:txBody>
          <a:bodyPr wrap="square" lIns="0" tIns="0" rIns="0" bIns="0" rtlCol="0" anchor="t"/>
          <a:lstStyle/>
          <a:p>
            <a:pPr indent="0" marL="0">
              <a:buNone/>
            </a:pPr>
            <a:r>
              <a:rPr lang="en-US" sz="1200" dirty="0">
                <a:solidFill>
                  <a:schemeClr val="tx1"/>
                </a:solidFill>
              </a:rPr>
              <a:t>Order placed, delivery in [00] weeks</a:t>
            </a:r>
            <a:endParaRPr lang="en-US" sz="1200" dirty="0"/>
          </a:p>
        </p:txBody>
      </p:sp>
      <p:sp>
        <p:nvSpPr>
          <p:cNvPr id="17" name="Phase 4 card"/>
          <p:cNvSpPr/>
          <p:nvPr/>
        </p:nvSpPr>
        <p:spPr>
          <a:xfrm>
            <a:off x="7315200" y="2194560"/>
            <a:ext cx="2103120" cy="1417320"/>
          </a:xfrm>
          <a:prstGeom prst="rect">
            <a:avLst/>
          </a:prstGeom>
          <a:solidFill>
            <a:schemeClr val="bg1"/>
          </a:solidFill>
          <a:ln w="9525">
            <a:solidFill>
              <a:srgbClr val="DDDBD3"/>
            </a:solidFill>
            <a:prstDash val="solid"/>
          </a:ln>
        </p:spPr>
      </p:sp>
      <p:sp>
        <p:nvSpPr>
          <p:cNvPr id="18" name="Phase 4 label"/>
          <p:cNvSpPr txBox="1"/>
          <p:nvPr/>
        </p:nvSpPr>
        <p:spPr>
          <a:xfrm>
            <a:off x="7479792" y="2286000"/>
            <a:ext cx="18288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4  INSTALLATION</a:t>
            </a:r>
            <a:endParaRPr lang="en-US" sz="1100" dirty="0"/>
          </a:p>
        </p:txBody>
      </p:sp>
      <p:sp>
        <p:nvSpPr>
          <p:cNvPr id="19" name="Phase 4 date"/>
          <p:cNvSpPr txBox="1"/>
          <p:nvPr/>
        </p:nvSpPr>
        <p:spPr>
          <a:xfrm>
            <a:off x="7479792" y="2578608"/>
            <a:ext cx="1828800" cy="411480"/>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[Q0 20__]</a:t>
            </a:r>
            <a:endParaRPr lang="en-US" sz="1800" dirty="0"/>
          </a:p>
        </p:txBody>
      </p:sp>
      <p:sp>
        <p:nvSpPr>
          <p:cNvPr id="20" name="Phase 4 text"/>
          <p:cNvSpPr txBox="1"/>
          <p:nvPr/>
        </p:nvSpPr>
        <p:spPr>
          <a:xfrm>
            <a:off x="7479792" y="3017520"/>
            <a:ext cx="1828800" cy="502920"/>
          </a:xfrm>
          <a:prstGeom prst="rect">
            <a:avLst/>
          </a:prstGeom>
          <a:noFill/>
          <a:ln/>
        </p:spPr>
        <p:txBody>
          <a:bodyPr wrap="square" lIns="0" tIns="0" rIns="0" bIns="0" rtlCol="0" anchor="t"/>
          <a:lstStyle/>
          <a:p>
            <a:pPr indent="0" marL="0">
              <a:buNone/>
            </a:pPr>
            <a:r>
              <a:rPr lang="en-US" sz="1200" dirty="0">
                <a:solidFill>
                  <a:schemeClr val="tx1"/>
                </a:solidFill>
              </a:rPr>
              <a:t>Shutdown window: [dates]</a:t>
            </a:r>
            <a:endParaRPr lang="en-US" sz="1200" dirty="0"/>
          </a:p>
        </p:txBody>
      </p:sp>
      <p:sp>
        <p:nvSpPr>
          <p:cNvPr id="21" name="Phase 5 card"/>
          <p:cNvSpPr/>
          <p:nvPr/>
        </p:nvSpPr>
        <p:spPr>
          <a:xfrm>
            <a:off x="9601200" y="2194560"/>
            <a:ext cx="2103120" cy="1417320"/>
          </a:xfrm>
          <a:prstGeom prst="rect">
            <a:avLst/>
          </a:prstGeom>
          <a:solidFill>
            <a:schemeClr val="accent1"/>
          </a:solidFill>
          <a:ln w="9525">
            <a:solidFill>
              <a:srgbClr val="DDDBD3"/>
            </a:solidFill>
            <a:prstDash val="solid"/>
          </a:ln>
        </p:spPr>
      </p:sp>
      <p:sp>
        <p:nvSpPr>
          <p:cNvPr id="22" name="Phase 5 label"/>
          <p:cNvSpPr txBox="1"/>
          <p:nvPr/>
        </p:nvSpPr>
        <p:spPr>
          <a:xfrm>
            <a:off x="9765792" y="2286000"/>
            <a:ext cx="1828800" cy="274320"/>
          </a:xfrm>
          <a:prstGeom prst="rect">
            <a:avLst/>
          </a:prstGeom>
          <a:noFill/>
          <a:ln/>
        </p:spPr>
        <p:txBody>
          <a:bodyPr wrap="square" lIns="0" tIns="0" rIns="0" bIns="0" rtlCol="0" anchor="ctr"/>
          <a:lstStyle/>
          <a:p>
            <a:pPr indent="0" marL="0">
              <a:buNone/>
            </a:pPr>
            <a:r>
              <a:rPr lang="en-US" sz="1100" b="1" spc="100" kern="0" dirty="0">
                <a:solidFill>
                  <a:schemeClr val="bg1"/>
                </a:solidFill>
              </a:rPr>
              <a:t>5  FULL RUN RATE</a:t>
            </a:r>
            <a:endParaRPr lang="en-US" sz="1100" dirty="0"/>
          </a:p>
        </p:txBody>
      </p:sp>
      <p:sp>
        <p:nvSpPr>
          <p:cNvPr id="23" name="Phase 5 date"/>
          <p:cNvSpPr txBox="1"/>
          <p:nvPr/>
        </p:nvSpPr>
        <p:spPr>
          <a:xfrm>
            <a:off x="9765792" y="2578608"/>
            <a:ext cx="1828800" cy="411480"/>
          </a:xfrm>
          <a:prstGeom prst="rect">
            <a:avLst/>
          </a:prstGeom>
          <a:noFill/>
          <a:ln/>
        </p:spPr>
        <p:txBody>
          <a:bodyPr wrap="square" lIns="0" tIns="0" rIns="0" bIns="0" rtlCol="0" anchor="ctr"/>
          <a:lstStyle/>
          <a:p>
            <a:pPr indent="0" marL="0">
              <a:buNone/>
            </a:pPr>
            <a:r>
              <a:rPr lang="en-US" sz="1800" b="1" dirty="0">
                <a:solidFill>
                  <a:schemeClr val="bg1"/>
                </a:solidFill>
                <a:latin typeface="+mj-lt" pitchFamily="34" charset="0"/>
                <a:ea typeface="+mj-lt" pitchFamily="34" charset="-122"/>
                <a:cs typeface="+mj-lt" pitchFamily="34" charset="-120"/>
              </a:rPr>
              <a:t>[20__]</a:t>
            </a:r>
            <a:endParaRPr lang="en-US" sz="1800" dirty="0"/>
          </a:p>
        </p:txBody>
      </p:sp>
      <p:sp>
        <p:nvSpPr>
          <p:cNvPr id="24" name="Phase 5 text"/>
          <p:cNvSpPr txBox="1"/>
          <p:nvPr/>
        </p:nvSpPr>
        <p:spPr>
          <a:xfrm>
            <a:off x="9765792" y="3017520"/>
            <a:ext cx="1828800" cy="502920"/>
          </a:xfrm>
          <a:prstGeom prst="rect">
            <a:avLst/>
          </a:prstGeom>
          <a:noFill/>
          <a:ln/>
        </p:spPr>
        <p:txBody>
          <a:bodyPr wrap="square" lIns="0" tIns="0" rIns="0" bIns="0" rtlCol="0" anchor="t"/>
          <a:lstStyle/>
          <a:p>
            <a:pPr indent="0" marL="0">
              <a:buNone/>
            </a:pPr>
            <a:r>
              <a:rPr lang="en-US" sz="1200" dirty="0">
                <a:solidFill>
                  <a:schemeClr val="bg1"/>
                </a:solidFill>
              </a:rPr>
              <a:t>= start year in the tracker</a:t>
            </a:r>
            <a:endParaRPr lang="en-US" sz="1200" dirty="0"/>
          </a:p>
        </p:txBody>
      </p:sp>
      <p:sp>
        <p:nvSpPr>
          <p:cNvPr id="25" name="Plan card 1"/>
          <p:cNvSpPr/>
          <p:nvPr/>
        </p:nvSpPr>
        <p:spPr>
          <a:xfrm>
            <a:off x="457200" y="3886200"/>
            <a:ext cx="3627425" cy="2194560"/>
          </a:xfrm>
          <a:prstGeom prst="rect">
            <a:avLst/>
          </a:prstGeom>
          <a:solidFill>
            <a:schemeClr val="bg1"/>
          </a:solidFill>
          <a:ln w="9525">
            <a:solidFill>
              <a:srgbClr val="DDDBD3"/>
            </a:solidFill>
            <a:prstDash val="solid"/>
          </a:ln>
        </p:spPr>
      </p:sp>
      <p:sp>
        <p:nvSpPr>
          <p:cNvPr id="26" name="Plan eyebrow 1"/>
          <p:cNvSpPr txBox="1"/>
          <p:nvPr/>
        </p:nvSpPr>
        <p:spPr>
          <a:xfrm>
            <a:off x="640080" y="3995928"/>
            <a:ext cx="3255264"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TEAM</a:t>
            </a:r>
            <a:endParaRPr lang="en-US" sz="1100" dirty="0"/>
          </a:p>
        </p:txBody>
      </p:sp>
      <p:sp>
        <p:nvSpPr>
          <p:cNvPr id="27" name="Plan text 1"/>
          <p:cNvSpPr txBox="1"/>
          <p:nvPr/>
        </p:nvSpPr>
        <p:spPr>
          <a:xfrm>
            <a:off x="640080" y="4370832"/>
            <a:ext cx="3255264" cy="1645920"/>
          </a:xfrm>
          <a:prstGeom prst="rect">
            <a:avLst/>
          </a:prstGeom>
          <a:noFill/>
          <a:ln/>
        </p:spPr>
        <p:txBody>
          <a:bodyPr wrap="square" lIns="0" tIns="0" rIns="0" bIns="0" rtlCol="0" anchor="t"/>
          <a:lstStyle/>
          <a:p>
            <a:pPr indent="0" marL="0">
              <a:spcAft>
                <a:spcPts val="800"/>
              </a:spcAft>
              <a:buNone/>
            </a:pPr>
            <a:r>
              <a:rPr lang="en-US" sz="1250" b="1" dirty="0">
                <a:solidFill>
                  <a:schemeClr val="tx1"/>
                </a:solidFill>
              </a:rPr>
              <a:t>Project owner: </a:t>
            </a:r>
            <a:pPr indent="0" marL="0">
              <a:spcAft>
                <a:spcPts val="800"/>
              </a:spcAft>
              <a:buNone/>
            </a:pPr>
            <a:r>
              <a:rPr lang="en-US" sz="1250" dirty="0">
                <a:solidFill>
                  <a:schemeClr val="tx1"/>
                </a:solidFill>
              </a:rPr>
              <a:t>[name, as in the tracker]</a:t>
            </a:r>
            <a:endParaRPr lang="en-US" sz="1250" dirty="0"/>
          </a:p>
          <a:p>
            <a:pPr indent="0" marL="0">
              <a:spcAft>
                <a:spcPts val="800"/>
              </a:spcAft>
              <a:buNone/>
            </a:pPr>
            <a:r>
              <a:rPr lang="en-US" sz="1250" b="1" dirty="0">
                <a:solidFill>
                  <a:schemeClr val="tx1"/>
                </a:solidFill>
              </a:rPr>
              <a:t>Project lead: </a:t>
            </a:r>
            <a:pPr indent="0" marL="0">
              <a:spcAft>
                <a:spcPts val="800"/>
              </a:spcAft>
              <a:buNone/>
            </a:pPr>
            <a:r>
              <a:rPr lang="en-US" sz="1250" dirty="0">
                <a:solidFill>
                  <a:schemeClr val="tx1"/>
                </a:solidFill>
              </a:rPr>
              <a:t>[name]</a:t>
            </a:r>
            <a:endParaRPr lang="en-US" sz="1250" dirty="0"/>
          </a:p>
          <a:p>
            <a:pPr indent="0" marL="0">
              <a:spcAft>
                <a:spcPts val="800"/>
              </a:spcAft>
              <a:buNone/>
            </a:pPr>
            <a:r>
              <a:rPr lang="en-US" sz="1250" b="1" dirty="0">
                <a:solidFill>
                  <a:schemeClr val="tx1"/>
                </a:solidFill>
              </a:rPr>
              <a:t>Supplier: </a:t>
            </a:r>
            <a:pPr indent="0" marL="0">
              <a:spcAft>
                <a:spcPts val="800"/>
              </a:spcAft>
              <a:buNone/>
            </a:pPr>
            <a:r>
              <a:rPr lang="en-US" sz="1250" dirty="0">
                <a:solidFill>
                  <a:schemeClr val="tx1"/>
                </a:solidFill>
              </a:rPr>
              <a:t>[name, status of the offer]</a:t>
            </a:r>
            <a:endParaRPr lang="en-US" sz="1250" dirty="0"/>
          </a:p>
        </p:txBody>
      </p:sp>
      <p:sp>
        <p:nvSpPr>
          <p:cNvPr id="28" name="Plan card 2"/>
          <p:cNvSpPr/>
          <p:nvPr/>
        </p:nvSpPr>
        <p:spPr>
          <a:xfrm>
            <a:off x="4267505" y="3886200"/>
            <a:ext cx="3627425" cy="2194560"/>
          </a:xfrm>
          <a:prstGeom prst="rect">
            <a:avLst/>
          </a:prstGeom>
          <a:solidFill>
            <a:schemeClr val="bg1"/>
          </a:solidFill>
          <a:ln w="9525">
            <a:solidFill>
              <a:srgbClr val="DDDBD3"/>
            </a:solidFill>
            <a:prstDash val="solid"/>
          </a:ln>
        </p:spPr>
      </p:sp>
      <p:sp>
        <p:nvSpPr>
          <p:cNvPr id="29" name="Plan eyebrow 2"/>
          <p:cNvSpPr txBox="1"/>
          <p:nvPr/>
        </p:nvSpPr>
        <p:spPr>
          <a:xfrm>
            <a:off x="4450385" y="3995928"/>
            <a:ext cx="3255264"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PRODUCTION</a:t>
            </a:r>
            <a:endParaRPr lang="en-US" sz="1100" dirty="0"/>
          </a:p>
        </p:txBody>
      </p:sp>
      <p:sp>
        <p:nvSpPr>
          <p:cNvPr id="30" name="Plan text 2"/>
          <p:cNvSpPr txBox="1"/>
          <p:nvPr/>
        </p:nvSpPr>
        <p:spPr>
          <a:xfrm>
            <a:off x="4450385" y="4370832"/>
            <a:ext cx="3255264" cy="1645920"/>
          </a:xfrm>
          <a:prstGeom prst="rect">
            <a:avLst/>
          </a:prstGeom>
          <a:noFill/>
          <a:ln/>
        </p:spPr>
        <p:txBody>
          <a:bodyPr wrap="square" lIns="0" tIns="0" rIns="0" bIns="0" rtlCol="0" anchor="t"/>
          <a:lstStyle/>
          <a:p>
            <a:pPr indent="0" marL="0">
              <a:spcAft>
                <a:spcPts val="800"/>
              </a:spcAft>
              <a:buNone/>
            </a:pPr>
            <a:r>
              <a:rPr lang="en-US" sz="1250" b="1" dirty="0">
                <a:solidFill>
                  <a:schemeClr val="tx1"/>
                </a:solidFill>
              </a:rPr>
              <a:t>Downtime: </a:t>
            </a:r>
            <a:pPr indent="0" marL="0">
              <a:spcAft>
                <a:spcPts val="800"/>
              </a:spcAft>
              <a:buNone/>
            </a:pPr>
            <a:r>
              <a:rPr lang="en-US" sz="1250" dirty="0">
                <a:solidFill>
                  <a:schemeClr val="tx1"/>
                </a:solidFill>
              </a:rPr>
              <a:t>[00] days in [month 20__]</a:t>
            </a:r>
            <a:endParaRPr lang="en-US" sz="1250" dirty="0"/>
          </a:p>
          <a:p>
            <a:pPr indent="0" marL="0">
              <a:spcAft>
                <a:spcPts val="800"/>
              </a:spcAft>
              <a:buNone/>
            </a:pPr>
            <a:r>
              <a:rPr lang="en-US" sz="1250" b="1" dirty="0">
                <a:solidFill>
                  <a:schemeClr val="tx1"/>
                </a:solidFill>
              </a:rPr>
              <a:t>Lines affected: </a:t>
            </a:r>
            <a:pPr indent="0" marL="0">
              <a:spcAft>
                <a:spcPts val="800"/>
              </a:spcAft>
              <a:buNone/>
            </a:pPr>
            <a:r>
              <a:rPr lang="en-US" sz="1250" dirty="0">
                <a:solidFill>
                  <a:schemeClr val="tx1"/>
                </a:solidFill>
              </a:rPr>
              <a:t>[which]</a:t>
            </a:r>
            <a:endParaRPr lang="en-US" sz="1250" dirty="0"/>
          </a:p>
          <a:p>
            <a:pPr indent="0" marL="0">
              <a:spcAft>
                <a:spcPts val="800"/>
              </a:spcAft>
              <a:buNone/>
            </a:pPr>
            <a:r>
              <a:rPr lang="en-US" sz="1250" b="1" dirty="0">
                <a:solidFill>
                  <a:schemeClr val="tx1"/>
                </a:solidFill>
              </a:rPr>
              <a:t>Output covered by: </a:t>
            </a:r>
            <a:pPr indent="0" marL="0">
              <a:spcAft>
                <a:spcPts val="800"/>
              </a:spcAft>
              <a:buNone/>
            </a:pPr>
            <a:r>
              <a:rPr lang="en-US" sz="1250" dirty="0">
                <a:solidFill>
                  <a:schemeClr val="tx1"/>
                </a:solidFill>
              </a:rPr>
              <a:t>[stock, shifts, other lines]</a:t>
            </a:r>
            <a:endParaRPr lang="en-US" sz="1250" dirty="0"/>
          </a:p>
        </p:txBody>
      </p:sp>
      <p:sp>
        <p:nvSpPr>
          <p:cNvPr id="31" name="Plan card 3"/>
          <p:cNvSpPr/>
          <p:nvPr/>
        </p:nvSpPr>
        <p:spPr>
          <a:xfrm>
            <a:off x="8077810" y="3886200"/>
            <a:ext cx="3627425" cy="2194560"/>
          </a:xfrm>
          <a:prstGeom prst="rect">
            <a:avLst/>
          </a:prstGeom>
          <a:solidFill>
            <a:schemeClr val="bg1"/>
          </a:solidFill>
          <a:ln w="9525">
            <a:solidFill>
              <a:srgbClr val="DDDBD3"/>
            </a:solidFill>
            <a:prstDash val="solid"/>
          </a:ln>
        </p:spPr>
      </p:sp>
      <p:sp>
        <p:nvSpPr>
          <p:cNvPr id="32" name="Plan eyebrow 3"/>
          <p:cNvSpPr txBox="1"/>
          <p:nvPr/>
        </p:nvSpPr>
        <p:spPr>
          <a:xfrm>
            <a:off x="8260690" y="3995928"/>
            <a:ext cx="3255264"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PERMITS AND DEPENDENCIES</a:t>
            </a:r>
            <a:endParaRPr lang="en-US" sz="1100" dirty="0"/>
          </a:p>
        </p:txBody>
      </p:sp>
      <p:sp>
        <p:nvSpPr>
          <p:cNvPr id="33" name="Plan text 3"/>
          <p:cNvSpPr txBox="1"/>
          <p:nvPr/>
        </p:nvSpPr>
        <p:spPr>
          <a:xfrm>
            <a:off x="8260690" y="4370832"/>
            <a:ext cx="3255264" cy="1645920"/>
          </a:xfrm>
          <a:prstGeom prst="rect">
            <a:avLst/>
          </a:prstGeom>
          <a:noFill/>
          <a:ln/>
        </p:spPr>
        <p:txBody>
          <a:bodyPr wrap="square" lIns="0" tIns="0" rIns="0" bIns="0" rtlCol="0" anchor="t"/>
          <a:lstStyle/>
          <a:p>
            <a:pPr indent="0" marL="0">
              <a:spcAft>
                <a:spcPts val="800"/>
              </a:spcAft>
              <a:buNone/>
            </a:pPr>
            <a:r>
              <a:rPr lang="en-US" sz="1250" b="1" dirty="0">
                <a:solidFill>
                  <a:schemeClr val="tx1"/>
                </a:solidFill>
              </a:rPr>
              <a:t>Permits: </a:t>
            </a:r>
            <a:pPr indent="0" marL="0">
              <a:spcAft>
                <a:spcPts val="800"/>
              </a:spcAft>
              <a:buNone/>
            </a:pPr>
            <a:r>
              <a:rPr lang="en-US" sz="1250" dirty="0">
                <a:solidFill>
                  <a:schemeClr val="tx1"/>
                </a:solidFill>
              </a:rPr>
              <a:t>[which, from whom, by when]</a:t>
            </a:r>
            <a:endParaRPr lang="en-US" sz="1250" dirty="0"/>
          </a:p>
          <a:p>
            <a:pPr indent="0" marL="0">
              <a:spcAft>
                <a:spcPts val="800"/>
              </a:spcAft>
              <a:buNone/>
            </a:pPr>
            <a:r>
              <a:rPr lang="en-US" sz="1250" b="1" dirty="0">
                <a:solidFill>
                  <a:schemeClr val="tx1"/>
                </a:solidFill>
              </a:rPr>
              <a:t>Grid connection, utilities: </a:t>
            </a:r>
            <a:pPr indent="0" marL="0">
              <a:spcAft>
                <a:spcPts val="800"/>
              </a:spcAft>
              <a:buNone/>
            </a:pPr>
            <a:r>
              <a:rPr lang="en-US" sz="1250" dirty="0">
                <a:solidFill>
                  <a:schemeClr val="tx1"/>
                </a:solidFill>
              </a:rPr>
              <a:t>[needed or not, lead time]</a:t>
            </a:r>
            <a:endParaRPr lang="en-US" sz="1250" dirty="0"/>
          </a:p>
          <a:p>
            <a:pPr indent="0" marL="0">
              <a:spcAft>
                <a:spcPts val="800"/>
              </a:spcAft>
              <a:buNone/>
            </a:pPr>
            <a:r>
              <a:rPr lang="en-US" sz="1250" b="1" dirty="0">
                <a:solidFill>
                  <a:schemeClr val="tx1"/>
                </a:solidFill>
              </a:rPr>
              <a:t>Depends on: </a:t>
            </a:r>
            <a:pPr indent="0" marL="0">
              <a:spcAft>
                <a:spcPts val="800"/>
              </a:spcAft>
              <a:buNone/>
            </a:pPr>
            <a:r>
              <a:rPr lang="en-US" sz="1250" dirty="0">
                <a:solidFill>
                  <a:schemeClr val="tx1"/>
                </a:solidFill>
              </a:rPr>
              <a:t>[other projects, funding decision]</a:t>
            </a:r>
            <a:endParaRPr lang="en-US" sz="125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RISKS AND SIDE EFFECTS</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What could go wrong, and what else changes</a:t>
            </a:r>
            <a:endParaRPr lang="en-US" sz="2800" dirty="0"/>
          </a:p>
        </p:txBody>
      </p:sp>
      <p:graphicFrame>
        <p:nvGraphicFramePr>
          <p:cNvPr id="11" name="Risk table"/>
          <p:cNvGraphicFramePr>
            <a:graphicFrameLocks noGrp="1"/>
          </p:cNvGraphicFramePr>
          <p:nvPr>
            <p:extLst>
              <p:ext uri="{D42A27DB-BD31-4B8C-83A1-F6EECF244321}">
                <p14:modId xmlns:p14="http://schemas.microsoft.com/office/powerpoint/2010/main" val="1579011935"/>
              </p:ext>
            </p:extLst>
          </p:nvPr>
        </p:nvGraphicFramePr>
        <p:xfrm>
          <a:off x="457200" y="2194560"/>
          <a:ext cx="11274552" cy="914400"/>
        </p:xfrm>
        <a:graphic>
          <a:graphicData uri="http://schemas.openxmlformats.org/drawingml/2006/table">
            <a:tbl>
              <a:tblPr/>
              <a:tblGrid>
                <a:gridCol w="3291840"/>
                <a:gridCol w="731520"/>
                <a:gridCol w="2743200"/>
                <a:gridCol w="3044952"/>
                <a:gridCol w="1463040"/>
              </a:tblGrid>
              <a:tr h="365760">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Risk</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mj-lt" pitchFamily="34" charset="0"/>
                          <a:ea typeface="+mj-lt" pitchFamily="34" charset="-122"/>
                          <a:cs typeface="+mj-lt" pitchFamily="34" charset="-120"/>
                        </a:rPr>
                        <a:t>Level</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Effect on impact or cost</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What we do about it</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Owner</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r>
              <a:tr h="512064">
                <a:tc>
                  <a:txBody>
                    <a:bodyPr/>
                    <a:lstStyle/>
                    <a:p>
                      <a:pPr algn="l" indent="0" marL="0">
                        <a:buNone/>
                      </a:pPr>
                      <a:r>
                        <a:rPr lang="en-US" sz="1200" dirty="0">
                          <a:solidFill>
                            <a:schemeClr val="tx1"/>
                          </a:solidFill>
                        </a:rPr>
                        <a:t>Technical: [performance below the supplier's figure]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5"/>
                          </a:solidFill>
                        </a:rPr>
                        <a: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[What it would change, in figures]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[Mitigation, and who decides]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[Name]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512064">
                <a:tc>
                  <a:txBody>
                    <a:bodyPr/>
                    <a:lstStyle/>
                    <a:p>
                      <a:pPr algn="l" indent="0" marL="0">
                        <a:buNone/>
                      </a:pPr>
                      <a:r>
                        <a:rPr lang="en-US" sz="1200" dirty="0">
                          <a:solidFill>
                            <a:schemeClr val="tx1"/>
                          </a:solidFill>
                        </a:rPr>
                        <a:t>Operational: [product quality, longer downtime]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5"/>
                          </a:solidFill>
                        </a:rPr>
                        <a: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[What it would change, in figures]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[Mitigation, and who decides]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[Name]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512064">
                <a:tc>
                  <a:txBody>
                    <a:bodyPr/>
                    <a:lstStyle/>
                    <a:p>
                      <a:pPr algn="l" indent="0" marL="0">
                        <a:buNone/>
                      </a:pPr>
                      <a:r>
                        <a:rPr lang="en-US" sz="1200" dirty="0">
                          <a:solidFill>
                            <a:schemeClr val="tx1"/>
                          </a:solidFill>
                        </a:rPr>
                        <a:t>Financial: [cost overrun, gas and electricity prices]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5"/>
                          </a:solidFill>
                        </a:rPr>
                        <a: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[What it would change, in figures]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[Mitigation, and who decides]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[Name]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512064">
                <a:tc>
                  <a:txBody>
                    <a:bodyPr/>
                    <a:lstStyle/>
                    <a:p>
                      <a:pPr algn="l" indent="0" marL="0">
                        <a:buNone/>
                      </a:pPr>
                      <a:r>
                        <a:rPr lang="en-US" sz="1200" dirty="0">
                          <a:solidFill>
                            <a:schemeClr val="tx1"/>
                          </a:solidFill>
                        </a:rPr>
                        <a:t>Permits and funding: [approval late, grant refused]</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5"/>
                          </a:solidFill>
                        </a:rPr>
                        <a: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[What it would change, in figures]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[Mitigation, and who decides]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[Name]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bl>
          </a:graphicData>
        </a:graphic>
      </p:graphicFrame>
      <p:sp>
        <p:nvSpPr>
          <p:cNvPr id="6" name="Risk legend"/>
          <p:cNvSpPr txBox="1"/>
          <p:nvPr/>
        </p:nvSpPr>
        <p:spPr>
          <a:xfrm>
            <a:off x="457200" y="4663440"/>
            <a:ext cx="11247120" cy="274320"/>
          </a:xfrm>
          <a:prstGeom prst="rect">
            <a:avLst/>
          </a:prstGeom>
          <a:noFill/>
          <a:ln/>
        </p:spPr>
        <p:txBody>
          <a:bodyPr wrap="square" lIns="0" tIns="0" rIns="0" bIns="0" rtlCol="0" anchor="ctr"/>
          <a:lstStyle/>
          <a:p>
            <a:pPr indent="0" marL="0">
              <a:buNone/>
            </a:pPr>
            <a:r>
              <a:rPr lang="en-US" sz="1000" dirty="0">
                <a:solidFill>
                  <a:srgbClr val="6B6B6B"/>
                </a:solidFill>
              </a:rPr>
              <a:t>Level:  </a:t>
            </a:r>
            <a:pPr indent="0" marL="0">
              <a:buNone/>
            </a:pPr>
            <a:r>
              <a:rPr lang="en-US" sz="1000" dirty="0">
                <a:solidFill>
                  <a:schemeClr val="accent4"/>
                </a:solidFill>
              </a:rPr>
              <a:t>● </a:t>
            </a:r>
            <a:pPr indent="0" marL="0">
              <a:buNone/>
            </a:pPr>
            <a:r>
              <a:rPr lang="en-US" sz="1000" dirty="0">
                <a:solidFill>
                  <a:srgbClr val="6B6B6B"/>
                </a:solidFill>
              </a:rPr>
              <a:t>low    </a:t>
            </a:r>
            <a:pPr indent="0" marL="0">
              <a:buNone/>
            </a:pPr>
            <a:r>
              <a:rPr lang="en-US" sz="1000" dirty="0">
                <a:solidFill>
                  <a:schemeClr val="accent5"/>
                </a:solidFill>
              </a:rPr>
              <a:t>● </a:t>
            </a:r>
            <a:pPr indent="0" marL="0">
              <a:buNone/>
            </a:pPr>
            <a:r>
              <a:rPr lang="en-US" sz="1000" dirty="0">
                <a:solidFill>
                  <a:srgbClr val="6B6B6B"/>
                </a:solidFill>
              </a:rPr>
              <a:t>medium    </a:t>
            </a:r>
            <a:pPr indent="0" marL="0">
              <a:buNone/>
            </a:pPr>
            <a:r>
              <a:rPr lang="en-US" sz="1000" dirty="0">
                <a:solidFill>
                  <a:schemeClr val="accent6"/>
                </a:solidFill>
              </a:rPr>
              <a:t>● </a:t>
            </a:r>
            <a:pPr indent="0" marL="0">
              <a:buNone/>
            </a:pPr>
            <a:r>
              <a:rPr lang="en-US" sz="1000" dirty="0">
                <a:solidFill>
                  <a:srgbClr val="6B6B6B"/>
                </a:solidFill>
              </a:rPr>
              <a:t>high.  Recolour the dot for each risk.</a:t>
            </a:r>
            <a:endParaRPr lang="en-US" sz="1000" dirty="0"/>
          </a:p>
        </p:txBody>
      </p:sp>
      <p:sp>
        <p:nvSpPr>
          <p:cNvPr id="7" name="Side effects card"/>
          <p:cNvSpPr/>
          <p:nvPr/>
        </p:nvSpPr>
        <p:spPr>
          <a:xfrm>
            <a:off x="457200" y="5029200"/>
            <a:ext cx="11274552" cy="1097280"/>
          </a:xfrm>
          <a:prstGeom prst="rect">
            <a:avLst/>
          </a:prstGeom>
          <a:solidFill>
            <a:schemeClr val="bg1"/>
          </a:solidFill>
          <a:ln w="9525">
            <a:solidFill>
              <a:srgbClr val="DDDBD3"/>
            </a:solidFill>
            <a:prstDash val="solid"/>
          </a:ln>
        </p:spPr>
      </p:sp>
      <p:sp>
        <p:nvSpPr>
          <p:cNvPr id="8" name="Side effects eyebrow"/>
          <p:cNvSpPr txBox="1"/>
          <p:nvPr/>
        </p:nvSpPr>
        <p:spPr>
          <a:xfrm>
            <a:off x="640080" y="5102352"/>
            <a:ext cx="73152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SIDE EFFECTS ON THE OTHER TARGETS</a:t>
            </a:r>
            <a:endParaRPr lang="en-US" sz="1100" dirty="0"/>
          </a:p>
        </p:txBody>
      </p:sp>
      <p:sp>
        <p:nvSpPr>
          <p:cNvPr id="9" name="Side effect 1"/>
          <p:cNvSpPr txBox="1"/>
          <p:nvPr/>
        </p:nvSpPr>
        <p:spPr>
          <a:xfrm>
            <a:off x="640080" y="5422392"/>
            <a:ext cx="3520440" cy="640080"/>
          </a:xfrm>
          <a:prstGeom prst="rect">
            <a:avLst/>
          </a:prstGeom>
          <a:noFill/>
          <a:ln/>
        </p:spPr>
        <p:txBody>
          <a:bodyPr wrap="square" lIns="0" tIns="0" rIns="0" bIns="0" rtlCol="0" anchor="t"/>
          <a:lstStyle/>
          <a:p>
            <a:pPr indent="0" marL="0">
              <a:spcAft>
                <a:spcPts val="700"/>
              </a:spcAft>
              <a:buNone/>
            </a:pPr>
            <a:r>
              <a:rPr lang="en-US" sz="1250" b="1" dirty="0">
                <a:solidFill>
                  <a:schemeClr val="tx1"/>
                </a:solidFill>
              </a:rPr>
              <a:t>Water: </a:t>
            </a:r>
            <a:pPr indent="0" marL="0">
              <a:spcAft>
                <a:spcPts val="700"/>
              </a:spcAft>
              <a:buNone/>
            </a:pPr>
            <a:r>
              <a:rPr lang="en-US" sz="1250" dirty="0">
                <a:solidFill>
                  <a:schemeClr val="tx1"/>
                </a:solidFill>
              </a:rPr>
              <a:t>[more, less or no change, in m³ a year]</a:t>
            </a:r>
            <a:endParaRPr lang="en-US" sz="1250" dirty="0"/>
          </a:p>
        </p:txBody>
      </p:sp>
      <p:sp>
        <p:nvSpPr>
          <p:cNvPr id="10" name="Side effect 2"/>
          <p:cNvSpPr txBox="1"/>
          <p:nvPr/>
        </p:nvSpPr>
        <p:spPr>
          <a:xfrm>
            <a:off x="4343400" y="5422392"/>
            <a:ext cx="3520440" cy="640080"/>
          </a:xfrm>
          <a:prstGeom prst="rect">
            <a:avLst/>
          </a:prstGeom>
          <a:noFill/>
          <a:ln/>
        </p:spPr>
        <p:txBody>
          <a:bodyPr wrap="square" lIns="0" tIns="0" rIns="0" bIns="0" rtlCol="0" anchor="t"/>
          <a:lstStyle/>
          <a:p>
            <a:pPr indent="0" marL="0">
              <a:spcAft>
                <a:spcPts val="700"/>
              </a:spcAft>
              <a:buNone/>
            </a:pPr>
            <a:r>
              <a:rPr lang="en-US" sz="1250" b="1" dirty="0">
                <a:solidFill>
                  <a:schemeClr val="tx1"/>
                </a:solidFill>
              </a:rPr>
              <a:t>Waste: </a:t>
            </a:r>
            <a:pPr indent="0" marL="0">
              <a:spcAft>
                <a:spcPts val="700"/>
              </a:spcAft>
              <a:buNone/>
            </a:pPr>
            <a:r>
              <a:rPr lang="en-US" sz="1250" dirty="0">
                <a:solidFill>
                  <a:schemeClr val="tx1"/>
                </a:solidFill>
              </a:rPr>
              <a:t>[more, less or no change, in t a year]</a:t>
            </a:r>
            <a:endParaRPr lang="en-US" sz="1250" dirty="0"/>
          </a:p>
        </p:txBody>
      </p:sp>
      <p:sp>
        <p:nvSpPr>
          <p:cNvPr id="11" name="Side effect 3"/>
          <p:cNvSpPr txBox="1"/>
          <p:nvPr/>
        </p:nvSpPr>
        <p:spPr>
          <a:xfrm>
            <a:off x="8046720" y="5422392"/>
            <a:ext cx="3520440" cy="640080"/>
          </a:xfrm>
          <a:prstGeom prst="rect">
            <a:avLst/>
          </a:prstGeom>
          <a:noFill/>
          <a:ln/>
        </p:spPr>
        <p:txBody>
          <a:bodyPr wrap="square" lIns="0" tIns="0" rIns="0" bIns="0" rtlCol="0" anchor="t"/>
          <a:lstStyle/>
          <a:p>
            <a:pPr indent="0" marL="0">
              <a:spcAft>
                <a:spcPts val="700"/>
              </a:spcAft>
              <a:buNone/>
            </a:pPr>
            <a:r>
              <a:rPr lang="en-US" sz="1250" b="1" dirty="0">
                <a:solidFill>
                  <a:schemeClr val="tx1"/>
                </a:solidFill>
              </a:rPr>
              <a:t>Other: </a:t>
            </a:r>
            <a:pPr indent="0" marL="0">
              <a:spcAft>
                <a:spcPts val="700"/>
              </a:spcAft>
              <a:buNone/>
            </a:pPr>
            <a:r>
              <a:rPr lang="en-US" sz="1250" dirty="0">
                <a:solidFill>
                  <a:schemeClr val="tx1"/>
                </a:solidFill>
              </a:rPr>
              <a:t>[noise, refrigerants, safety]</a:t>
            </a:r>
            <a:endParaRPr lang="en-US" sz="125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MEASUREMENT AND VERIFICATION</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How we prove the impact after the start</a:t>
            </a:r>
            <a:endParaRPr lang="en-US" sz="2800" dirty="0"/>
          </a:p>
        </p:txBody>
      </p:sp>
      <p:graphicFrame>
        <p:nvGraphicFramePr>
          <p:cNvPr id="12" name="Measurement table"/>
          <p:cNvGraphicFramePr>
            <a:graphicFrameLocks noGrp="1"/>
          </p:cNvGraphicFramePr>
          <p:nvPr>
            <p:extLst>
              <p:ext uri="{D42A27DB-BD31-4B8C-83A1-F6EECF244321}">
                <p14:modId xmlns:p14="http://schemas.microsoft.com/office/powerpoint/2010/main" val="1579011935"/>
              </p:ext>
            </p:extLst>
          </p:nvPr>
        </p:nvGraphicFramePr>
        <p:xfrm>
          <a:off x="457200" y="2194560"/>
          <a:ext cx="7589520" cy="914400"/>
        </p:xfrm>
        <a:graphic>
          <a:graphicData uri="http://schemas.openxmlformats.org/drawingml/2006/table">
            <a:tbl>
              <a:tblPr/>
              <a:tblGrid>
                <a:gridCol w="2651760"/>
                <a:gridCol w="1828800"/>
                <a:gridCol w="1325880"/>
                <a:gridCol w="960120"/>
                <a:gridCol w="822960"/>
              </a:tblGrid>
              <a:tr h="365760">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What we measure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Data source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Baseline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How often</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Who</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r>
              <a:tr h="749808">
                <a:tc>
                  <a:txBody>
                    <a:bodyPr/>
                    <a:lstStyle/>
                    <a:p>
                      <a:pPr algn="l" indent="0" marL="0">
                        <a:buNone/>
                      </a:pPr>
                      <a:r>
                        <a:rPr lang="en-US" sz="1200" dirty="0">
                          <a:solidFill>
                            <a:schemeClr val="tx1"/>
                          </a:solidFill>
                        </a:rPr>
                        <a:t>Gas use of [equipment], MWh</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[Sub-meter number]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[12 months before the start]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Monthly</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[Name]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749808">
                <a:tc>
                  <a:txBody>
                    <a:bodyPr/>
                    <a:lstStyle/>
                    <a:p>
                      <a:pPr algn="l" indent="0" marL="0">
                        <a:buNone/>
                      </a:pPr>
                      <a:r>
                        <a:rPr lang="en-US" sz="1200" dirty="0">
                          <a:solidFill>
                            <a:schemeClr val="tx1"/>
                          </a:solidFill>
                        </a:rPr>
                        <a:t>Electricity use of [equipment], MWh</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[Sub-meter number]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[12 months before the start]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Monthly</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[Name]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749808">
                <a:tc>
                  <a:txBody>
                    <a:bodyPr/>
                    <a:lstStyle/>
                    <a:p>
                      <a:pPr algn="l" indent="0" marL="0">
                        <a:buNone/>
                      </a:pPr>
                      <a:r>
                        <a:rPr lang="en-US" sz="1200" dirty="0">
                          <a:solidFill>
                            <a:schemeClr val="tx1"/>
                          </a:solidFill>
                        </a:rPr>
                        <a:t>Output of the line, 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[Production report]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[Same period]</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Monthly</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[Name]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749808">
                <a:tc>
                  <a:txBody>
                    <a:bodyPr/>
                    <a:lstStyle/>
                    <a:p>
                      <a:pPr algn="l" indent="0" marL="0">
                        <a:buNone/>
                      </a:pPr>
                      <a:r>
                        <a:rPr lang="en-US" sz="1200" b="1" dirty="0">
                          <a:solidFill>
                            <a:schemeClr val="accent1"/>
                          </a:solidFill>
                        </a:rPr>
                        <a:t>Annual impact achieved, tCO₂e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rPr>
                        <a:t>Calculation as on slide 6</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rPr>
                        <a:t>Annual impact as approved</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rPr>
                        <a:t>Yearly</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rPr>
                        <a:t>[Owner]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bl>
          </a:graphicData>
        </a:graphic>
      </p:graphicFrame>
      <p:sp>
        <p:nvSpPr>
          <p:cNvPr id="6" name="After start card"/>
          <p:cNvSpPr/>
          <p:nvPr/>
        </p:nvSpPr>
        <p:spPr>
          <a:xfrm>
            <a:off x="8229600" y="2194560"/>
            <a:ext cx="3502152" cy="3364992"/>
          </a:xfrm>
          <a:prstGeom prst="rect">
            <a:avLst/>
          </a:prstGeom>
          <a:solidFill>
            <a:schemeClr val="bg1"/>
          </a:solidFill>
          <a:ln w="9525">
            <a:solidFill>
              <a:srgbClr val="DDDBD3"/>
            </a:solidFill>
            <a:prstDash val="solid"/>
          </a:ln>
        </p:spPr>
      </p:sp>
      <p:sp>
        <p:nvSpPr>
          <p:cNvPr id="7" name="After start eyebrow"/>
          <p:cNvSpPr txBox="1"/>
          <p:nvPr/>
        </p:nvSpPr>
        <p:spPr>
          <a:xfrm>
            <a:off x="8412480" y="2331720"/>
            <a:ext cx="3136392"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AFTER THE START</a:t>
            </a:r>
            <a:endParaRPr lang="en-US" sz="1100" dirty="0"/>
          </a:p>
        </p:txBody>
      </p:sp>
      <p:sp>
        <p:nvSpPr>
          <p:cNvPr id="8" name="After start text"/>
          <p:cNvSpPr txBox="1"/>
          <p:nvPr/>
        </p:nvSpPr>
        <p:spPr>
          <a:xfrm>
            <a:off x="8412480" y="2724912"/>
            <a:ext cx="3136392" cy="2011680"/>
          </a:xfrm>
          <a:prstGeom prst="rect">
            <a:avLst/>
          </a:prstGeom>
          <a:noFill/>
          <a:ln/>
        </p:spPr>
        <p:txBody>
          <a:bodyPr wrap="square" lIns="0" tIns="0" rIns="0" bIns="0" rtlCol="0" anchor="t"/>
          <a:lstStyle/>
          <a:p>
            <a:pPr indent="0" marL="0">
              <a:spcAft>
                <a:spcPts val="900"/>
              </a:spcAft>
              <a:buNone/>
            </a:pPr>
            <a:r>
              <a:rPr lang="en-US" sz="1250" b="1" dirty="0">
                <a:solidFill>
                  <a:schemeClr val="tx1"/>
                </a:solidFill>
              </a:rPr>
              <a:t>First review: </a:t>
            </a:r>
            <a:pPr indent="0" marL="0">
              <a:spcAft>
                <a:spcPts val="900"/>
              </a:spcAft>
              <a:buNone/>
            </a:pPr>
            <a:r>
              <a:rPr lang="en-US" sz="1250" dirty="0">
                <a:solidFill>
                  <a:schemeClr val="tx1"/>
                </a:solidFill>
              </a:rPr>
              <a:t>[month 20__], 12 months after the start</a:t>
            </a:r>
            <a:endParaRPr lang="en-US" sz="1250" dirty="0"/>
          </a:p>
          <a:p>
            <a:pPr indent="0" marL="0">
              <a:spcAft>
                <a:spcPts val="900"/>
              </a:spcAft>
              <a:buNone/>
            </a:pPr>
            <a:r>
              <a:rPr lang="en-US" sz="1250" b="1" dirty="0">
                <a:solidFill>
                  <a:schemeClr val="tx1"/>
                </a:solidFill>
              </a:rPr>
              <a:t>Evidence kept in: </a:t>
            </a:r>
            <a:pPr indent="0" marL="0">
              <a:spcAft>
                <a:spcPts val="900"/>
              </a:spcAft>
              <a:buNone/>
            </a:pPr>
            <a:r>
              <a:rPr lang="en-US" sz="1250" dirty="0">
                <a:solidFill>
                  <a:schemeClr val="tx1"/>
                </a:solidFill>
              </a:rPr>
              <a:t>[folder or system]</a:t>
            </a:r>
            <a:endParaRPr lang="en-US" sz="1250" dirty="0"/>
          </a:p>
          <a:p>
            <a:pPr indent="0" marL="0">
              <a:spcAft>
                <a:spcPts val="900"/>
              </a:spcAft>
              <a:buNone/>
            </a:pPr>
            <a:r>
              <a:rPr lang="en-US" sz="1250" b="1" dirty="0">
                <a:solidFill>
                  <a:schemeClr val="tx1"/>
                </a:solidFill>
              </a:rPr>
              <a:t>If the impact is below plan: </a:t>
            </a:r>
            <a:pPr indent="0" marL="0">
              <a:spcAft>
                <a:spcPts val="900"/>
              </a:spcAft>
              <a:buNone/>
            </a:pPr>
            <a:r>
              <a:rPr lang="en-US" sz="1250" dirty="0">
                <a:solidFill>
                  <a:schemeClr val="tx1"/>
                </a:solidFill>
              </a:rPr>
              <a:t>[what the site does, and who is told]</a:t>
            </a:r>
            <a:endParaRPr lang="en-US" sz="1250" dirty="0"/>
          </a:p>
        </p:txBody>
      </p:sp>
      <p:sp>
        <p:nvSpPr>
          <p:cNvPr id="9" name="Measurement note"/>
          <p:cNvSpPr txBox="1"/>
          <p:nvPr/>
        </p:nvSpPr>
        <p:spPr>
          <a:xfrm>
            <a:off x="457200" y="5715000"/>
            <a:ext cx="7589520" cy="384048"/>
          </a:xfrm>
          <a:prstGeom prst="rect">
            <a:avLst/>
          </a:prstGeom>
          <a:noFill/>
          <a:ln/>
        </p:spPr>
        <p:txBody>
          <a:bodyPr wrap="square" lIns="0" tIns="0" rIns="0" bIns="0" rtlCol="0" anchor="t"/>
          <a:lstStyle/>
          <a:p>
            <a:pPr indent="0" marL="0">
              <a:buNone/>
            </a:pPr>
            <a:r>
              <a:rPr lang="en-US" sz="1000" dirty="0">
                <a:solidFill>
                  <a:srgbClr val="6B6B6B"/>
                </a:solidFill>
              </a:rPr>
              <a:t>Compare like with like: the same output level, the same boundaries and the same factors as in the calculation on slide 6.</a:t>
            </a:r>
            <a:endParaRPr lang="en-US" sz="100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640080" y="2103120"/>
            <a:ext cx="10881360" cy="822960"/>
          </a:xfrm>
          <a:prstGeom prst="rect">
            <a:avLst/>
          </a:prstGeom>
          <a:noFill/>
          <a:ln/>
        </p:spPr>
        <p:txBody>
          <a:bodyPr wrap="square" lIns="0" tIns="0" rIns="0" bIns="0" rtlCol="0" anchor="ctr"/>
          <a:lstStyle/>
          <a:p>
            <a:pPr algn="l" indent="0" marL="0">
              <a:buNone/>
            </a:pPr>
            <a:r>
              <a:rPr lang="en-US" sz="4000" b="1" dirty="0">
                <a:solidFill>
                  <a:schemeClr val="bg1"/>
                </a:solidFill>
              </a:rPr>
              <a:t>Decision requested</a:t>
            </a:r>
            <a:endParaRPr lang="en-US" sz="4000" dirty="0"/>
          </a:p>
        </p:txBody>
      </p:sp>
      <p:sp>
        <p:nvSpPr>
          <p:cNvPr id="3" name="Decisions"/>
          <p:cNvSpPr txBox="1"/>
          <p:nvPr/>
        </p:nvSpPr>
        <p:spPr>
          <a:xfrm>
            <a:off x="640080" y="3063240"/>
            <a:ext cx="10881360" cy="1554480"/>
          </a:xfrm>
          <a:prstGeom prst="rect">
            <a:avLst/>
          </a:prstGeom>
          <a:noFill/>
          <a:ln/>
        </p:spPr>
        <p:txBody>
          <a:bodyPr wrap="square" lIns="0" tIns="0" rIns="0" bIns="0" rtlCol="0" anchor="t"/>
          <a:lstStyle/>
          <a:p>
            <a:pPr indent="0" marL="0">
              <a:spcAft>
                <a:spcPts val="800"/>
              </a:spcAft>
              <a:buNone/>
            </a:pPr>
            <a:r>
              <a:rPr lang="en-US" sz="1800" dirty="0">
                <a:solidFill>
                  <a:schemeClr val="bg1"/>
                </a:solidFill>
              </a:rPr>
              <a:t>1.  Approve [project title] with a capex of € [0,000,000] and start year [20__].</a:t>
            </a:r>
            <a:endParaRPr lang="en-US" sz="1800" dirty="0"/>
          </a:p>
          <a:p>
            <a:pPr indent="0" marL="0">
              <a:spcAft>
                <a:spcPts val="800"/>
              </a:spcAft>
              <a:buNone/>
            </a:pPr>
            <a:r>
              <a:rPr lang="en-US" sz="1800" dirty="0">
                <a:solidFill>
                  <a:schemeClr val="bg1"/>
                </a:solidFill>
              </a:rPr>
              <a:t>2.  [Condition or dependency, for example: subject to the funding decision in Q0 20__.]</a:t>
            </a:r>
            <a:endParaRPr lang="en-US" sz="1800" dirty="0"/>
          </a:p>
          <a:p>
            <a:pPr indent="0" marL="0">
              <a:buNone/>
            </a:pPr>
            <a:r>
              <a:rPr lang="en-US" sz="1800" dirty="0">
                <a:solidFill>
                  <a:schemeClr val="bg1"/>
                </a:solidFill>
              </a:rPr>
              <a:t>3.  [Next step if approved, with date and owner.]</a:t>
            </a:r>
            <a:endParaRPr lang="en-US" sz="1800" dirty="0"/>
          </a:p>
        </p:txBody>
      </p:sp>
      <p:sp>
        <p:nvSpPr>
          <p:cNvPr id="4" name="Rule"/>
          <p:cNvSpPr/>
          <p:nvPr/>
        </p:nvSpPr>
        <p:spPr>
          <a:xfrm>
            <a:off x="640080" y="4983480"/>
            <a:ext cx="1097280" cy="54864"/>
          </a:xfrm>
          <a:prstGeom prst="rect">
            <a:avLst/>
          </a:prstGeom>
          <a:solidFill>
            <a:schemeClr val="accent2"/>
          </a:solidFill>
          <a:ln/>
        </p:spPr>
      </p:sp>
      <p:sp>
        <p:nvSpPr>
          <p:cNvPr id="5" name="Sign-off"/>
          <p:cNvSpPr txBox="1"/>
          <p:nvPr/>
        </p:nvSpPr>
        <p:spPr>
          <a:xfrm>
            <a:off x="640080" y="5166360"/>
            <a:ext cx="10881360" cy="365760"/>
          </a:xfrm>
          <a:prstGeom prst="rect">
            <a:avLst/>
          </a:prstGeom>
          <a:noFill/>
          <a:ln/>
        </p:spPr>
        <p:txBody>
          <a:bodyPr wrap="square" lIns="0" tIns="0" rIns="0" bIns="0" rtlCol="0" anchor="ctr"/>
          <a:lstStyle/>
          <a:p>
            <a:pPr indent="0" marL="0">
              <a:buNone/>
            </a:pPr>
            <a:r>
              <a:rPr lang="en-US" sz="1400" dirty="0">
                <a:solidFill>
                  <a:schemeClr val="bg1"/>
                </a:solidFill>
              </a:rPr>
              <a:t>Prepared by [project owner]  |  Financials reviewed by [site controller]  |  Released by [site manager]  |  [Date]</a:t>
            </a:r>
            <a:endParaRPr lang="en-US" sz="1400" dirty="0"/>
          </a:p>
        </p:txBody>
      </p:sp>
    </p:spTree>
  </p:cSld>
  <p:clrMapOvr>
    <a:masterClrMapping/>
  </p:clrMapOvr>
</p:sld>
</file>

<file path=ppt/theme/theme1.xml><?xml version="1.0" encoding="utf-8"?>
<a:theme xmlns:a="http://schemas.openxmlformats.org/drawingml/2006/main" name="Ravensberg Consumer Brands">
  <a:themeElements>
    <a:clrScheme name="Ravensberg Consumer Brands">
      <a:dk1>
        <a:srgbClr val="333333"/>
      </a:dk1>
      <a:lt1>
        <a:srgbClr val="FFFFFF"/>
      </a:lt1>
      <a:dk2>
        <a:srgbClr val="0F6B3A"/>
      </a:dk2>
      <a:lt2>
        <a:srgbClr val="F5F4EF"/>
      </a:lt2>
      <a:accent1>
        <a:srgbClr val="0F6B3A"/>
      </a:accent1>
      <a:accent2>
        <a:srgbClr val="C9A27F"/>
      </a:accent2>
      <a:accent3>
        <a:srgbClr val="7FB069"/>
      </a:accent3>
      <a:accent4>
        <a:srgbClr val="2E8B57"/>
      </a:accent4>
      <a:accent5>
        <a:srgbClr val="D98E2B"/>
      </a:accent5>
      <a:accent6>
        <a:srgbClr val="C0392B"/>
      </a:accent6>
      <a:hlink>
        <a:srgbClr val="0F6B3A"/>
      </a:hlink>
      <a:folHlink>
        <a:srgbClr val="6B6B6B"/>
      </a:folHlink>
    </a:clrScheme>
    <a:fontScheme name="Ravensberg Consumer Brands">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Sans 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Ravensberg Consumer Brands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approval presentation, Emissions (template)</dc:title>
  <dc:subject>Template for the Ravensberg Project Tracker</dc:subject>
  <dc:creator>Group Sustainability</dc:creator>
  <cp:lastModifiedBy>Group Sustainability</cp:lastModifiedBy>
  <cp:revision>1</cp:revision>
  <dcterms:created xsi:type="dcterms:W3CDTF">2026-10-11T12:38:24Z</dcterms:created>
  <dcterms:modified xsi:type="dcterms:W3CDTF">2026-10-11T12:38:24Z</dcterms:modified>
</cp:coreProperties>
</file>