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H1 2025 (factor set 2025)</c:v>
                </c:pt>
              </c:strCache>
            </c:strRef>
          </c:tx>
          <c:spPr>
            <a:solidFill>
              <a:srgbClr val="C9A27F"/>
            </a:solidFill>
          </c:spPr>
          <c:cat>
            <c:strRef>
              <c:f>Sheet1!$A$2:$A$8</c:f>
              <c:strCache>
                <c:ptCount val="7"/>
                <c:pt idx="0">
                  <c:v>Bielefeld</c:v>
                </c:pt>
                <c:pt idx="1">
                  <c:v>Bad Oeynhausen</c:v>
                </c:pt>
                <c:pt idx="2">
                  <c:v>Paderborn</c:v>
                </c:pt>
                <c:pt idx="3">
                  <c:v>Gütersloh</c:v>
                </c:pt>
                <c:pt idx="4">
                  <c:v>Hameln</c:v>
                </c:pt>
                <c:pt idx="5">
                  <c:v>Minden</c:v>
                </c:pt>
                <c:pt idx="6">
                  <c:v>Lippstadt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5153</c:v>
                </c:pt>
                <c:pt idx="1">
                  <c:v>684</c:v>
                </c:pt>
                <c:pt idx="2">
                  <c:v>5786</c:v>
                </c:pt>
                <c:pt idx="3">
                  <c:v>715</c:v>
                </c:pt>
                <c:pt idx="4">
                  <c:v>2130</c:v>
                </c:pt>
                <c:pt idx="5">
                  <c:v>300</c:v>
                </c:pt>
                <c:pt idx="6">
                  <c:v>4090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H1 2026 (factor set 2026)</c:v>
                </c:pt>
              </c:strCache>
            </c:strRef>
          </c:tx>
          <c:spPr>
            <a:solidFill>
              <a:srgbClr val="0F6B3A"/>
            </a:solidFill>
          </c:spPr>
          <c:cat>
            <c:strRef>
              <c:f>Sheet1!$A$2:$A$8</c:f>
              <c:strCache>
                <c:ptCount val="7"/>
                <c:pt idx="0">
                  <c:v>Bielefeld</c:v>
                </c:pt>
                <c:pt idx="1">
                  <c:v>Bad Oeynhausen</c:v>
                </c:pt>
                <c:pt idx="2">
                  <c:v>Paderborn</c:v>
                </c:pt>
                <c:pt idx="3">
                  <c:v>Gütersloh</c:v>
                </c:pt>
                <c:pt idx="4">
                  <c:v>Hameln</c:v>
                </c:pt>
                <c:pt idx="5">
                  <c:v>Minden</c:v>
                </c:pt>
                <c:pt idx="6">
                  <c:v>Lippstadt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4797</c:v>
                </c:pt>
                <c:pt idx="1">
                  <c:v>664</c:v>
                </c:pt>
                <c:pt idx="2">
                  <c:v>6089</c:v>
                </c:pt>
                <c:pt idx="3">
                  <c:v>675</c:v>
                </c:pt>
                <c:pt idx="4">
                  <c:v>1970</c:v>
                </c:pt>
                <c:pt idx="5">
                  <c:v>289</c:v>
                </c:pt>
                <c:pt idx="6">
                  <c:v>3816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BD3"/>
            </a:solidFill>
          </a:ln>
        </c:spPr>
        <c:txPr>
          <a:bodyPr/>
          <a:lstStyle/>
          <a:p>
            <a:pPr>
              <a:defRPr sz="1100">
                <a:latin typeface="Source Sans 3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BD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Source Sans 3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ource Sans 3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layout. Green background, white reversed logo, Montserrat SemiBold title in white, Source Sans 3 subtitle. Taupe rule as the only accent. Keep the factor set on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layout. Soft Stone background, green bar on the left, small leaf-green eyebrow, green title. One line of grey context in Source Sans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layout. Title in Montserrat Bold green, leaf-green underline rule. Body in Source Sans 3, 16 pt, generous spacing, max four points. Optional white card on the right with a green eyebrow for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layout. Four white tiles with a green top bar, small grey label, big green number in Montserrat Bold, one-line delta in Source Sans 3. Delta colour uses the semantic set (OK green, attention amber, problem red), never the brand green. Always add the factor-effect panel when a factor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layout. Prior period in Warm Taupe, current period in Ravensberg Green. Third series if needed: Leaf Green. Grey gridlines, no chart border, legend at the bottom, factor set named in the series label. Never colour a bar by 'good/bad' with brand greens; use the semantic set only for status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layout. Header row in Ravensberg Green with white Montserrat text, body in Source Sans 3 12 pt, zebra rows Soft Stone / white, no vertical lines. Rating letter in bold green. Readiness as a coloured dot from the semantic set, with the legend line under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layout. Green background, white mark, white title, up to three decisions in Source Sans 3. Tagline in Warm Taupe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324196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37744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Environmental Review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ource Sans 3"/>
              </a:rPr>
              <a:t>Seven sites, energy, water, waste and Scope 1 + 2. Prepared for the Group Management 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754880"/>
            <a:ext cx="1097280" cy="54864"/>
          </a:xfrm>
          <a:prstGeom prst="rect">
            <a:avLst/>
          </a:prstGeom>
          <a:solidFill>
            <a:srgbClr val="C9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ource Sans 3"/>
              </a:rPr>
              <a:t>Group Sustainability  |  8 September 2026  |  Factor set 2026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7FB069"/>
                </a:solidFill>
                <a:latin typeface="Source Sans 3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F6B3A"/>
                </a:solidFill>
                <a:latin typeface="Montserrat"/>
              </a:rPr>
              <a:t>Where we stand after the H1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Source Sans 3"/>
              </a:rPr>
              <a:t>Intake, validation, corrections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830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6B3A"/>
                </a:solidFill>
                <a:latin typeface="Montserrat"/>
              </a:rPr>
              <a:t>Three findings, three corrections, one site 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" cy="4572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ource Sans 3"/>
              </a:rPr>
              <a:t>Ravensberg Consumer Brands  |  Group Sustainability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ource Sans 3"/>
              </a:rPr>
              <a:t>Page  ‹#›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694944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Source Sans 3"/>
              </a:rPr>
              <a:t>Paderborn reported natural gas in m³ from the new invoice format. Converted at 10.55 kWh/m³ and confirmed against the invoice kWh line.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Source Sans 3"/>
              </a:rPr>
              <a:t>Hameln's March electricity was exported with a wrong multiplier (ten times actual). Corrected reading supplied by the site.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Source Sans 3"/>
              </a:rPr>
              <a:t>Gütersloh's water was a copied monthly average. Replaced with the utility's interim statement.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Source Sans 3"/>
              </a:rPr>
              <a:t>Minden submitted three weeks after the deadline. Clean file.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194560"/>
            <a:ext cx="3840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331720"/>
            <a:ext cx="3474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WHAT 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51760"/>
            <a:ext cx="3474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Source Sans 3"/>
              </a:rPr>
              <a:t>Every correction is logged with source and date.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Source Sans 3"/>
              </a:rPr>
              <a:t>Original site files untouched.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Source Sans 3"/>
              </a:rPr>
              <a:t>Comparatives at the 2025 factor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830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HEADLINE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6B3A"/>
                </a:solidFill>
                <a:latin typeface="Montserrat"/>
              </a:rPr>
              <a:t>Group H1 2026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" cy="4572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ource Sans 3"/>
              </a:rPr>
              <a:t>Ravensberg Consumer Brands  |  Group Sustainability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ource Sans 3"/>
              </a:rPr>
              <a:t>Page  ‹#›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697480" cy="73152"/>
          </a:xfrm>
          <a:prstGeom prst="rect">
            <a:avLst/>
          </a:prstGeom>
          <a:solidFill>
            <a:srgbClr val="0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Source Sans 3"/>
              </a:rPr>
              <a:t>SCOPE 1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6B3A"/>
                </a:solidFill>
                <a:latin typeface="Montserrat"/>
              </a:rPr>
              <a:t>18,299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E8B57"/>
                </a:solidFill>
                <a:latin typeface="Source Sans 3"/>
              </a:rPr>
              <a:t>-1.9% vs H1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945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94560"/>
            <a:ext cx="2697480" cy="73152"/>
          </a:xfrm>
          <a:prstGeom prst="rect">
            <a:avLst/>
          </a:prstGeom>
          <a:solidFill>
            <a:srgbClr val="0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Source Sans 3"/>
              </a:rPr>
              <a:t>GRID ELECTRICITY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6B3A"/>
                </a:solidFill>
                <a:latin typeface="Montserrat"/>
              </a:rPr>
              <a:t>27.5 GWh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747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E8B57"/>
                </a:solidFill>
                <a:latin typeface="Source Sans 3"/>
              </a:rPr>
              <a:t>-2.6%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697480" cy="73152"/>
          </a:xfrm>
          <a:prstGeom prst="rect">
            <a:avLst/>
          </a:prstGeom>
          <a:solidFill>
            <a:srgbClr val="0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Source Sans 3"/>
              </a:rPr>
              <a:t>WATER WITHDRAWAL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6B3A"/>
                </a:solidFill>
                <a:latin typeface="Montserrat"/>
              </a:rPr>
              <a:t>506,000 m³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E8B57"/>
                </a:solidFill>
                <a:latin typeface="Source Sans 3"/>
              </a:rPr>
              <a:t>-1.4%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1945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194560"/>
            <a:ext cx="2697480" cy="73152"/>
          </a:xfrm>
          <a:prstGeom prst="rect">
            <a:avLst/>
          </a:prstGeom>
          <a:solidFill>
            <a:srgbClr val="0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37744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Source Sans 3"/>
              </a:rPr>
              <a:t>WASTE DIVERTED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269748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6B3A"/>
                </a:solidFill>
                <a:latin typeface="Montserrat"/>
              </a:rPr>
              <a:t>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34747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E8B57"/>
                </a:solidFill>
                <a:latin typeface="Source Sans 3"/>
              </a:rPr>
              <a:t>target 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FACTOR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ource Sans 3"/>
              </a:rPr>
              <a:t>About 300 t of the Scope 2 reduction comes from the grid factor moving from 0.363 to 0.352 kg CO2e/kWh, not from site behaviour. Each year is calculated at its own factor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830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6B3A"/>
                </a:solidFill>
                <a:latin typeface="Montserrat"/>
              </a:rPr>
              <a:t>Scope 1 + 2 by site, H1 2026 vs H1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" cy="4572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ource Sans 3"/>
              </a:rPr>
              <a:t>Ravensberg Consumer Brands  |  Group Sustainability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ource Sans 3"/>
              </a:rPr>
              <a:t>Page  ‹#›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03120"/>
          <a:ext cx="112471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830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60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6B3A"/>
                </a:solidFill>
                <a:latin typeface="Source Sans 3"/>
              </a:rPr>
              <a:t>RATING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F6B3A"/>
                </a:solidFill>
                <a:latin typeface="Montserrat"/>
              </a:rPr>
              <a:t>Site rating and reporting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" cy="4572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ource Sans 3"/>
              </a:rPr>
              <a:t>Ravensberg Consumer Brands  |  Group Sustainability  |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Source Sans 3"/>
              </a:rPr>
              <a:t>Page  ‹#›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097280"/>
                <a:gridCol w="1280160"/>
                <a:gridCol w="1097280"/>
                <a:gridCol w="1005840"/>
                <a:gridCol w="1097280"/>
                <a:gridCol w="15544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Site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Energy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Water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Diversion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S1+S2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Score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Rating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Readiness</a:t>
                      </a:r>
                    </a:p>
                  </a:txBody>
                  <a:tcPr marL="73152" marR="73152">
                    <a:solidFill>
                      <a:srgbClr val="0F6B3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1000 Bielefeld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82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E8B57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1100 Bad Oeynhausen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49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D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E8B57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1200 Paderborn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55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D98E2B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1300 Gütersloh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75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B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D98E2B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1400 Hameln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69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D98E2B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1500 Minden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100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A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D98E2B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5F4E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1600 Lippstadt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Source Sans 3"/>
                        </a:rPr>
                        <a:t>68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6B3A"/>
                          </a:solidFill>
                          <a:latin typeface="Source Sans 3"/>
                        </a:rPr>
                        <a:t>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E8B57"/>
                          </a:solidFill>
                        </a:rPr>
                        <a:t>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Source Sans 3"/>
              </a:rPr>
              <a:t>Readiness: ● green passed first time, ● amber corrected after follow-up or accepted estimate, ● red missing or open. Not part of the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vensberg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5603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Decisions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ource Sans 3"/>
              </a:rPr>
              <a:t>Paderborn gas: boiler assessment before the FY2026 round.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ource Sans 3"/>
              </a:rPr>
              <a:t>Bad Oeynhausen: warehouse template variant for H2 2026.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ource Sans 3"/>
              </a:rPr>
              <a:t>Approve factor set 2026 v1 for the full-year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7F"/>
                </a:solidFill>
                <a:latin typeface="Source Sans 3"/>
              </a:rPr>
              <a:t>Trusted brands. A more sustainable everyday.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